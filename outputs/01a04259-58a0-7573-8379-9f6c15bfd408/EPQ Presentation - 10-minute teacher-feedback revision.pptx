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b432b574d54b73" /><Relationship Type="http://schemas.openxmlformats.org/officeDocument/2006/relationships/extended-properties" Target="/docProps/app.xml" Id="R9b96b348798e4b0b" /><Relationship Type="http://schemas.openxmlformats.org/officeDocument/2006/relationships/officeDocument" Target="/ppt/presentation.xml" Id="Rca561a2c18d6476f" /></Relationships>
</file>

<file path=ppt/presentation.xml><?xml version="1.0" encoding="utf-8"?>
<p:presentation xmlns:p="http://schemas.openxmlformats.org/presentationml/2006/main">
  <p:sldMasterIdLst>
    <p:sldMasterId xmlns:r="http://schemas.openxmlformats.org/officeDocument/2006/relationships" id="2147483648" r:id="R3b70a4863616491e"/>
  </p:sldMasterIdLst>
  <p:notesMasterIdLst>
    <p:notesMasterId xmlns:r="http://schemas.openxmlformats.org/officeDocument/2006/relationships" r:id="R05c82da18e6a4924"/>
  </p:notesMasterIdLst>
  <p:sldIdLst>
    <p:sldId xmlns:r="http://schemas.openxmlformats.org/officeDocument/2006/relationships" id="256" r:id="R3e2150ba39084fbd"/>
    <p:sldId xmlns:r="http://schemas.openxmlformats.org/officeDocument/2006/relationships" id="257" r:id="Rafc3bde246df44bb"/>
    <p:sldId xmlns:r="http://schemas.openxmlformats.org/officeDocument/2006/relationships" id="258" r:id="R5a2b0038b9f5422e"/>
    <p:sldId xmlns:r="http://schemas.openxmlformats.org/officeDocument/2006/relationships" id="259" r:id="Refbfc17d13174f84"/>
    <p:sldId xmlns:r="http://schemas.openxmlformats.org/officeDocument/2006/relationships" id="260" r:id="R4f20eee3aa714f91"/>
    <p:sldId xmlns:r="http://schemas.openxmlformats.org/officeDocument/2006/relationships" id="261" r:id="R54085859ab914bfc"/>
    <p:sldId xmlns:r="http://schemas.openxmlformats.org/officeDocument/2006/relationships" id="262" r:id="R97ff144d4fea41cc"/>
    <p:sldId xmlns:r="http://schemas.openxmlformats.org/officeDocument/2006/relationships" id="263" r:id="R1a34700471a14b4c"/>
    <p:sldId xmlns:r="http://schemas.openxmlformats.org/officeDocument/2006/relationships" id="264" r:id="R2ebc9f5fcb904dfb"/>
    <p:sldId xmlns:r="http://schemas.openxmlformats.org/officeDocument/2006/relationships" id="265" r:id="Rb97d8b8c1fa240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ff58cb47b944d4" /><Relationship Type="http://schemas.openxmlformats.org/officeDocument/2006/relationships/slideMaster" Target="/ppt/slideMasters/slideMaster1.xml" Id="R3b70a4863616491e" /><Relationship Type="http://schemas.openxmlformats.org/officeDocument/2006/relationships/notesMaster" Target="/ppt/notesMasters/notesMaster1.xml" Id="R05c82da18e6a4924" /><Relationship Type="http://schemas.openxmlformats.org/officeDocument/2006/relationships/presProps" Target="/ppt/presProps.xml" Id="Rf4744e5c08b04960" /><Relationship Type="http://schemas.openxmlformats.org/officeDocument/2006/relationships/tableStyles" Target="/ppt/tableStyles.xml" Id="Ra7b196c994a544bc" /><Relationship Type="http://schemas.openxmlformats.org/officeDocument/2006/relationships/slide" Target="/ppt/slides/slide1.xml" Id="R3e2150ba39084fbd" /><Relationship Type="http://schemas.openxmlformats.org/officeDocument/2006/relationships/slide" Target="/ppt/slides/slide2.xml" Id="Rafc3bde246df44bb" /><Relationship Type="http://schemas.openxmlformats.org/officeDocument/2006/relationships/slide" Target="/ppt/slides/slide3.xml" Id="R5a2b0038b9f5422e" /><Relationship Type="http://schemas.openxmlformats.org/officeDocument/2006/relationships/slide" Target="/ppt/slides/slide4.xml" Id="Refbfc17d13174f84" /><Relationship Type="http://schemas.openxmlformats.org/officeDocument/2006/relationships/slide" Target="/ppt/slides/slide5.xml" Id="R4f20eee3aa714f91" /><Relationship Type="http://schemas.openxmlformats.org/officeDocument/2006/relationships/slide" Target="/ppt/slides/slide6.xml" Id="R54085859ab914bfc" /><Relationship Type="http://schemas.openxmlformats.org/officeDocument/2006/relationships/slide" Target="/ppt/slides/slide7.xml" Id="R97ff144d4fea41cc" /><Relationship Type="http://schemas.openxmlformats.org/officeDocument/2006/relationships/slide" Target="/ppt/slides/slide8.xml" Id="R1a34700471a14b4c" /><Relationship Type="http://schemas.openxmlformats.org/officeDocument/2006/relationships/slide" Target="/ppt/slides/slide9.xml" Id="R2ebc9f5fcb904dfb" /><Relationship Type="http://schemas.openxmlformats.org/officeDocument/2006/relationships/slide" Target="/ppt/slides/slide10.xml" Id="Rb97d8b8c1fa240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39598b95b94c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ca8a6c748846f5" /><Relationship Type="http://schemas.openxmlformats.org/officeDocument/2006/relationships/notesMaster" Target="/ppt/notesMasters/notesMaster1.xml" Id="R6c57be219b334c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228b3547aa47c7" /><Relationship Type="http://schemas.openxmlformats.org/officeDocument/2006/relationships/notesMaster" Target="/ppt/notesMasters/notesMaster1.xml" Id="Rccebf52512a9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06d4137a7b48e1" /><Relationship Type="http://schemas.openxmlformats.org/officeDocument/2006/relationships/notesMaster" Target="/ppt/notesMasters/notesMaster1.xml" Id="Rf2e46fc36b0344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6285ac9bbe42e4" /><Relationship Type="http://schemas.openxmlformats.org/officeDocument/2006/relationships/notesMaster" Target="/ppt/notesMasters/notesMaster1.xml" Id="Ra722824e52c043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fd732f89254f10" /><Relationship Type="http://schemas.openxmlformats.org/officeDocument/2006/relationships/notesMaster" Target="/ppt/notesMasters/notesMaster1.xml" Id="R85c7c3375d1240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e7e8d16a1f4f3a" /><Relationship Type="http://schemas.openxmlformats.org/officeDocument/2006/relationships/notesMaster" Target="/ppt/notesMasters/notesMaster1.xml" Id="Rfc665885e37341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51f11f0d824dc7" /><Relationship Type="http://schemas.openxmlformats.org/officeDocument/2006/relationships/notesMaster" Target="/ppt/notesMasters/notesMaster1.xml" Id="Rb4e07d66d24343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30f38a32ee4b97" /><Relationship Type="http://schemas.openxmlformats.org/officeDocument/2006/relationships/notesMaster" Target="/ppt/notesMasters/notesMaster1.xml" Id="Ra84e7dd0d45a4c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18c5b06cd94391" /><Relationship Type="http://schemas.openxmlformats.org/officeDocument/2006/relationships/notesMaster" Target="/ppt/notesMasters/notesMaster1.xml" Id="Ra774b55e917d45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a392fb3d344bc5" /><Relationship Type="http://schemas.openxmlformats.org/officeDocument/2006/relationships/notesMaster" Target="/ppt/notesMasters/notesMaster1.xml" Id="Rfba90eb818a94e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question is whether Random Forest or LSTM improved this next-day volatility-proxy forecast enough to justify the additional complexity. I judge that using four criteria: predictive accuracy, robustness, interpretability and practical cost. Rolling historical volatility and GARCH provide the two main benchmarks; lagged linear regression is an auxiliary check. My conclusion is specific to the completed Hyperliquid BTC perpetual-futures data, target definition and implementations tested here. It is not a claim that GARCH always beats machine learning, and it is not trading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Volatility forecasting is different from predicting whether Bitcoin will rise or fall. It estimates the scale of uncertainty in future returns. That can inform position sizing, risk limits or awareness of stressful market conditions even if the next return's sign is unknown. This project is therefore an academic comparison of forecasting pipelines, not a test of trading profitability. The narrow task also matters: the target is a daily volatility proxy constructed from exchange returns, not unobserved true volatility. That limitation stays visible throughout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 August data request returned 1,272 daily rows. I removed the still-open 20 August candle, leaving 1,271 completed candles through 19 August 2026. After feature preparation, the modelling frame has 1,226 forecast origins: 950 training observations and 276 in the frozen holdout. The main target is tomorrow's updated 30-day standard deviation of daily log returns. Because adjacent windows share 29 returns, this is an update forecast, not a prediction of a completely new 30-day period. That overlap helps explain why the rolling benchmark is difficult to beat.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split is chronological. The frozen forecast-origin cutoff is 16 November 2025, leaving 950 rows for training and 276 for the holdout. Random Forest and LSTM settings are chosen only from a chronological tail inside the training period, then the selected version is refitted on all pre-test rows. I do not shuffle financial time series, and I do not move the cutoff when later candles are added. Four expanding-window folds of 69 observations each provide a supplementary check rather than replacing the primary frozen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Rolling historical volatility is the persistence benchmark. GARCH models changing conditional variance. Lagged linear regression checks whether engineered features help without a nonlinear learner. Random Forest uses the standard scikit-learn RandomForestRegressor, while LSTM uses PyTorch sequences. The inputs are not identical: the machine-learning models receive prepared features, while GARCH is fitted to returns. Therefore I interpret the results as a comparison of five complete forecasting pipelines. I do not claim that these scores rank every possible implementation of each model 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Lower error is better. GARCH ranks first with RMSE 0.000983 and QLIKE 0.00446. Its RMSE is 29.6 percent below the rolling benchmark. Linear regression is second by RMSE, but its MAE is worse than rolling, so the metrics are not perfectly ordered. LSTM ranks fourth and Random Forest fifth; neither beats rolling overall. QLIKE gives the same overall order as RMSE. The result suggests that recent volatility persistence already contains much of the signal, while the tested nonlinear learners add estimation and tuning burden without a compensating accuracy 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was repeated in several planned ways. GARCH ranks first for both 14-day and 30-day targets, both halves of the holdout, all four expanding-window folds, and low, medium and high volatility regimes. The block-bootstrap interval for GARCH's RMSE difference versus rolling is entirely below zero, from about minus 0.000900 to minus 0.000169. Linear regression's interval crosses zero. A fixed-cutoff refresh added 31 completed targets and preserved all five ranks. These checks strengthen the within-sample conclusion, but they still partition or resample one market history rather than create independent markets.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checks changed the method rather than merely polishing the presentation. Forecasts are now matched to targets by date, and the GARCH forecast is scored before the recursion is updated with the realised return. The expected standard-deviation conversion is distinguished from the square root of expected variance and tested for sensitivity. A duplicated feature and incomplete candle are excluded. The forest is the standard scikit-learn implementation, model selection stays inside training data, and the cutoff remains fixed. The full suite has 43 passing tests. Code running without an error is not sufficient; the dates, formulas and evidence chain also need to be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Interpretability and practicality reinforce the error result. GARCH reports three fitted parameters and took about 0.54 seconds to fit in one local CPU run. Its behaviour can be explained through shock response and persistence. Random Forest adds six predeclared candidates, scikit-learn and 57,970 tree nodes; feature importance remains global and associational. LSTM adds PyTorch, four candidates, early stopping, seed sensitivity and 5,921 trainable weights, and took about 9.74 seconds. Timings are implementation-specific, not universal benchmarks. Because neither complex model produces a stable accuracy gain, these additional explanation and implementation burdens are not justified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this design, Random Forest and LSTM do not justify their additional complexity. GARCH has the lowest loss, remains first across the planned robustness checks, and is easier to explain than the two machine-learning pipelines. Rolling remains the simplest fallback. The conclusion is limited to one asset, one exchange, one market history, an overlapping daily proxy, a Gaussian GARCH likelihood, compact machine-learning searches and different pipeline inputs. A stronger extension would reserve another untouched future period, use intraday realised variance, test asymmetric or Student-t GARCH, and use nested chronological validation. Each extension should be introduced separately so its effect remains identifiable. Thank you; I am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405c4c3fbb43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07ff867824899" /><Relationship Type="http://schemas.openxmlformats.org/officeDocument/2006/relationships/slideLayout" Target="/ppt/slideLayouts/slideLayout1.xml" Id="R7e2a4601e54847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2a4601e54847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ee8bc0180744ed" /><Relationship Type="http://schemas.openxmlformats.org/officeDocument/2006/relationships/notesSlide" Target="/ppt/notesSlides/notesSlide1.xml" Id="R9825f3ca539644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fbcc95807040ae" /><Relationship Type="http://schemas.openxmlformats.org/officeDocument/2006/relationships/notesSlide" Target="/ppt/notesSlides/notesSlide2.xml" Id="Rc0b484a53a6a48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1306e77ef3406c" /><Relationship Type="http://schemas.openxmlformats.org/officeDocument/2006/relationships/notesSlide" Target="/ppt/notesSlides/notesSlide3.xml" Id="Rf4523ae687f249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764ba470c14d7b" /><Relationship Type="http://schemas.openxmlformats.org/officeDocument/2006/relationships/notesSlide" Target="/ppt/notesSlides/notesSlide4.xml" Id="R9232b7f90a3d4b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17710052c14702" /><Relationship Type="http://schemas.openxmlformats.org/officeDocument/2006/relationships/notesSlide" Target="/ppt/notesSlides/notesSlide5.xml" Id="R084c36675b0341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f5ef5a99004408" /><Relationship Type="http://schemas.openxmlformats.org/officeDocument/2006/relationships/chart" Target="/ppt/slides/charts/chart1.xml" Id="R5ced195a4b9e48df" /><Relationship Type="http://schemas.openxmlformats.org/officeDocument/2006/relationships/notesSlide" Target="/ppt/notesSlides/notesSlide6.xml" Id="R33ad5f396ce94d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11dfbae45c4830" /><Relationship Type="http://schemas.openxmlformats.org/officeDocument/2006/relationships/notesSlide" Target="/ppt/notesSlides/notesSlide7.xml" Id="Rb27b7859de7544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9ea64669874742" /><Relationship Type="http://schemas.openxmlformats.org/officeDocument/2006/relationships/notesSlide" Target="/ppt/notesSlides/notesSlide8.xml" Id="R915c29c447c943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be389d80234e98" /><Relationship Type="http://schemas.openxmlformats.org/officeDocument/2006/relationships/notesSlide" Target="/ppt/notesSlides/notesSlide9.xml" Id="R5aa1725f5f094c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482c9b744b4b10" /><Relationship Type="http://schemas.openxmlformats.org/officeDocument/2006/relationships/notesSlide" Target="/ppt/notesSlides/notesSlide10.xml" Id="R116b2ce36f5e4a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71C2C"/>
                </a:solidFill>
                <a:latin typeface="Arial"/>
                <a:ea typeface="Arial"/>
                <a:cs typeface="Arial"/>
              </a:rPr>
              <a:t>Test RMSE (×10⁻³; lower is better)</a:t>
            </a:r>
          </a:p>
        </c:rich>
      </c:tx>
      <c:overlay val="0"/>
      <c:txPr>
        <a:bodyPr xmlns:a="http://schemas.openxmlformats.org/drawingml/2006/main" anchorCtr="1"/>
        <a:lstStyle xmlns:a="http://schemas.openxmlformats.org/drawingml/2006/main"/>
        <a:p xmlns:a="http://schemas.openxmlformats.org/drawingml/2006/main">
          <a:pPr>
            <a:defRPr sz="1275" b="1">
              <a:solidFill>
                <a:srgbClr val="071C2C"/>
              </a:solidFill>
              <a:latin typeface="Arial"/>
              <a:ea typeface="Arial"/>
              <a:cs typeface="Arial"/>
            </a:defRPr>
          </a:pPr>
        </a:p>
      </c:txPr>
    </c:title>
    <c:plotArea>
      <c:barChart>
        <c:barDir val="bar"/>
        <c:grouping val="clustered"/>
        <c:varyColors val="1"/>
        <c:ser>
          <c:idx val="0"/>
          <c:order val="0"/>
          <c:tx>
            <c:v>RMSE ×10⁻³</c:v>
          </c:tx>
          <c:spPr>
            <a:solidFill xmlns:a="http://schemas.openxmlformats.org/drawingml/2006/main">
              <a:srgbClr val="1363DF"/>
            </a:solidFill>
          </c:spPr>
          <c:dPt>
            <c:idx val="0"/>
            <c:invertIfNegative val="0"/>
            <c:spPr>
              <a:solidFill xmlns:a="http://schemas.openxmlformats.org/drawingml/2006/main">
                <a:srgbClr val="159A70"/>
              </a:solidFill>
              <a:ln xmlns:a="http://schemas.openxmlformats.org/drawingml/2006/main" w="0">
                <a:solidFill>
                  <a:srgbClr val="159A70"/>
                </a:solidFill>
              </a:ln>
            </c:spPr>
          </c:dPt>
          <c:dPt>
            <c:idx val="1"/>
            <c:invertIfNegative val="0"/>
            <c:spPr>
              <a:solidFill xmlns:a="http://schemas.openxmlformats.org/drawingml/2006/main">
                <a:srgbClr val="1363DF"/>
              </a:solidFill>
              <a:ln xmlns:a="http://schemas.openxmlformats.org/drawingml/2006/main" w="0">
                <a:solidFill>
                  <a:srgbClr val="1363DF"/>
                </a:solidFill>
              </a:ln>
            </c:spPr>
          </c:dPt>
          <c:dPt>
            <c:idx val="2"/>
            <c:invertIfNegative val="0"/>
            <c:spPr>
              <a:solidFill xmlns:a="http://schemas.openxmlformats.org/drawingml/2006/main">
                <a:srgbClr val="5B6B7C"/>
              </a:solidFill>
              <a:ln xmlns:a="http://schemas.openxmlformats.org/drawingml/2006/main" w="0">
                <a:solidFill>
                  <a:srgbClr val="5B6B7C"/>
                </a:solidFill>
              </a:ln>
            </c:spPr>
          </c:dPt>
          <c:dPt>
            <c:idx val="3"/>
            <c:invertIfNegative val="0"/>
            <c:spPr>
              <a:solidFill xmlns:a="http://schemas.openxmlformats.org/drawingml/2006/main">
                <a:srgbClr val="F4B942"/>
              </a:solidFill>
              <a:ln xmlns:a="http://schemas.openxmlformats.org/drawingml/2006/main" w="0">
                <a:solidFill>
                  <a:srgbClr val="F4B942"/>
                </a:solidFill>
              </a:ln>
            </c:spPr>
          </c:dPt>
          <c:dPt>
            <c:idx val="4"/>
            <c:invertIfNegative val="0"/>
            <c:spPr>
              <a:solidFill xmlns:a="http://schemas.openxmlformats.org/drawingml/2006/main">
                <a:srgbClr val="E45756"/>
              </a:solidFill>
              <a:ln xmlns:a="http://schemas.openxmlformats.org/drawingml/2006/main" w="0">
                <a:solidFill>
                  <a:srgbClr val="E45756"/>
                </a:solidFill>
              </a:ln>
            </c:spPr>
          </c:dPt>
          <c:cat>
            <c:strRef>
              <c:f>'Chart Data'!$A$2:$A$6</c:f>
              <c:strCache>
                <c:ptCount val="5"/>
                <c:pt idx="0">
                  <c:v>GARCH(1,1)</c:v>
                </c:pt>
                <c:pt idx="1">
                  <c:v>Linear</c:v>
                </c:pt>
                <c:pt idx="2">
                  <c:v>Rolling</c:v>
                </c:pt>
                <c:pt idx="3">
                  <c:v>LSTM</c:v>
                </c:pt>
                <c:pt idx="4">
                  <c:v>Random Forest</c:v>
                </c:pt>
              </c:strCache>
            </c:strRef>
          </c:cat>
          <c:val>
            <c:numRef>
              <c:f>'Chart Data'!$B$2:$B$6</c:f>
              <c:numCache>
                <c:formatCode>0.000</c:formatCode>
                <c:ptCount val="5"/>
                <c:pt idx="0">
                  <c:v>0.98301</c:v>
                </c:pt>
                <c:pt idx="1">
                  <c:v>1.37492</c:v>
                </c:pt>
                <c:pt idx="2">
                  <c:v>1.3957</c:v>
                </c:pt>
                <c:pt idx="3">
                  <c:v>1.68735</c:v>
                </c:pt>
                <c:pt idx="4">
                  <c:v>2.11129</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8E3EC"/>
              </a:solidFill>
              <a:prstDash val="solid"/>
            </a:ln>
          </c:spPr>
        </c:majorGridlines>
        <c:numFmt formatCode="0.0"/>
        <c:majorTickMark val="none"/>
        <c:minorTickMark val="none"/>
        <c:spPr>
          <a:ln xmlns:a="http://schemas.openxmlformats.org/drawingml/2006/main" w="9525">
            <a:solidFill>
              <a:srgbClr val="D8E3EC"/>
            </a:solidFill>
            <a:prstDash val="solid"/>
          </a:ln>
        </c:spPr>
        <c:txPr>
          <a:bodyPr xmlns:a="http://schemas.openxmlformats.org/drawingml/2006/main" anchorCtr="1"/>
          <a:lstStyle xmlns:a="http://schemas.openxmlformats.org/drawingml/2006/main"/>
          <a:p xmlns:a="http://schemas.openxmlformats.org/drawingml/2006/main">
            <a:pPr>
              <a:defRPr sz="825">
                <a:solidFill>
                  <a:srgbClr val="5B6B7C"/>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E3EC"/>
            </a:solidFill>
            <a:prstDash val="solid"/>
          </a:ln>
        </c:spPr>
        <c:txPr>
          <a:bodyPr xmlns:a="http://schemas.openxmlformats.org/drawingml/2006/main" anchorCtr="1"/>
          <a:lstStyle xmlns:a="http://schemas.openxmlformats.org/drawingml/2006/main"/>
          <a:p xmlns:a="http://schemas.openxmlformats.org/drawingml/2006/main">
            <a:pPr>
              <a:defRPr sz="975" b="1">
                <a:solidFill>
                  <a:srgbClr val="102A4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049C6BE-2174-4983-AB7C-67F52155F0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405F4999-7564-4E5A-89DD-102C733C30D4}"/>
              </a:ext>
            </a:extLst>
          </p:cNvPr>
          <p:cNvSpPr>
            <a:spLocks xmlns:a="http://schemas.openxmlformats.org/drawingml/2006/main" noGrp="1"/>
          </p:cNvSpPr>
          <p:nvPr/>
        </p:nvSpPr>
        <p:spPr>
          <a:xfrm xmlns:a="http://schemas.openxmlformats.org/drawingml/2006/main">
            <a:off x="8620125" y="-1143000"/>
            <a:ext cx="4953000" cy="4953000"/>
          </a:xfrm>
          <a:prstGeom xmlns:a="http://schemas.openxmlformats.org/drawingml/2006/main" prst="ellipse">
            <a:avLst/>
          </a:prstGeom>
          <a:solidFill xmlns:a="http://schemas.openxmlformats.org/drawingml/2006/main">
            <a:srgbClr val="0A2B44"/>
          </a:solidFill>
          <a:ln xmlns:a="http://schemas.openxmlformats.org/drawingml/2006/main" w="0">
            <a:solidFill>
              <a:srgbClr val="0A2B44"/>
            </a:solidFill>
          </a:ln>
        </p:spPr>
      </p:sp>
      <p:sp>
        <p:nvSpPr>
          <p:cNvPr id="3" name="">
            <a:extLst xmlns:a="http://schemas.openxmlformats.org/drawingml/2006/main">
              <a:ext uri="{FF2B5EF4-FFF2-40B4-BE49-F238E27FC236}">
                <a16:creationId xmlns:a16="http://schemas.microsoft.com/office/drawing/2014/main" id="{E2C7FEEB-E41A-4F69-80D0-E762AD8442F3}"/>
              </a:ext>
            </a:extLst>
          </p:cNvPr>
          <p:cNvSpPr>
            <a:spLocks xmlns:a="http://schemas.openxmlformats.org/drawingml/2006/main" noGrp="1"/>
          </p:cNvSpPr>
          <p:nvPr/>
        </p:nvSpPr>
        <p:spPr>
          <a:xfrm xmlns:a="http://schemas.openxmlformats.org/drawingml/2006/main">
            <a:off x="9525000" y="-266700"/>
            <a:ext cx="3162300" cy="3162300"/>
          </a:xfrm>
          <a:prstGeom xmlns:a="http://schemas.openxmlformats.org/drawingml/2006/main" prst="ellipse">
            <a:avLst/>
          </a:prstGeom>
          <a:solidFill xmlns:a="http://schemas.openxmlformats.org/drawingml/2006/main">
            <a:srgbClr val="071C2C"/>
          </a:solidFill>
          <a:ln xmlns:a="http://schemas.openxmlformats.org/drawingml/2006/main" w="28575">
            <a:solidFill>
              <a:srgbClr val="24C1D6"/>
            </a:solidFill>
          </a:ln>
        </p:spPr>
      </p:sp>
      <p:sp>
        <p:nvSpPr>
          <p:cNvPr id="4" name="">
            <a:extLst xmlns:a="http://schemas.openxmlformats.org/drawingml/2006/main">
              <a:ext uri="{FF2B5EF4-FFF2-40B4-BE49-F238E27FC236}">
                <a16:creationId xmlns:a16="http://schemas.microsoft.com/office/drawing/2014/main" id="{94A28764-209A-4041-9338-7230A904018F}"/>
              </a:ext>
            </a:extLst>
          </p:cNvPr>
          <p:cNvSpPr>
            <a:spLocks xmlns:a="http://schemas.openxmlformats.org/drawingml/2006/main" noGrp="1"/>
          </p:cNvSpPr>
          <p:nvPr/>
        </p:nvSpPr>
        <p:spPr>
          <a:xfrm xmlns:a="http://schemas.openxmlformats.org/drawingml/2006/main">
            <a:off x="10382250" y="590550"/>
            <a:ext cx="1466850" cy="1466850"/>
          </a:xfrm>
          <a:prstGeom xmlns:a="http://schemas.openxmlformats.org/drawingml/2006/main" prst="ellipse">
            <a:avLst/>
          </a:prstGeom>
          <a:solidFill xmlns:a="http://schemas.openxmlformats.org/drawingml/2006/main">
            <a:srgbClr val="0A2B44"/>
          </a:solidFill>
          <a:ln xmlns:a="http://schemas.openxmlformats.org/drawingml/2006/main" w="28575">
            <a:solidFill>
              <a:srgbClr val="1363DF"/>
            </a:solidFill>
          </a:ln>
        </p:spPr>
      </p:sp>
      <p:sp>
        <p:nvSpPr>
          <p:cNvPr id="5" name="">
            <a:extLst xmlns:a="http://schemas.openxmlformats.org/drawingml/2006/main">
              <a:ext uri="{FF2B5EF4-FFF2-40B4-BE49-F238E27FC236}">
                <a16:creationId xmlns:a16="http://schemas.microsoft.com/office/drawing/2014/main" id="{931E1267-7251-4042-805F-4917CCCD861C}"/>
              </a:ext>
            </a:extLst>
          </p:cNvPr>
          <p:cNvSpPr>
            <a:spLocks xmlns:a="http://schemas.openxmlformats.org/drawingml/2006/main" noGrp="1"/>
          </p:cNvSpPr>
          <p:nvPr/>
        </p:nvSpPr>
        <p:spPr>
          <a:xfrm xmlns:a="http://schemas.openxmlformats.org/drawingml/2006/main">
            <a:off x="666750" y="4286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050" b="1" i="0">
                <a:solidFill>
                  <a:srgbClr val="24C1D6"/>
                </a:solidFill>
                <a:latin typeface="Arial"/>
                <a:ea typeface="Arial"/>
                <a:cs typeface="Arial"/>
              </a:defRPr>
            </a:pPr>
            <a:r>
              <a:rPr sz="1050" b="1" i="0">
                <a:solidFill>
                  <a:srgbClr val="24C1D6"/>
                </a:solidFill>
                <a:latin typeface="Arial"/>
                <a:ea typeface="Arial"/>
                <a:cs typeface="Arial"/>
              </a:rPr>
              <a:t>EXTENDED PROJECT QUALIFICATION</a:t>
            </a:r>
          </a:p>
        </p:txBody>
      </p:sp>
      <p:sp>
        <p:nvSpPr>
          <p:cNvPr id="6" name="">
            <a:extLst xmlns:a="http://schemas.openxmlformats.org/drawingml/2006/main">
              <a:ext uri="{FF2B5EF4-FFF2-40B4-BE49-F238E27FC236}">
                <a16:creationId xmlns:a16="http://schemas.microsoft.com/office/drawing/2014/main" id="{1252BDE7-8EBB-4EEC-ABD4-5365AB723828}"/>
              </a:ext>
            </a:extLst>
          </p:cNvPr>
          <p:cNvSpPr>
            <a:spLocks xmlns:a="http://schemas.openxmlformats.org/drawingml/2006/main" noGrp="1"/>
          </p:cNvSpPr>
          <p:nvPr/>
        </p:nvSpPr>
        <p:spPr>
          <a:xfrm xmlns:a="http://schemas.openxmlformats.org/drawingml/2006/main">
            <a:off x="647700" y="876300"/>
            <a:ext cx="723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675" b="1" i="0">
                <a:solidFill>
                  <a:srgbClr val="FFFFFF"/>
                </a:solidFill>
                <a:latin typeface="Arial"/>
                <a:ea typeface="Arial"/>
                <a:cs typeface="Arial"/>
              </a:defRPr>
            </a:pPr>
            <a:r>
              <a:rPr sz="3675" b="1" i="0">
                <a:solidFill>
                  <a:srgbClr val="FFFFFF"/>
                </a:solidFill>
                <a:latin typeface="Arial"/>
                <a:ea typeface="Arial"/>
                <a:cs typeface="Arial"/>
              </a:rPr>
              <a:t>Did extra complexity</a:t>
            </a:r>
          </a:p>
          <a:p xmlns:a="http://schemas.openxmlformats.org/drawingml/2006/main">
            <a:pPr algn="l">
              <a:lnSpc>
                <a:spcPct val="94000"/>
              </a:lnSpc>
              <a:buNone/>
              <a:defRPr sz="3675" b="1" i="0">
                <a:solidFill>
                  <a:srgbClr val="FFFFFF"/>
                </a:solidFill>
                <a:latin typeface="Arial"/>
                <a:ea typeface="Arial"/>
                <a:cs typeface="Arial"/>
              </a:defRPr>
            </a:pPr>
            <a:r>
              <a:rPr sz="3675" b="1" i="0">
                <a:solidFill>
                  <a:srgbClr val="FFFFFF"/>
                </a:solidFill>
                <a:latin typeface="Arial"/>
                <a:ea typeface="Arial"/>
                <a:cs typeface="Arial"/>
              </a:rPr>
              <a:t>earn its keep?</a:t>
            </a:r>
          </a:p>
        </p:txBody>
      </p:sp>
      <p:sp>
        <p:nvSpPr>
          <p:cNvPr id="7" name="">
            <a:extLst xmlns:a="http://schemas.openxmlformats.org/drawingml/2006/main">
              <a:ext uri="{FF2B5EF4-FFF2-40B4-BE49-F238E27FC236}">
                <a16:creationId xmlns:a16="http://schemas.microsoft.com/office/drawing/2014/main" id="{066CAF77-2B6F-4B73-BE82-4C05085546BB}"/>
              </a:ext>
            </a:extLst>
          </p:cNvPr>
          <p:cNvSpPr>
            <a:spLocks xmlns:a="http://schemas.openxmlformats.org/drawingml/2006/main" noGrp="1"/>
          </p:cNvSpPr>
          <p:nvPr/>
        </p:nvSpPr>
        <p:spPr>
          <a:xfrm xmlns:a="http://schemas.openxmlformats.org/drawingml/2006/main">
            <a:off x="685800" y="209550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75" b="0" i="0">
                <a:solidFill>
                  <a:srgbClr val="BFD2E2"/>
                </a:solidFill>
                <a:latin typeface="Arial"/>
                <a:ea typeface="Arial"/>
                <a:cs typeface="Arial"/>
              </a:defRPr>
            </a:pPr>
            <a:r>
              <a:rPr sz="1575" b="0" i="0">
                <a:solidFill>
                  <a:srgbClr val="BFD2E2"/>
                </a:solidFill>
                <a:latin typeface="Arial"/>
                <a:ea typeface="Arial"/>
                <a:cs typeface="Arial"/>
              </a:rPr>
              <a:t>A controlled comparison of two ML models against transparent volatility benchmarks</a:t>
            </a:r>
          </a:p>
        </p:txBody>
      </p:sp>
      <p:sp>
        <p:nvSpPr>
          <p:cNvPr id="8" name="">
            <a:extLst xmlns:a="http://schemas.openxmlformats.org/drawingml/2006/main">
              <a:ext uri="{FF2B5EF4-FFF2-40B4-BE49-F238E27FC236}">
                <a16:creationId xmlns:a16="http://schemas.microsoft.com/office/drawing/2014/main" id="{8A43507C-6748-404A-89B7-BF9D689854D7}"/>
              </a:ext>
            </a:extLst>
          </p:cNvPr>
          <p:cNvSpPr>
            <a:spLocks xmlns:a="http://schemas.openxmlformats.org/drawingml/2006/main" noGrp="1"/>
          </p:cNvSpPr>
          <p:nvPr/>
        </p:nvSpPr>
        <p:spPr>
          <a:xfrm xmlns:a="http://schemas.openxmlformats.org/drawingml/2006/main">
            <a:off x="647700" y="2952750"/>
            <a:ext cx="7524750" cy="2419350"/>
          </a:xfrm>
          <a:prstGeom xmlns:a="http://schemas.openxmlformats.org/drawingml/2006/main" prst="roundRect">
            <a:avLst>
              <a:gd name="adj" fmla="val 3150"/>
            </a:avLst>
          </a:prstGeom>
          <a:solidFill xmlns:a="http://schemas.openxmlformats.org/drawingml/2006/main">
            <a:srgbClr val="0C2A41"/>
          </a:solidFill>
          <a:ln xmlns:a="http://schemas.openxmlformats.org/drawingml/2006/main" w="9525">
            <a:solidFill>
              <a:srgbClr val="24465F"/>
            </a:solidFill>
          </a:ln>
        </p:spPr>
      </p:sp>
      <p:sp>
        <p:nvSpPr>
          <p:cNvPr id="9" name="">
            <a:extLst xmlns:a="http://schemas.openxmlformats.org/drawingml/2006/main">
              <a:ext uri="{FF2B5EF4-FFF2-40B4-BE49-F238E27FC236}">
                <a16:creationId xmlns:a16="http://schemas.microsoft.com/office/drawing/2014/main" id="{EB8D9E5F-AFEB-4F7F-86F5-9A3B74744546}"/>
              </a:ext>
            </a:extLst>
          </p:cNvPr>
          <p:cNvSpPr>
            <a:spLocks xmlns:a="http://schemas.openxmlformats.org/drawingml/2006/main" noGrp="1"/>
          </p:cNvSpPr>
          <p:nvPr/>
        </p:nvSpPr>
        <p:spPr>
          <a:xfrm xmlns:a="http://schemas.openxmlformats.org/drawingml/2006/main">
            <a:off x="895350" y="3181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24C1D6"/>
                </a:solidFill>
                <a:latin typeface="Arial"/>
                <a:ea typeface="Arial"/>
                <a:cs typeface="Arial"/>
              </a:defRPr>
            </a:pPr>
            <a:r>
              <a:rPr sz="900" b="1" i="0">
                <a:solidFill>
                  <a:srgbClr val="24C1D6"/>
                </a:solidFill>
                <a:latin typeface="Arial"/>
                <a:ea typeface="Arial"/>
                <a:cs typeface="Arial"/>
              </a:rPr>
              <a:t>EXACT RESEARCH QUESTION</a:t>
            </a:r>
          </a:p>
        </p:txBody>
      </p:sp>
      <p:sp>
        <p:nvSpPr>
          <p:cNvPr id="10" name="">
            <a:extLst xmlns:a="http://schemas.openxmlformats.org/drawingml/2006/main">
              <a:ext uri="{FF2B5EF4-FFF2-40B4-BE49-F238E27FC236}">
                <a16:creationId xmlns:a16="http://schemas.microsoft.com/office/drawing/2014/main" id="{B3A04799-97D9-45B1-8D5D-ED2DA950FB6D}"/>
              </a:ext>
            </a:extLst>
          </p:cNvPr>
          <p:cNvSpPr>
            <a:spLocks xmlns:a="http://schemas.openxmlformats.org/drawingml/2006/main" noGrp="1"/>
          </p:cNvSpPr>
          <p:nvPr/>
        </p:nvSpPr>
        <p:spPr>
          <a:xfrm xmlns:a="http://schemas.openxmlformats.org/drawingml/2006/main">
            <a:off x="895350" y="3533775"/>
            <a:ext cx="695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To what extent do Random Forest and LSTM justify their additional complexity over rolling historical volatility and GARCH(1,1) when forecasting the next-day update of a volatility proxy constructed from Hyperliquid BTC perpetual-futures returns?</a:t>
            </a:r>
          </a:p>
        </p:txBody>
      </p:sp>
      <p:sp>
        <p:nvSpPr>
          <p:cNvPr id="11" name="">
            <a:extLst xmlns:a="http://schemas.openxmlformats.org/drawingml/2006/main">
              <a:ext uri="{FF2B5EF4-FFF2-40B4-BE49-F238E27FC236}">
                <a16:creationId xmlns:a16="http://schemas.microsoft.com/office/drawing/2014/main" id="{AF02A910-1F52-4043-964F-3B31544A2814}"/>
              </a:ext>
            </a:extLst>
          </p:cNvPr>
          <p:cNvSpPr>
            <a:spLocks xmlns:a="http://schemas.openxmlformats.org/drawingml/2006/main" noGrp="1"/>
          </p:cNvSpPr>
          <p:nvPr/>
        </p:nvSpPr>
        <p:spPr>
          <a:xfrm xmlns:a="http://schemas.openxmlformats.org/drawingml/2006/main">
            <a:off x="8620125" y="3048000"/>
            <a:ext cx="400050" cy="400050"/>
          </a:xfrm>
          <a:prstGeom xmlns:a="http://schemas.openxmlformats.org/drawingml/2006/main" prst="ellipse">
            <a:avLst/>
          </a:prstGeom>
          <a:solidFill xmlns:a="http://schemas.openxmlformats.org/drawingml/2006/main">
            <a:srgbClr val="1363DF"/>
          </a:solidFill>
          <a:ln xmlns:a="http://schemas.openxmlformats.org/drawingml/2006/main" w="0">
            <a:solidFill>
              <a:srgbClr val="1363DF"/>
            </a:solidFill>
          </a:ln>
        </p:spPr>
      </p:sp>
      <p:sp>
        <p:nvSpPr>
          <p:cNvPr id="12" name="">
            <a:extLst xmlns:a="http://schemas.openxmlformats.org/drawingml/2006/main">
              <a:ext uri="{FF2B5EF4-FFF2-40B4-BE49-F238E27FC236}">
                <a16:creationId xmlns:a16="http://schemas.microsoft.com/office/drawing/2014/main" id="{193A170A-266B-42AC-9FC1-3ADE3E5633CC}"/>
              </a:ext>
            </a:extLst>
          </p:cNvPr>
          <p:cNvSpPr>
            <a:spLocks xmlns:a="http://schemas.openxmlformats.org/drawingml/2006/main" noGrp="1"/>
          </p:cNvSpPr>
          <p:nvPr/>
        </p:nvSpPr>
        <p:spPr>
          <a:xfrm xmlns:a="http://schemas.openxmlformats.org/drawingml/2006/main">
            <a:off x="8620125" y="30480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71C2C"/>
                </a:solidFill>
                <a:latin typeface="Arial"/>
                <a:ea typeface="Arial"/>
                <a:cs typeface="Arial"/>
              </a:defRPr>
            </a:pPr>
            <a:r>
              <a:rPr sz="1050" b="1" i="0">
                <a:solidFill>
                  <a:srgbClr val="071C2C"/>
                </a:solidFill>
                <a:latin typeface="Arial"/>
                <a:ea typeface="Arial"/>
                <a:cs typeface="Arial"/>
              </a:rPr>
              <a:t>01</a:t>
            </a:r>
          </a:p>
        </p:txBody>
      </p:sp>
      <p:sp>
        <p:nvSpPr>
          <p:cNvPr id="13" name="">
            <a:extLst xmlns:a="http://schemas.openxmlformats.org/drawingml/2006/main">
              <a:ext uri="{FF2B5EF4-FFF2-40B4-BE49-F238E27FC236}">
                <a16:creationId xmlns:a16="http://schemas.microsoft.com/office/drawing/2014/main" id="{BCBE0ABC-DAE2-4D92-983F-D47EB243F5E1}"/>
              </a:ext>
            </a:extLst>
          </p:cNvPr>
          <p:cNvSpPr>
            <a:spLocks xmlns:a="http://schemas.openxmlformats.org/drawingml/2006/main" noGrp="1"/>
          </p:cNvSpPr>
          <p:nvPr/>
        </p:nvSpPr>
        <p:spPr>
          <a:xfrm xmlns:a="http://schemas.openxmlformats.org/drawingml/2006/main">
            <a:off x="9182100" y="30861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Accuracy</a:t>
            </a:r>
          </a:p>
        </p:txBody>
      </p:sp>
      <p:sp>
        <p:nvSpPr>
          <p:cNvPr id="14" name="">
            <a:extLst xmlns:a="http://schemas.openxmlformats.org/drawingml/2006/main">
              <a:ext uri="{FF2B5EF4-FFF2-40B4-BE49-F238E27FC236}">
                <a16:creationId xmlns:a16="http://schemas.microsoft.com/office/drawing/2014/main" id="{00FAD76F-6D32-41EB-AA98-410DD6B585B6}"/>
              </a:ext>
            </a:extLst>
          </p:cNvPr>
          <p:cNvSpPr>
            <a:spLocks xmlns:a="http://schemas.openxmlformats.org/drawingml/2006/main" noGrp="1"/>
          </p:cNvSpPr>
          <p:nvPr/>
        </p:nvSpPr>
        <p:spPr>
          <a:xfrm xmlns:a="http://schemas.openxmlformats.org/drawingml/2006/main">
            <a:off x="8620125" y="3695700"/>
            <a:ext cx="400050" cy="400050"/>
          </a:xfrm>
          <a:prstGeom xmlns:a="http://schemas.openxmlformats.org/drawingml/2006/main" prst="ellipse">
            <a:avLst/>
          </a:prstGeom>
          <a:solidFill xmlns:a="http://schemas.openxmlformats.org/drawingml/2006/main">
            <a:srgbClr val="24C1D6"/>
          </a:solidFill>
          <a:ln xmlns:a="http://schemas.openxmlformats.org/drawingml/2006/main" w="0">
            <a:solidFill>
              <a:srgbClr val="24C1D6"/>
            </a:solidFill>
          </a:ln>
        </p:spPr>
      </p:sp>
      <p:sp>
        <p:nvSpPr>
          <p:cNvPr id="15" name="">
            <a:extLst xmlns:a="http://schemas.openxmlformats.org/drawingml/2006/main">
              <a:ext uri="{FF2B5EF4-FFF2-40B4-BE49-F238E27FC236}">
                <a16:creationId xmlns:a16="http://schemas.microsoft.com/office/drawing/2014/main" id="{606F0435-C66F-4445-AD13-CF929059492E}"/>
              </a:ext>
            </a:extLst>
          </p:cNvPr>
          <p:cNvSpPr>
            <a:spLocks xmlns:a="http://schemas.openxmlformats.org/drawingml/2006/main" noGrp="1"/>
          </p:cNvSpPr>
          <p:nvPr/>
        </p:nvSpPr>
        <p:spPr>
          <a:xfrm xmlns:a="http://schemas.openxmlformats.org/drawingml/2006/main">
            <a:off x="8620125" y="36957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71C2C"/>
                </a:solidFill>
                <a:latin typeface="Arial"/>
                <a:ea typeface="Arial"/>
                <a:cs typeface="Arial"/>
              </a:defRPr>
            </a:pPr>
            <a:r>
              <a:rPr sz="1050" b="1" i="0">
                <a:solidFill>
                  <a:srgbClr val="071C2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C4175C56-81DF-4515-AEC8-62949ACD73A6}"/>
              </a:ext>
            </a:extLst>
          </p:cNvPr>
          <p:cNvSpPr>
            <a:spLocks xmlns:a="http://schemas.openxmlformats.org/drawingml/2006/main" noGrp="1"/>
          </p:cNvSpPr>
          <p:nvPr/>
        </p:nvSpPr>
        <p:spPr>
          <a:xfrm xmlns:a="http://schemas.openxmlformats.org/drawingml/2006/main">
            <a:off x="9182100" y="3733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Robustness</a:t>
            </a:r>
          </a:p>
        </p:txBody>
      </p:sp>
      <p:sp>
        <p:nvSpPr>
          <p:cNvPr id="17" name="">
            <a:extLst xmlns:a="http://schemas.openxmlformats.org/drawingml/2006/main">
              <a:ext uri="{FF2B5EF4-FFF2-40B4-BE49-F238E27FC236}">
                <a16:creationId xmlns:a16="http://schemas.microsoft.com/office/drawing/2014/main" id="{98EB9E59-DC53-4ABA-AB79-80796BB732E7}"/>
              </a:ext>
            </a:extLst>
          </p:cNvPr>
          <p:cNvSpPr>
            <a:spLocks xmlns:a="http://schemas.openxmlformats.org/drawingml/2006/main" noGrp="1"/>
          </p:cNvSpPr>
          <p:nvPr/>
        </p:nvSpPr>
        <p:spPr>
          <a:xfrm xmlns:a="http://schemas.openxmlformats.org/drawingml/2006/main">
            <a:off x="8620125" y="4343400"/>
            <a:ext cx="400050" cy="400050"/>
          </a:xfrm>
          <a:prstGeom xmlns:a="http://schemas.openxmlformats.org/drawingml/2006/main" prst="ellipse">
            <a:avLst/>
          </a:prstGeom>
          <a:solidFill xmlns:a="http://schemas.openxmlformats.org/drawingml/2006/main">
            <a:srgbClr val="159A70"/>
          </a:solidFill>
          <a:ln xmlns:a="http://schemas.openxmlformats.org/drawingml/2006/main" w="0">
            <a:solidFill>
              <a:srgbClr val="159A70"/>
            </a:solidFill>
          </a:ln>
        </p:spPr>
      </p:sp>
      <p:sp>
        <p:nvSpPr>
          <p:cNvPr id="18" name="">
            <a:extLst xmlns:a="http://schemas.openxmlformats.org/drawingml/2006/main">
              <a:ext uri="{FF2B5EF4-FFF2-40B4-BE49-F238E27FC236}">
                <a16:creationId xmlns:a16="http://schemas.microsoft.com/office/drawing/2014/main" id="{0EAEF844-114C-4851-977C-BDD3C75FC690}"/>
              </a:ext>
            </a:extLst>
          </p:cNvPr>
          <p:cNvSpPr>
            <a:spLocks xmlns:a="http://schemas.openxmlformats.org/drawingml/2006/main" noGrp="1"/>
          </p:cNvSpPr>
          <p:nvPr/>
        </p:nvSpPr>
        <p:spPr>
          <a:xfrm xmlns:a="http://schemas.openxmlformats.org/drawingml/2006/main">
            <a:off x="8620125" y="43434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71C2C"/>
                </a:solidFill>
                <a:latin typeface="Arial"/>
                <a:ea typeface="Arial"/>
                <a:cs typeface="Arial"/>
              </a:defRPr>
            </a:pPr>
            <a:r>
              <a:rPr sz="1050" b="1" i="0">
                <a:solidFill>
                  <a:srgbClr val="071C2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C0A7AE9F-17AF-4D2B-AC61-787C2D30BBC0}"/>
              </a:ext>
            </a:extLst>
          </p:cNvPr>
          <p:cNvSpPr>
            <a:spLocks xmlns:a="http://schemas.openxmlformats.org/drawingml/2006/main" noGrp="1"/>
          </p:cNvSpPr>
          <p:nvPr/>
        </p:nvSpPr>
        <p:spPr>
          <a:xfrm xmlns:a="http://schemas.openxmlformats.org/drawingml/2006/main">
            <a:off x="9182100" y="43815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Interpretability</a:t>
            </a:r>
          </a:p>
        </p:txBody>
      </p:sp>
      <p:sp>
        <p:nvSpPr>
          <p:cNvPr id="20" name="">
            <a:extLst xmlns:a="http://schemas.openxmlformats.org/drawingml/2006/main">
              <a:ext uri="{FF2B5EF4-FFF2-40B4-BE49-F238E27FC236}">
                <a16:creationId xmlns:a16="http://schemas.microsoft.com/office/drawing/2014/main" id="{E8BDBD24-5A47-46AF-88E0-CC9115F0AEBC}"/>
              </a:ext>
            </a:extLst>
          </p:cNvPr>
          <p:cNvSpPr>
            <a:spLocks xmlns:a="http://schemas.openxmlformats.org/drawingml/2006/main" noGrp="1"/>
          </p:cNvSpPr>
          <p:nvPr/>
        </p:nvSpPr>
        <p:spPr>
          <a:xfrm xmlns:a="http://schemas.openxmlformats.org/drawingml/2006/main">
            <a:off x="8620125" y="4991100"/>
            <a:ext cx="400050" cy="400050"/>
          </a:xfrm>
          <a:prstGeom xmlns:a="http://schemas.openxmlformats.org/drawingml/2006/main" prst="ellipse">
            <a:avLst/>
          </a:prstGeom>
          <a:solidFill xmlns:a="http://schemas.openxmlformats.org/drawingml/2006/main">
            <a:srgbClr val="F4B942"/>
          </a:solidFill>
          <a:ln xmlns:a="http://schemas.openxmlformats.org/drawingml/2006/main" w="0">
            <a:solidFill>
              <a:srgbClr val="F4B942"/>
            </a:solidFill>
          </a:ln>
        </p:spPr>
      </p:sp>
      <p:sp>
        <p:nvSpPr>
          <p:cNvPr id="21" name="">
            <a:extLst xmlns:a="http://schemas.openxmlformats.org/drawingml/2006/main">
              <a:ext uri="{FF2B5EF4-FFF2-40B4-BE49-F238E27FC236}">
                <a16:creationId xmlns:a16="http://schemas.microsoft.com/office/drawing/2014/main" id="{2EE5DCDF-78E9-4C61-A7A2-DE858BDFC1D9}"/>
              </a:ext>
            </a:extLst>
          </p:cNvPr>
          <p:cNvSpPr>
            <a:spLocks xmlns:a="http://schemas.openxmlformats.org/drawingml/2006/main" noGrp="1"/>
          </p:cNvSpPr>
          <p:nvPr/>
        </p:nvSpPr>
        <p:spPr>
          <a:xfrm xmlns:a="http://schemas.openxmlformats.org/drawingml/2006/main">
            <a:off x="8620125" y="49911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71C2C"/>
                </a:solidFill>
                <a:latin typeface="Arial"/>
                <a:ea typeface="Arial"/>
                <a:cs typeface="Arial"/>
              </a:defRPr>
            </a:pPr>
            <a:r>
              <a:rPr sz="1050" b="1" i="0">
                <a:solidFill>
                  <a:srgbClr val="071C2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7E32A0D7-AE9A-44A7-B81B-AB68F32F318F}"/>
              </a:ext>
            </a:extLst>
          </p:cNvPr>
          <p:cNvSpPr>
            <a:spLocks xmlns:a="http://schemas.openxmlformats.org/drawingml/2006/main" noGrp="1"/>
          </p:cNvSpPr>
          <p:nvPr/>
        </p:nvSpPr>
        <p:spPr>
          <a:xfrm xmlns:a="http://schemas.openxmlformats.org/drawingml/2006/main">
            <a:off x="9182100" y="50292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Practicality</a:t>
            </a:r>
          </a:p>
        </p:txBody>
      </p:sp>
      <p:sp>
        <p:nvSpPr>
          <p:cNvPr id="23" name="">
            <a:extLst xmlns:a="http://schemas.openxmlformats.org/drawingml/2006/main">
              <a:ext uri="{FF2B5EF4-FFF2-40B4-BE49-F238E27FC236}">
                <a16:creationId xmlns:a16="http://schemas.microsoft.com/office/drawing/2014/main" id="{EEBED019-5B7C-4E09-9442-29719E5EB5E7}"/>
              </a:ext>
            </a:extLst>
          </p:cNvPr>
          <p:cNvSpPr>
            <a:spLocks xmlns:a="http://schemas.openxmlformats.org/drawingml/2006/main" noGrp="1"/>
          </p:cNvSpPr>
          <p:nvPr/>
        </p:nvSpPr>
        <p:spPr>
          <a:xfrm xmlns:a="http://schemas.openxmlformats.org/drawingml/2006/main">
            <a:off x="647700" y="5753100"/>
            <a:ext cx="2247900" cy="323850"/>
          </a:xfrm>
          <a:prstGeom xmlns:a="http://schemas.openxmlformats.org/drawingml/2006/main" prst="roundRect">
            <a:avLst>
              <a:gd name="adj" fmla="val 23529"/>
            </a:avLst>
          </a:prstGeom>
          <a:solidFill xmlns:a="http://schemas.openxmlformats.org/drawingml/2006/main">
            <a:srgbClr val="24C1D6"/>
          </a:solidFill>
          <a:ln xmlns:a="http://schemas.openxmlformats.org/drawingml/2006/main" w="0">
            <a:solidFill>
              <a:srgbClr val="24C1D6"/>
            </a:solidFill>
          </a:ln>
        </p:spPr>
      </p:sp>
      <p:sp>
        <p:nvSpPr>
          <p:cNvPr id="24" name="">
            <a:extLst xmlns:a="http://schemas.openxmlformats.org/drawingml/2006/main">
              <a:ext uri="{FF2B5EF4-FFF2-40B4-BE49-F238E27FC236}">
                <a16:creationId xmlns:a16="http://schemas.microsoft.com/office/drawing/2014/main" id="{9B6AB92F-D58F-4151-AC8E-9A703EE74410}"/>
              </a:ext>
            </a:extLst>
          </p:cNvPr>
          <p:cNvSpPr>
            <a:spLocks xmlns:a="http://schemas.openxmlformats.org/drawingml/2006/main" noGrp="1"/>
          </p:cNvSpPr>
          <p:nvPr/>
        </p:nvSpPr>
        <p:spPr>
          <a:xfrm xmlns:a="http://schemas.openxmlformats.org/drawingml/2006/main">
            <a:off x="647700" y="5762625"/>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75" b="1" i="0">
                <a:solidFill>
                  <a:srgbClr val="071C2C"/>
                </a:solidFill>
                <a:latin typeface="Arial"/>
                <a:ea typeface="Arial"/>
                <a:cs typeface="Arial"/>
              </a:defRPr>
            </a:pPr>
            <a:r>
              <a:rPr sz="975" b="1" i="0">
                <a:solidFill>
                  <a:srgbClr val="071C2C"/>
                </a:solidFill>
                <a:latin typeface="Arial"/>
                <a:ea typeface="Arial"/>
                <a:cs typeface="Arial"/>
              </a:rPr>
              <a:t>10-MINUTE PRESENTATION</a:t>
            </a:r>
          </a:p>
        </p:txBody>
      </p:sp>
      <p:sp>
        <p:nvSpPr>
          <p:cNvPr id="25" name="">
            <a:extLst xmlns:a="http://schemas.openxmlformats.org/drawingml/2006/main">
              <a:ext uri="{FF2B5EF4-FFF2-40B4-BE49-F238E27FC236}">
                <a16:creationId xmlns:a16="http://schemas.microsoft.com/office/drawing/2014/main" id="{67CBA7AF-1D09-43A2-AFC1-F6C2082E7966}"/>
              </a:ext>
            </a:extLst>
          </p:cNvPr>
          <p:cNvSpPr>
            <a:spLocks xmlns:a="http://schemas.openxmlformats.org/drawingml/2006/main" noGrp="1"/>
          </p:cNvSpPr>
          <p:nvPr/>
        </p:nvSpPr>
        <p:spPr>
          <a:xfrm xmlns:a="http://schemas.openxmlformats.org/drawingml/2006/main">
            <a:off x="3105150" y="58197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0" i="0">
                <a:solidFill>
                  <a:srgbClr val="BFD2E2"/>
                </a:solidFill>
                <a:latin typeface="Arial"/>
                <a:ea typeface="Arial"/>
                <a:cs typeface="Arial"/>
              </a:defRPr>
            </a:pPr>
            <a:r>
              <a:rPr sz="975" b="0" i="0">
                <a:solidFill>
                  <a:srgbClr val="BFD2E2"/>
                </a:solidFill>
                <a:latin typeface="Arial"/>
                <a:ea typeface="Arial"/>
                <a:cs typeface="Arial"/>
              </a:rPr>
              <a:t>Candidate presentation · teacher-feedback revision</a:t>
            </a:r>
          </a:p>
        </p:txBody>
      </p:sp>
      <p:sp>
        <p:nvSpPr>
          <p:cNvPr id="26" name="">
            <a:extLst xmlns:a="http://schemas.openxmlformats.org/drawingml/2006/main">
              <a:ext uri="{FF2B5EF4-FFF2-40B4-BE49-F238E27FC236}">
                <a16:creationId xmlns:a16="http://schemas.microsoft.com/office/drawing/2014/main" id="{FE7465CE-7914-42C7-93D7-7460F1AB2C90}"/>
              </a:ext>
            </a:extLst>
          </p:cNvPr>
          <p:cNvSpPr>
            <a:spLocks xmlns:a="http://schemas.openxmlformats.org/drawingml/2006/main" noGrp="1"/>
          </p:cNvSpPr>
          <p:nvPr/>
        </p:nvSpPr>
        <p:spPr>
          <a:xfrm xmlns:a="http://schemas.openxmlformats.org/drawingml/2006/main">
            <a:off x="10763250" y="647700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91A9BC"/>
                </a:solidFill>
                <a:latin typeface="Arial"/>
                <a:ea typeface="Arial"/>
                <a:cs typeface="Arial"/>
              </a:defRPr>
            </a:pPr>
            <a:r>
              <a:rPr sz="750" b="1" i="0">
                <a:solidFill>
                  <a:srgbClr val="91A9BC"/>
                </a:solidFill>
                <a:latin typeface="Arial"/>
                <a:ea typeface="Arial"/>
                <a:cs typeface="Arial"/>
              </a:rPr>
              <a:t>01 / 10</a:t>
            </a:r>
          </a:p>
        </p:txBody>
      </p:sp>
    </p:spTree>
    <p:extLst>
      <p:ext uri="{BB962C8B-B14F-4D97-AF65-F5344CB8AC3E}">
        <p14:creationId xmlns:p14="http://schemas.microsoft.com/office/powerpoint/2010/main" val="13058817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DE1C8BE-28C9-43AD-99C5-BDA5536B3531}"/>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FF9E5F0A-E3C6-4013-955D-8EB01ECE37D2}"/>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WHY THIS QUESTION</a:t>
            </a:r>
          </a:p>
        </p:txBody>
      </p:sp>
      <p:sp>
        <p:nvSpPr>
          <p:cNvPr id="3" name="">
            <a:extLst xmlns:a="http://schemas.openxmlformats.org/drawingml/2006/main">
              <a:ext uri="{FF2B5EF4-FFF2-40B4-BE49-F238E27FC236}">
                <a16:creationId xmlns:a16="http://schemas.microsoft.com/office/drawing/2014/main" id="{E2288F96-7F20-4D6F-855E-EBAAA29B9E44}"/>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Volatility is about uncertainty — not direction</a:t>
            </a:r>
          </a:p>
        </p:txBody>
      </p:sp>
      <p:sp>
        <p:nvSpPr>
          <p:cNvPr id="4" name="">
            <a:extLst xmlns:a="http://schemas.openxmlformats.org/drawingml/2006/main">
              <a:ext uri="{FF2B5EF4-FFF2-40B4-BE49-F238E27FC236}">
                <a16:creationId xmlns:a16="http://schemas.microsoft.com/office/drawing/2014/main" id="{D123B073-CB85-4DBA-9BEB-EF833D08BB11}"/>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5" name="">
            <a:extLst xmlns:a="http://schemas.openxmlformats.org/drawingml/2006/main">
              <a:ext uri="{FF2B5EF4-FFF2-40B4-BE49-F238E27FC236}">
                <a16:creationId xmlns:a16="http://schemas.microsoft.com/office/drawing/2014/main" id="{60E07C8E-8300-4A80-A394-179E5EF5F440}"/>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6" name="">
            <a:extLst xmlns:a="http://schemas.openxmlformats.org/drawingml/2006/main">
              <a:ext uri="{FF2B5EF4-FFF2-40B4-BE49-F238E27FC236}">
                <a16:creationId xmlns:a16="http://schemas.microsoft.com/office/drawing/2014/main" id="{9C4F725B-1EE7-45E0-8FD3-FC5727D59D3C}"/>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02 / 10</a:t>
            </a:r>
          </a:p>
        </p:txBody>
      </p:sp>
      <p:sp>
        <p:nvSpPr>
          <p:cNvPr id="7" name="">
            <a:extLst xmlns:a="http://schemas.openxmlformats.org/drawingml/2006/main">
              <a:ext uri="{FF2B5EF4-FFF2-40B4-BE49-F238E27FC236}">
                <a16:creationId xmlns:a16="http://schemas.microsoft.com/office/drawing/2014/main" id="{6AA7A8FF-C38C-40E3-B369-BF7B503FA536}"/>
              </a:ext>
            </a:extLst>
          </p:cNvPr>
          <p:cNvSpPr>
            <a:spLocks xmlns:a="http://schemas.openxmlformats.org/drawingml/2006/main" noGrp="1"/>
          </p:cNvSpPr>
          <p:nvPr/>
        </p:nvSpPr>
        <p:spPr>
          <a:xfrm xmlns:a="http://schemas.openxmlformats.org/drawingml/2006/main">
            <a:off x="609600" y="1428750"/>
            <a:ext cx="5191125" cy="4476750"/>
          </a:xfrm>
          <a:prstGeom xmlns:a="http://schemas.openxmlformats.org/drawingml/2006/main" prst="roundRect">
            <a:avLst>
              <a:gd name="adj" fmla="val 1702"/>
            </a:avLst>
          </a:prstGeom>
          <a:solidFill xmlns:a="http://schemas.openxmlformats.org/drawingml/2006/main">
            <a:srgbClr val="F5F8FB"/>
          </a:solidFill>
          <a:ln xmlns:a="http://schemas.openxmlformats.org/drawingml/2006/main" w="9525">
            <a:solidFill>
              <a:srgbClr val="D8E3EC"/>
            </a:solidFill>
          </a:ln>
        </p:spPr>
      </p:sp>
      <p:sp>
        <p:nvSpPr>
          <p:cNvPr id="8" name="">
            <a:extLst xmlns:a="http://schemas.openxmlformats.org/drawingml/2006/main">
              <a:ext uri="{FF2B5EF4-FFF2-40B4-BE49-F238E27FC236}">
                <a16:creationId xmlns:a16="http://schemas.microsoft.com/office/drawing/2014/main" id="{FE9FF0AB-509B-4CDC-8A53-D7669D20DFDF}"/>
              </a:ext>
            </a:extLst>
          </p:cNvPr>
          <p:cNvSpPr>
            <a:spLocks xmlns:a="http://schemas.openxmlformats.org/drawingml/2006/main" noGrp="1"/>
          </p:cNvSpPr>
          <p:nvPr/>
        </p:nvSpPr>
        <p:spPr>
          <a:xfrm xmlns:a="http://schemas.openxmlformats.org/drawingml/2006/main">
            <a:off x="876300" y="16764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E45756"/>
                </a:solidFill>
                <a:latin typeface="Arial"/>
                <a:ea typeface="Arial"/>
                <a:cs typeface="Arial"/>
              </a:defRPr>
            </a:pPr>
            <a:r>
              <a:rPr sz="975" b="1" i="0">
                <a:solidFill>
                  <a:srgbClr val="E45756"/>
                </a:solidFill>
                <a:latin typeface="Arial"/>
                <a:ea typeface="Arial"/>
                <a:cs typeface="Arial"/>
              </a:rPr>
              <a:t>PRICE DIRECTION</a:t>
            </a:r>
          </a:p>
        </p:txBody>
      </p:sp>
      <p:sp>
        <p:nvSpPr>
          <p:cNvPr id="9" name="">
            <a:extLst xmlns:a="http://schemas.openxmlformats.org/drawingml/2006/main">
              <a:ext uri="{FF2B5EF4-FFF2-40B4-BE49-F238E27FC236}">
                <a16:creationId xmlns:a16="http://schemas.microsoft.com/office/drawing/2014/main" id="{0F267FE9-E71A-492C-B2C8-013941A3D1E5}"/>
              </a:ext>
            </a:extLst>
          </p:cNvPr>
          <p:cNvSpPr>
            <a:spLocks xmlns:a="http://schemas.openxmlformats.org/drawingml/2006/main" noGrp="1"/>
          </p:cNvSpPr>
          <p:nvPr/>
        </p:nvSpPr>
        <p:spPr>
          <a:xfrm xmlns:a="http://schemas.openxmlformats.org/drawingml/2006/main">
            <a:off x="876300" y="20288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i="0">
                <a:solidFill>
                  <a:srgbClr val="071C2C"/>
                </a:solidFill>
                <a:latin typeface="Arial"/>
                <a:ea typeface="Arial"/>
                <a:cs typeface="Arial"/>
              </a:defRPr>
            </a:pPr>
            <a:r>
              <a:rPr sz="2550" b="1" i="0">
                <a:solidFill>
                  <a:srgbClr val="071C2C"/>
                </a:solidFill>
                <a:latin typeface="Arial"/>
                <a:ea typeface="Arial"/>
                <a:cs typeface="Arial"/>
              </a:rPr>
              <a:t>Will BTC rise</a:t>
            </a:r>
          </a:p>
          <a:p xmlns:a="http://schemas.openxmlformats.org/drawingml/2006/main">
            <a:pPr algn="l">
              <a:lnSpc>
                <a:spcPct val="95000"/>
              </a:lnSpc>
              <a:buNone/>
              <a:defRPr sz="2550" b="1" i="0">
                <a:solidFill>
                  <a:srgbClr val="071C2C"/>
                </a:solidFill>
                <a:latin typeface="Arial"/>
                <a:ea typeface="Arial"/>
                <a:cs typeface="Arial"/>
              </a:defRPr>
            </a:pPr>
            <a:r>
              <a:rPr sz="2550" b="1" i="0">
                <a:solidFill>
                  <a:srgbClr val="071C2C"/>
                </a:solidFill>
                <a:latin typeface="Arial"/>
                <a:ea typeface="Arial"/>
                <a:cs typeface="Arial"/>
              </a:rPr>
              <a:t>or fall?</a:t>
            </a:r>
          </a:p>
        </p:txBody>
      </p:sp>
      <p:sp>
        <p:nvSpPr>
          <p:cNvPr id="10" name="">
            <a:extLst xmlns:a="http://schemas.openxmlformats.org/drawingml/2006/main">
              <a:ext uri="{FF2B5EF4-FFF2-40B4-BE49-F238E27FC236}">
                <a16:creationId xmlns:a16="http://schemas.microsoft.com/office/drawing/2014/main" id="{871998F9-B713-4E67-AA33-4DC279F75F02}"/>
              </a:ext>
            </a:extLst>
          </p:cNvPr>
          <p:cNvSpPr>
            <a:spLocks xmlns:a="http://schemas.openxmlformats.org/drawingml/2006/main" noGrp="1"/>
          </p:cNvSpPr>
          <p:nvPr/>
        </p:nvSpPr>
        <p:spPr>
          <a:xfrm xmlns:a="http://schemas.openxmlformats.org/drawingml/2006/main">
            <a:off x="904875" y="3238500"/>
            <a:ext cx="666750" cy="666750"/>
          </a:xfrm>
          <a:prstGeom xmlns:a="http://schemas.openxmlformats.org/drawingml/2006/main" prst="ellipse">
            <a:avLst/>
          </a:prstGeom>
          <a:solidFill xmlns:a="http://schemas.openxmlformats.org/drawingml/2006/main">
            <a:srgbClr val="FDECEC"/>
          </a:solidFill>
          <a:ln xmlns:a="http://schemas.openxmlformats.org/drawingml/2006/main" w="19050">
            <a:solidFill>
              <a:srgbClr val="E45756"/>
            </a:solidFill>
          </a:ln>
        </p:spPr>
      </p:sp>
      <p:sp>
        <p:nvSpPr>
          <p:cNvPr id="11" name="">
            <a:extLst xmlns:a="http://schemas.openxmlformats.org/drawingml/2006/main">
              <a:ext uri="{FF2B5EF4-FFF2-40B4-BE49-F238E27FC236}">
                <a16:creationId xmlns:a16="http://schemas.microsoft.com/office/drawing/2014/main" id="{27973CFE-E8A0-4107-B9C0-1399FD014EB5}"/>
              </a:ext>
            </a:extLst>
          </p:cNvPr>
          <p:cNvSpPr>
            <a:spLocks xmlns:a="http://schemas.openxmlformats.org/drawingml/2006/main" noGrp="1"/>
          </p:cNvSpPr>
          <p:nvPr/>
        </p:nvSpPr>
        <p:spPr>
          <a:xfrm xmlns:a="http://schemas.openxmlformats.org/drawingml/2006/main">
            <a:off x="904875" y="32385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325" b="1" i="0">
                <a:solidFill>
                  <a:srgbClr val="E45756"/>
                </a:solidFill>
                <a:latin typeface="Arial"/>
                <a:ea typeface="Arial"/>
                <a:cs typeface="Arial"/>
              </a:defRPr>
            </a:pPr>
            <a:r>
              <a:rPr sz="2325" b="1" i="0">
                <a:solidFill>
                  <a:srgbClr val="E4575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69D4F12-2E96-467B-BA8B-8BCFD1D0EE64}"/>
              </a:ext>
            </a:extLst>
          </p:cNvPr>
          <p:cNvSpPr>
            <a:spLocks xmlns:a="http://schemas.openxmlformats.org/drawingml/2006/main" noGrp="1"/>
          </p:cNvSpPr>
          <p:nvPr/>
        </p:nvSpPr>
        <p:spPr>
          <a:xfrm xmlns:a="http://schemas.openxmlformats.org/drawingml/2006/main">
            <a:off x="1762125" y="3343275"/>
            <a:ext cx="238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25" b="1" i="0">
                <a:solidFill>
                  <a:srgbClr val="102A43"/>
                </a:solidFill>
                <a:latin typeface="Arial"/>
                <a:ea typeface="Arial"/>
                <a:cs typeface="Arial"/>
              </a:defRPr>
            </a:pPr>
            <a:r>
              <a:rPr sz="1425" b="1" i="0">
                <a:solidFill>
                  <a:srgbClr val="102A43"/>
                </a:solidFill>
                <a:latin typeface="Arial"/>
                <a:ea typeface="Arial"/>
                <a:cs typeface="Arial"/>
              </a:rPr>
              <a:t>Not the task</a:t>
            </a:r>
          </a:p>
        </p:txBody>
      </p:sp>
      <p:sp>
        <p:nvSpPr>
          <p:cNvPr id="13" name="">
            <a:extLst xmlns:a="http://schemas.openxmlformats.org/drawingml/2006/main">
              <a:ext uri="{FF2B5EF4-FFF2-40B4-BE49-F238E27FC236}">
                <a16:creationId xmlns:a16="http://schemas.microsoft.com/office/drawing/2014/main" id="{A0B297D0-52BA-4C03-9875-77530971D8FA}"/>
              </a:ext>
            </a:extLst>
          </p:cNvPr>
          <p:cNvSpPr>
            <a:spLocks xmlns:a="http://schemas.openxmlformats.org/drawingml/2006/main" noGrp="1"/>
          </p:cNvSpPr>
          <p:nvPr/>
        </p:nvSpPr>
        <p:spPr>
          <a:xfrm xmlns:a="http://schemas.openxmlformats.org/drawingml/2006/main">
            <a:off x="1762125" y="3686175"/>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i="0">
                <a:solidFill>
                  <a:srgbClr val="5B6B7C"/>
                </a:solidFill>
                <a:latin typeface="Arial"/>
                <a:ea typeface="Arial"/>
                <a:cs typeface="Arial"/>
              </a:defRPr>
            </a:pPr>
            <a:r>
              <a:rPr sz="1200" b="0" i="0">
                <a:solidFill>
                  <a:srgbClr val="5B6B7C"/>
                </a:solidFill>
                <a:latin typeface="Arial"/>
                <a:ea typeface="Arial"/>
                <a:cs typeface="Arial"/>
              </a:rPr>
              <a:t>The project does not predict returns, profits or a trading signal.</a:t>
            </a:r>
          </a:p>
        </p:txBody>
      </p:sp>
      <p:sp>
        <p:nvSpPr>
          <p:cNvPr id="14" name="">
            <a:extLst xmlns:a="http://schemas.openxmlformats.org/drawingml/2006/main">
              <a:ext uri="{FF2B5EF4-FFF2-40B4-BE49-F238E27FC236}">
                <a16:creationId xmlns:a16="http://schemas.microsoft.com/office/drawing/2014/main" id="{CDC367CA-C1F9-4CC4-9213-E225A7F999DA}"/>
              </a:ext>
            </a:extLst>
          </p:cNvPr>
          <p:cNvSpPr>
            <a:spLocks xmlns:a="http://schemas.openxmlformats.org/drawingml/2006/main" noGrp="1"/>
          </p:cNvSpPr>
          <p:nvPr/>
        </p:nvSpPr>
        <p:spPr>
          <a:xfrm xmlns:a="http://schemas.openxmlformats.org/drawingml/2006/main">
            <a:off x="6048375" y="1428750"/>
            <a:ext cx="5534025" cy="4476750"/>
          </a:xfrm>
          <a:prstGeom xmlns:a="http://schemas.openxmlformats.org/drawingml/2006/main" prst="roundRect">
            <a:avLst>
              <a:gd name="adj" fmla="val 1702"/>
            </a:avLst>
          </a:prstGeom>
          <a:solidFill xmlns:a="http://schemas.openxmlformats.org/drawingml/2006/main">
            <a:srgbClr val="071C2C"/>
          </a:solidFill>
          <a:ln xmlns:a="http://schemas.openxmlformats.org/drawingml/2006/main" w="9525">
            <a:solidFill>
              <a:srgbClr val="071C2C"/>
            </a:solidFill>
          </a:ln>
        </p:spPr>
      </p:sp>
      <p:sp>
        <p:nvSpPr>
          <p:cNvPr id="15" name="">
            <a:extLst xmlns:a="http://schemas.openxmlformats.org/drawingml/2006/main">
              <a:ext uri="{FF2B5EF4-FFF2-40B4-BE49-F238E27FC236}">
                <a16:creationId xmlns:a16="http://schemas.microsoft.com/office/drawing/2014/main" id="{EACE8654-13DB-47AD-8388-E7320500026C}"/>
              </a:ext>
            </a:extLst>
          </p:cNvPr>
          <p:cNvSpPr>
            <a:spLocks xmlns:a="http://schemas.openxmlformats.org/drawingml/2006/main" noGrp="1"/>
          </p:cNvSpPr>
          <p:nvPr/>
        </p:nvSpPr>
        <p:spPr>
          <a:xfrm xmlns:a="http://schemas.openxmlformats.org/drawingml/2006/main">
            <a:off x="6324600" y="16764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24C1D6"/>
                </a:solidFill>
                <a:latin typeface="Arial"/>
                <a:ea typeface="Arial"/>
                <a:cs typeface="Arial"/>
              </a:defRPr>
            </a:pPr>
            <a:r>
              <a:rPr sz="975" b="1" i="0">
                <a:solidFill>
                  <a:srgbClr val="24C1D6"/>
                </a:solidFill>
                <a:latin typeface="Arial"/>
                <a:ea typeface="Arial"/>
                <a:cs typeface="Arial"/>
              </a:rPr>
              <a:t>VOLATILITY</a:t>
            </a:r>
          </a:p>
        </p:txBody>
      </p:sp>
      <p:sp>
        <p:nvSpPr>
          <p:cNvPr id="16" name="">
            <a:extLst xmlns:a="http://schemas.openxmlformats.org/drawingml/2006/main">
              <a:ext uri="{FF2B5EF4-FFF2-40B4-BE49-F238E27FC236}">
                <a16:creationId xmlns:a16="http://schemas.microsoft.com/office/drawing/2014/main" id="{452FB01C-676F-4F95-970F-6D45D7952C3A}"/>
              </a:ext>
            </a:extLst>
          </p:cNvPr>
          <p:cNvSpPr>
            <a:spLocks xmlns:a="http://schemas.openxmlformats.org/drawingml/2006/main" noGrp="1"/>
          </p:cNvSpPr>
          <p:nvPr/>
        </p:nvSpPr>
        <p:spPr>
          <a:xfrm xmlns:a="http://schemas.openxmlformats.org/drawingml/2006/main">
            <a:off x="6324600" y="20288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i="0">
                <a:solidFill>
                  <a:srgbClr val="FFFFFF"/>
                </a:solidFill>
                <a:latin typeface="Arial"/>
                <a:ea typeface="Arial"/>
                <a:cs typeface="Arial"/>
              </a:defRPr>
            </a:pPr>
            <a:r>
              <a:rPr sz="2550" b="1" i="0">
                <a:solidFill>
                  <a:srgbClr val="FFFFFF"/>
                </a:solidFill>
                <a:latin typeface="Arial"/>
                <a:ea typeface="Arial"/>
                <a:cs typeface="Arial"/>
              </a:rPr>
              <a:t>How large might</a:t>
            </a:r>
          </a:p>
          <a:p xmlns:a="http://schemas.openxmlformats.org/drawingml/2006/main">
            <a:pPr algn="l">
              <a:lnSpc>
                <a:spcPct val="95000"/>
              </a:lnSpc>
              <a:buNone/>
              <a:defRPr sz="2550" b="1" i="0">
                <a:solidFill>
                  <a:srgbClr val="FFFFFF"/>
                </a:solidFill>
                <a:latin typeface="Arial"/>
                <a:ea typeface="Arial"/>
                <a:cs typeface="Arial"/>
              </a:defRPr>
            </a:pPr>
            <a:r>
              <a:rPr sz="2550" b="1" i="0">
                <a:solidFill>
                  <a:srgbClr val="FFFFFF"/>
                </a:solidFill>
                <a:latin typeface="Arial"/>
                <a:ea typeface="Arial"/>
                <a:cs typeface="Arial"/>
              </a:rPr>
              <a:t>uncertainty become?</a:t>
            </a:r>
          </a:p>
        </p:txBody>
      </p:sp>
      <p:sp>
        <p:nvSpPr>
          <p:cNvPr id="17" name="">
            <a:extLst xmlns:a="http://schemas.openxmlformats.org/drawingml/2006/main">
              <a:ext uri="{FF2B5EF4-FFF2-40B4-BE49-F238E27FC236}">
                <a16:creationId xmlns:a16="http://schemas.microsoft.com/office/drawing/2014/main" id="{D9EB1C17-B6D4-45B3-9641-01B034820DA7}"/>
              </a:ext>
            </a:extLst>
          </p:cNvPr>
          <p:cNvSpPr>
            <a:spLocks xmlns:a="http://schemas.openxmlformats.org/drawingml/2006/main" noGrp="1"/>
          </p:cNvSpPr>
          <p:nvPr/>
        </p:nvSpPr>
        <p:spPr>
          <a:xfrm xmlns:a="http://schemas.openxmlformats.org/drawingml/2006/main">
            <a:off x="6381750" y="4610100"/>
            <a:ext cx="219075" cy="32385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C55357-12EC-43BC-93D0-B3AC6A5F0C8C}"/>
              </a:ext>
            </a:extLst>
          </p:cNvPr>
          <p:cNvSpPr>
            <a:spLocks xmlns:a="http://schemas.openxmlformats.org/drawingml/2006/main" noGrp="1"/>
          </p:cNvSpPr>
          <p:nvPr/>
        </p:nvSpPr>
        <p:spPr>
          <a:xfrm xmlns:a="http://schemas.openxmlformats.org/drawingml/2006/main">
            <a:off x="6838950" y="4381500"/>
            <a:ext cx="219075" cy="55245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E076496-1B25-4A8E-83EB-D481F9390FAB}"/>
              </a:ext>
            </a:extLst>
          </p:cNvPr>
          <p:cNvSpPr>
            <a:spLocks xmlns:a="http://schemas.openxmlformats.org/drawingml/2006/main" noGrp="1"/>
          </p:cNvSpPr>
          <p:nvPr/>
        </p:nvSpPr>
        <p:spPr>
          <a:xfrm xmlns:a="http://schemas.openxmlformats.org/drawingml/2006/main">
            <a:off x="7296150" y="4067175"/>
            <a:ext cx="219075" cy="866775"/>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201774-5C9A-4B3A-948A-C122AA3F8143}"/>
              </a:ext>
            </a:extLst>
          </p:cNvPr>
          <p:cNvSpPr>
            <a:spLocks xmlns:a="http://schemas.openxmlformats.org/drawingml/2006/main" noGrp="1"/>
          </p:cNvSpPr>
          <p:nvPr/>
        </p:nvSpPr>
        <p:spPr>
          <a:xfrm xmlns:a="http://schemas.openxmlformats.org/drawingml/2006/main">
            <a:off x="7753350" y="4467225"/>
            <a:ext cx="219075" cy="466725"/>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8E30870-8244-4A8E-A239-465F35325DB2}"/>
              </a:ext>
            </a:extLst>
          </p:cNvPr>
          <p:cNvSpPr>
            <a:spLocks xmlns:a="http://schemas.openxmlformats.org/drawingml/2006/main" noGrp="1"/>
          </p:cNvSpPr>
          <p:nvPr/>
        </p:nvSpPr>
        <p:spPr>
          <a:xfrm xmlns:a="http://schemas.openxmlformats.org/drawingml/2006/main">
            <a:off x="8210550" y="3829050"/>
            <a:ext cx="219075" cy="110490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EB1871A-05F7-4832-B91E-AA8377BA17CA}"/>
              </a:ext>
            </a:extLst>
          </p:cNvPr>
          <p:cNvSpPr>
            <a:spLocks xmlns:a="http://schemas.openxmlformats.org/drawingml/2006/main" noGrp="1"/>
          </p:cNvSpPr>
          <p:nvPr/>
        </p:nvSpPr>
        <p:spPr>
          <a:xfrm xmlns:a="http://schemas.openxmlformats.org/drawingml/2006/main">
            <a:off x="8667750" y="4267200"/>
            <a:ext cx="219075" cy="66675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1FA631-876E-4CA4-9B18-DDD1A747E276}"/>
              </a:ext>
            </a:extLst>
          </p:cNvPr>
          <p:cNvSpPr>
            <a:spLocks xmlns:a="http://schemas.openxmlformats.org/drawingml/2006/main" noGrp="1"/>
          </p:cNvSpPr>
          <p:nvPr/>
        </p:nvSpPr>
        <p:spPr>
          <a:xfrm xmlns:a="http://schemas.openxmlformats.org/drawingml/2006/main">
            <a:off x="9124950" y="3581400"/>
            <a:ext cx="219075" cy="1352550"/>
          </a:xfrm>
          <a:prstGeom xmlns:a="http://schemas.openxmlformats.org/drawingml/2006/main" prst="roundRect">
            <a:avLst>
              <a:gd name="adj" fmla="val 34783"/>
            </a:avLst>
          </a:prstGeom>
          <a:solidFill xmlns:a="http://schemas.openxmlformats.org/drawingml/2006/main">
            <a:srgbClr val="24C1D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07F187A-2C25-40AC-A931-8780EAE23EB5}"/>
              </a:ext>
            </a:extLst>
          </p:cNvPr>
          <p:cNvSpPr>
            <a:spLocks xmlns:a="http://schemas.openxmlformats.org/drawingml/2006/main" noGrp="1"/>
          </p:cNvSpPr>
          <p:nvPr/>
        </p:nvSpPr>
        <p:spPr>
          <a:xfrm xmlns:a="http://schemas.openxmlformats.org/drawingml/2006/main">
            <a:off x="9582150" y="4038600"/>
            <a:ext cx="219075" cy="89535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D07C9D1-2DB3-4613-9C88-AAEC9658028F}"/>
              </a:ext>
            </a:extLst>
          </p:cNvPr>
          <p:cNvSpPr>
            <a:spLocks xmlns:a="http://schemas.openxmlformats.org/drawingml/2006/main" noGrp="1"/>
          </p:cNvSpPr>
          <p:nvPr/>
        </p:nvSpPr>
        <p:spPr>
          <a:xfrm xmlns:a="http://schemas.openxmlformats.org/drawingml/2006/main">
            <a:off x="10039350" y="4400550"/>
            <a:ext cx="219075" cy="533400"/>
          </a:xfrm>
          <a:prstGeom xmlns:a="http://schemas.openxmlformats.org/drawingml/2006/main" prst="roundRect">
            <a:avLst>
              <a:gd name="adj" fmla="val 34783"/>
            </a:avLst>
          </a:prstGeom>
          <a:solidFill xmlns:a="http://schemas.openxmlformats.org/drawingml/2006/main">
            <a:srgbClr val="1363D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86C66D8-53D1-4D98-8621-973DA9E10447}"/>
              </a:ext>
            </a:extLst>
          </p:cNvPr>
          <p:cNvSpPr>
            <a:spLocks xmlns:a="http://schemas.openxmlformats.org/drawingml/2006/main" noGrp="1"/>
          </p:cNvSpPr>
          <p:nvPr/>
        </p:nvSpPr>
        <p:spPr>
          <a:xfrm xmlns:a="http://schemas.openxmlformats.org/drawingml/2006/main">
            <a:off x="6324600" y="52197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i="0">
                <a:solidFill>
                  <a:srgbClr val="C4D7E6"/>
                </a:solidFill>
                <a:latin typeface="Arial"/>
                <a:ea typeface="Arial"/>
                <a:cs typeface="Arial"/>
              </a:defRPr>
            </a:pPr>
            <a:r>
              <a:rPr sz="1200" b="0" i="0">
                <a:solidFill>
                  <a:srgbClr val="C4D7E6"/>
                </a:solidFill>
                <a:latin typeface="Arial"/>
                <a:ea typeface="Arial"/>
                <a:cs typeface="Arial"/>
              </a:rPr>
              <a:t>Useful for risk limits, position sizing and awareness of market stress</a:t>
            </a:r>
          </a:p>
        </p:txBody>
      </p:sp>
      <p:sp>
        <p:nvSpPr>
          <p:cNvPr id="27" name="">
            <a:extLst xmlns:a="http://schemas.openxmlformats.org/drawingml/2006/main">
              <a:ext uri="{FF2B5EF4-FFF2-40B4-BE49-F238E27FC236}">
                <a16:creationId xmlns:a16="http://schemas.microsoft.com/office/drawing/2014/main" id="{6B0920AB-D8BB-42B2-BC02-C89649E4D521}"/>
              </a:ext>
            </a:extLst>
          </p:cNvPr>
          <p:cNvSpPr>
            <a:spLocks xmlns:a="http://schemas.openxmlformats.org/drawingml/2006/main" noGrp="1"/>
          </p:cNvSpPr>
          <p:nvPr/>
        </p:nvSpPr>
        <p:spPr>
          <a:xfrm xmlns:a="http://schemas.openxmlformats.org/drawingml/2006/main">
            <a:off x="4000500" y="6076950"/>
            <a:ext cx="4191000" cy="323850"/>
          </a:xfrm>
          <a:prstGeom xmlns:a="http://schemas.openxmlformats.org/drawingml/2006/main" prst="roundRect">
            <a:avLst>
              <a:gd name="adj" fmla="val 23529"/>
            </a:avLst>
          </a:prstGeom>
          <a:solidFill xmlns:a="http://schemas.openxmlformats.org/drawingml/2006/main">
            <a:srgbClr val="EAF2FF"/>
          </a:solidFill>
          <a:ln xmlns:a="http://schemas.openxmlformats.org/drawingml/2006/main" w="0">
            <a:solidFill>
              <a:srgbClr val="EAF2FF"/>
            </a:solidFill>
          </a:ln>
        </p:spPr>
      </p:sp>
      <p:sp>
        <p:nvSpPr>
          <p:cNvPr id="28" name="">
            <a:extLst xmlns:a="http://schemas.openxmlformats.org/drawingml/2006/main">
              <a:ext uri="{FF2B5EF4-FFF2-40B4-BE49-F238E27FC236}">
                <a16:creationId xmlns:a16="http://schemas.microsoft.com/office/drawing/2014/main" id="{795FDE1F-72C8-4001-8557-D7C9DE80D0A3}"/>
              </a:ext>
            </a:extLst>
          </p:cNvPr>
          <p:cNvSpPr>
            <a:spLocks xmlns:a="http://schemas.openxmlformats.org/drawingml/2006/main" noGrp="1"/>
          </p:cNvSpPr>
          <p:nvPr/>
        </p:nvSpPr>
        <p:spPr>
          <a:xfrm xmlns:a="http://schemas.openxmlformats.org/drawingml/2006/main">
            <a:off x="4000500" y="60864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1363DF"/>
                </a:solidFill>
                <a:latin typeface="Arial"/>
                <a:ea typeface="Arial"/>
                <a:cs typeface="Arial"/>
              </a:defRPr>
            </a:pPr>
            <a:r>
              <a:rPr sz="1050" b="1" i="0">
                <a:solidFill>
                  <a:srgbClr val="1363DF"/>
                </a:solidFill>
                <a:latin typeface="Arial"/>
                <a:ea typeface="Arial"/>
                <a:cs typeface="Arial"/>
              </a:rPr>
              <a:t>ACADEMIC MODEL COMPARISON</a:t>
            </a:r>
          </a:p>
        </p:txBody>
      </p:sp>
    </p:spTree>
    <p:extLst>
      <p:ext uri="{BB962C8B-B14F-4D97-AF65-F5344CB8AC3E}">
        <p14:creationId xmlns:p14="http://schemas.microsoft.com/office/powerpoint/2010/main" val="2173691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3EC9B44E-DEEA-4789-9E14-9185C1544BF9}"/>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C2981085-22D3-45BC-B489-B26255933199}"/>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DATA &amp; TARGET</a:t>
            </a:r>
          </a:p>
        </p:txBody>
      </p:sp>
      <p:sp>
        <p:nvSpPr>
          <p:cNvPr id="3" name="">
            <a:extLst xmlns:a="http://schemas.openxmlformats.org/drawingml/2006/main">
              <a:ext uri="{FF2B5EF4-FFF2-40B4-BE49-F238E27FC236}">
                <a16:creationId xmlns:a16="http://schemas.microsoft.com/office/drawing/2014/main" id="{9335DF68-9762-47E8-8C9B-17763C1713F0}"/>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One unknown return updates a mostly known 30-day window</a:t>
            </a:r>
          </a:p>
        </p:txBody>
      </p:sp>
      <p:sp>
        <p:nvSpPr>
          <p:cNvPr id="4" name="">
            <a:extLst xmlns:a="http://schemas.openxmlformats.org/drawingml/2006/main">
              <a:ext uri="{FF2B5EF4-FFF2-40B4-BE49-F238E27FC236}">
                <a16:creationId xmlns:a16="http://schemas.microsoft.com/office/drawing/2014/main" id="{4B3F0960-1840-40C7-8D5B-0E0E500839EC}"/>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5" name="">
            <a:extLst xmlns:a="http://schemas.openxmlformats.org/drawingml/2006/main">
              <a:ext uri="{FF2B5EF4-FFF2-40B4-BE49-F238E27FC236}">
                <a16:creationId xmlns:a16="http://schemas.microsoft.com/office/drawing/2014/main" id="{6D0043B0-AC6F-4A52-A194-F87B7FE35985}"/>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6" name="">
            <a:extLst xmlns:a="http://schemas.openxmlformats.org/drawingml/2006/main">
              <a:ext uri="{FF2B5EF4-FFF2-40B4-BE49-F238E27FC236}">
                <a16:creationId xmlns:a16="http://schemas.microsoft.com/office/drawing/2014/main" id="{D7D65063-521F-4D3E-B8F4-8A95D84C2E71}"/>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03 / 10</a:t>
            </a:r>
          </a:p>
        </p:txBody>
      </p:sp>
      <p:sp>
        <p:nvSpPr>
          <p:cNvPr id="7" name="">
            <a:extLst xmlns:a="http://schemas.openxmlformats.org/drawingml/2006/main">
              <a:ext uri="{FF2B5EF4-FFF2-40B4-BE49-F238E27FC236}">
                <a16:creationId xmlns:a16="http://schemas.microsoft.com/office/drawing/2014/main" id="{251EAF40-AC1A-4555-B631-8B20D771CAFF}"/>
              </a:ext>
            </a:extLst>
          </p:cNvPr>
          <p:cNvSpPr>
            <a:spLocks xmlns:a="http://schemas.openxmlformats.org/drawingml/2006/main" noGrp="1"/>
          </p:cNvSpPr>
          <p:nvPr/>
        </p:nvSpPr>
        <p:spPr>
          <a:xfrm xmlns:a="http://schemas.openxmlformats.org/drawingml/2006/main">
            <a:off x="609600" y="1381125"/>
            <a:ext cx="2238375"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3EC"/>
            </a:solidFill>
          </a:ln>
        </p:spPr>
      </p:sp>
      <p:sp>
        <p:nvSpPr>
          <p:cNvPr id="8" name="">
            <a:extLst xmlns:a="http://schemas.openxmlformats.org/drawingml/2006/main">
              <a:ext uri="{FF2B5EF4-FFF2-40B4-BE49-F238E27FC236}">
                <a16:creationId xmlns:a16="http://schemas.microsoft.com/office/drawing/2014/main" id="{F1BA8554-E80F-4575-B9EA-97740738EEC5}"/>
              </a:ext>
            </a:extLst>
          </p:cNvPr>
          <p:cNvSpPr>
            <a:spLocks xmlns:a="http://schemas.openxmlformats.org/drawingml/2006/main" noGrp="1"/>
          </p:cNvSpPr>
          <p:nvPr/>
        </p:nvSpPr>
        <p:spPr>
          <a:xfrm xmlns:a="http://schemas.openxmlformats.org/drawingml/2006/main">
            <a:off x="609600" y="1381125"/>
            <a:ext cx="66675" cy="1295400"/>
          </a:xfrm>
          <a:prstGeom xmlns:a="http://schemas.openxmlformats.org/drawingml/2006/main" prst="roundRect">
            <a:avLst>
              <a:gd name="adj" fmla="val 50000"/>
            </a:avLst>
          </a:prstGeom>
          <a:solidFill xmlns:a="http://schemas.openxmlformats.org/drawingml/2006/main">
            <a:srgbClr val="1363DF"/>
          </a:solidFill>
          <a:ln xmlns:a="http://schemas.openxmlformats.org/drawingml/2006/main" w="0">
            <a:solidFill>
              <a:srgbClr val="1363DF"/>
            </a:solidFill>
          </a:ln>
        </p:spPr>
      </p:sp>
      <p:sp>
        <p:nvSpPr>
          <p:cNvPr id="9" name="">
            <a:extLst xmlns:a="http://schemas.openxmlformats.org/drawingml/2006/main">
              <a:ext uri="{FF2B5EF4-FFF2-40B4-BE49-F238E27FC236}">
                <a16:creationId xmlns:a16="http://schemas.microsoft.com/office/drawing/2014/main" id="{C57AE193-9458-4214-8E1B-D9DB873DFD57}"/>
              </a:ext>
            </a:extLst>
          </p:cNvPr>
          <p:cNvSpPr>
            <a:spLocks xmlns:a="http://schemas.openxmlformats.org/drawingml/2006/main" noGrp="1"/>
          </p:cNvSpPr>
          <p:nvPr/>
        </p:nvSpPr>
        <p:spPr>
          <a:xfrm xmlns:a="http://schemas.openxmlformats.org/drawingml/2006/main">
            <a:off x="819150" y="1552575"/>
            <a:ext cx="1876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1363DF"/>
                </a:solidFill>
                <a:latin typeface="Arial"/>
                <a:ea typeface="Arial"/>
                <a:cs typeface="Arial"/>
              </a:defRPr>
            </a:pPr>
            <a:r>
              <a:rPr sz="2175" b="1" i="0">
                <a:solidFill>
                  <a:srgbClr val="1363DF"/>
                </a:solidFill>
                <a:latin typeface="Arial"/>
                <a:ea typeface="Arial"/>
                <a:cs typeface="Arial"/>
              </a:rPr>
              <a:t>1,272</a:t>
            </a:r>
          </a:p>
        </p:txBody>
      </p:sp>
      <p:sp>
        <p:nvSpPr>
          <p:cNvPr id="10" name="">
            <a:extLst xmlns:a="http://schemas.openxmlformats.org/drawingml/2006/main">
              <a:ext uri="{FF2B5EF4-FFF2-40B4-BE49-F238E27FC236}">
                <a16:creationId xmlns:a16="http://schemas.microsoft.com/office/drawing/2014/main" id="{299C7B97-929A-48B7-A2A1-40E50C33C54F}"/>
              </a:ext>
            </a:extLst>
          </p:cNvPr>
          <p:cNvSpPr>
            <a:spLocks xmlns:a="http://schemas.openxmlformats.org/drawingml/2006/main" noGrp="1"/>
          </p:cNvSpPr>
          <p:nvPr/>
        </p:nvSpPr>
        <p:spPr>
          <a:xfrm xmlns:a="http://schemas.openxmlformats.org/drawingml/2006/main">
            <a:off x="819150" y="1981200"/>
            <a:ext cx="1876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rows returned</a:t>
            </a:r>
          </a:p>
        </p:txBody>
      </p:sp>
      <p:sp>
        <p:nvSpPr>
          <p:cNvPr id="11" name="">
            <a:extLst xmlns:a="http://schemas.openxmlformats.org/drawingml/2006/main">
              <a:ext uri="{FF2B5EF4-FFF2-40B4-BE49-F238E27FC236}">
                <a16:creationId xmlns:a16="http://schemas.microsoft.com/office/drawing/2014/main" id="{1C89276A-8A15-45C4-8A77-7679BD253650}"/>
              </a:ext>
            </a:extLst>
          </p:cNvPr>
          <p:cNvSpPr>
            <a:spLocks xmlns:a="http://schemas.openxmlformats.org/drawingml/2006/main" noGrp="1"/>
          </p:cNvSpPr>
          <p:nvPr/>
        </p:nvSpPr>
        <p:spPr>
          <a:xfrm xmlns:a="http://schemas.openxmlformats.org/drawingml/2006/main">
            <a:off x="819150" y="2257425"/>
            <a:ext cx="187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Hyperliquid BTC daily candles</a:t>
            </a:r>
          </a:p>
        </p:txBody>
      </p:sp>
      <p:sp>
        <p:nvSpPr>
          <p:cNvPr id="12" name="">
            <a:extLst xmlns:a="http://schemas.openxmlformats.org/drawingml/2006/main">
              <a:ext uri="{FF2B5EF4-FFF2-40B4-BE49-F238E27FC236}">
                <a16:creationId xmlns:a16="http://schemas.microsoft.com/office/drawing/2014/main" id="{42DDFDDD-7FDC-4DEA-8BD6-1C73DBF7550B}"/>
              </a:ext>
            </a:extLst>
          </p:cNvPr>
          <p:cNvSpPr>
            <a:spLocks xmlns:a="http://schemas.openxmlformats.org/drawingml/2006/main" noGrp="1"/>
          </p:cNvSpPr>
          <p:nvPr/>
        </p:nvSpPr>
        <p:spPr>
          <a:xfrm xmlns:a="http://schemas.openxmlformats.org/drawingml/2006/main">
            <a:off x="3019425" y="1381125"/>
            <a:ext cx="2238375"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3EC"/>
            </a:solidFill>
          </a:ln>
        </p:spPr>
      </p:sp>
      <p:sp>
        <p:nvSpPr>
          <p:cNvPr id="13" name="">
            <a:extLst xmlns:a="http://schemas.openxmlformats.org/drawingml/2006/main">
              <a:ext uri="{FF2B5EF4-FFF2-40B4-BE49-F238E27FC236}">
                <a16:creationId xmlns:a16="http://schemas.microsoft.com/office/drawing/2014/main" id="{3749AA01-F9C5-495D-9073-148436B9F9AD}"/>
              </a:ext>
            </a:extLst>
          </p:cNvPr>
          <p:cNvSpPr>
            <a:spLocks xmlns:a="http://schemas.openxmlformats.org/drawingml/2006/main" noGrp="1"/>
          </p:cNvSpPr>
          <p:nvPr/>
        </p:nvSpPr>
        <p:spPr>
          <a:xfrm xmlns:a="http://schemas.openxmlformats.org/drawingml/2006/main">
            <a:off x="3019425" y="1381125"/>
            <a:ext cx="66675" cy="129540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14" name="">
            <a:extLst xmlns:a="http://schemas.openxmlformats.org/drawingml/2006/main">
              <a:ext uri="{FF2B5EF4-FFF2-40B4-BE49-F238E27FC236}">
                <a16:creationId xmlns:a16="http://schemas.microsoft.com/office/drawing/2014/main" id="{8358EF4E-B6FB-4701-9C93-00679B631316}"/>
              </a:ext>
            </a:extLst>
          </p:cNvPr>
          <p:cNvSpPr>
            <a:spLocks xmlns:a="http://schemas.openxmlformats.org/drawingml/2006/main" noGrp="1"/>
          </p:cNvSpPr>
          <p:nvPr/>
        </p:nvSpPr>
        <p:spPr>
          <a:xfrm xmlns:a="http://schemas.openxmlformats.org/drawingml/2006/main">
            <a:off x="3228975" y="1552575"/>
            <a:ext cx="1876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E45756"/>
                </a:solidFill>
                <a:latin typeface="Arial"/>
                <a:ea typeface="Arial"/>
                <a:cs typeface="Arial"/>
              </a:defRPr>
            </a:pPr>
            <a:r>
              <a:rPr sz="2175" b="1" i="0">
                <a:solidFill>
                  <a:srgbClr val="E45756"/>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CE7261BB-F834-46B4-B150-0FAE38DCDEB1}"/>
              </a:ext>
            </a:extLst>
          </p:cNvPr>
          <p:cNvSpPr>
            <a:spLocks xmlns:a="http://schemas.openxmlformats.org/drawingml/2006/main" noGrp="1"/>
          </p:cNvSpPr>
          <p:nvPr/>
        </p:nvSpPr>
        <p:spPr>
          <a:xfrm xmlns:a="http://schemas.openxmlformats.org/drawingml/2006/main">
            <a:off x="3228975" y="1981200"/>
            <a:ext cx="1876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open candle</a:t>
            </a:r>
          </a:p>
        </p:txBody>
      </p:sp>
      <p:sp>
        <p:nvSpPr>
          <p:cNvPr id="16" name="">
            <a:extLst xmlns:a="http://schemas.openxmlformats.org/drawingml/2006/main">
              <a:ext uri="{FF2B5EF4-FFF2-40B4-BE49-F238E27FC236}">
                <a16:creationId xmlns:a16="http://schemas.microsoft.com/office/drawing/2014/main" id="{1973A95C-C9B2-407B-87AD-AB8CC9BC8C53}"/>
              </a:ext>
            </a:extLst>
          </p:cNvPr>
          <p:cNvSpPr>
            <a:spLocks xmlns:a="http://schemas.openxmlformats.org/drawingml/2006/main" noGrp="1"/>
          </p:cNvSpPr>
          <p:nvPr/>
        </p:nvSpPr>
        <p:spPr>
          <a:xfrm xmlns:a="http://schemas.openxmlformats.org/drawingml/2006/main">
            <a:off x="3228975" y="2257425"/>
            <a:ext cx="187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excluded before modelling</a:t>
            </a:r>
          </a:p>
        </p:txBody>
      </p:sp>
      <p:sp>
        <p:nvSpPr>
          <p:cNvPr id="17" name="">
            <a:extLst xmlns:a="http://schemas.openxmlformats.org/drawingml/2006/main">
              <a:ext uri="{FF2B5EF4-FFF2-40B4-BE49-F238E27FC236}">
                <a16:creationId xmlns:a16="http://schemas.microsoft.com/office/drawing/2014/main" id="{01191175-BC02-4F91-8810-C0931A2CB147}"/>
              </a:ext>
            </a:extLst>
          </p:cNvPr>
          <p:cNvSpPr>
            <a:spLocks xmlns:a="http://schemas.openxmlformats.org/drawingml/2006/main" noGrp="1"/>
          </p:cNvSpPr>
          <p:nvPr/>
        </p:nvSpPr>
        <p:spPr>
          <a:xfrm xmlns:a="http://schemas.openxmlformats.org/drawingml/2006/main">
            <a:off x="5429250" y="1381125"/>
            <a:ext cx="2238375"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3EC"/>
            </a:solidFill>
          </a:ln>
        </p:spPr>
      </p:sp>
      <p:sp>
        <p:nvSpPr>
          <p:cNvPr id="18" name="">
            <a:extLst xmlns:a="http://schemas.openxmlformats.org/drawingml/2006/main">
              <a:ext uri="{FF2B5EF4-FFF2-40B4-BE49-F238E27FC236}">
                <a16:creationId xmlns:a16="http://schemas.microsoft.com/office/drawing/2014/main" id="{C1070089-3EB3-43DE-881B-15779621C21D}"/>
              </a:ext>
            </a:extLst>
          </p:cNvPr>
          <p:cNvSpPr>
            <a:spLocks xmlns:a="http://schemas.openxmlformats.org/drawingml/2006/main" noGrp="1"/>
          </p:cNvSpPr>
          <p:nvPr/>
        </p:nvSpPr>
        <p:spPr>
          <a:xfrm xmlns:a="http://schemas.openxmlformats.org/drawingml/2006/main">
            <a:off x="5429250" y="1381125"/>
            <a:ext cx="66675" cy="129540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19" name="">
            <a:extLst xmlns:a="http://schemas.openxmlformats.org/drawingml/2006/main">
              <a:ext uri="{FF2B5EF4-FFF2-40B4-BE49-F238E27FC236}">
                <a16:creationId xmlns:a16="http://schemas.microsoft.com/office/drawing/2014/main" id="{687EDED8-85ED-4D9A-A7F9-6925AA79B83B}"/>
              </a:ext>
            </a:extLst>
          </p:cNvPr>
          <p:cNvSpPr>
            <a:spLocks xmlns:a="http://schemas.openxmlformats.org/drawingml/2006/main" noGrp="1"/>
          </p:cNvSpPr>
          <p:nvPr/>
        </p:nvSpPr>
        <p:spPr>
          <a:xfrm xmlns:a="http://schemas.openxmlformats.org/drawingml/2006/main">
            <a:off x="5638800" y="1552575"/>
            <a:ext cx="1876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159A70"/>
                </a:solidFill>
                <a:latin typeface="Arial"/>
                <a:ea typeface="Arial"/>
                <a:cs typeface="Arial"/>
              </a:defRPr>
            </a:pPr>
            <a:r>
              <a:rPr sz="2175" b="1" i="0">
                <a:solidFill>
                  <a:srgbClr val="159A70"/>
                </a:solidFill>
                <a:latin typeface="Arial"/>
                <a:ea typeface="Arial"/>
                <a:cs typeface="Arial"/>
              </a:rPr>
              <a:t>1,271</a:t>
            </a:r>
          </a:p>
        </p:txBody>
      </p:sp>
      <p:sp>
        <p:nvSpPr>
          <p:cNvPr id="20" name="">
            <a:extLst xmlns:a="http://schemas.openxmlformats.org/drawingml/2006/main">
              <a:ext uri="{FF2B5EF4-FFF2-40B4-BE49-F238E27FC236}">
                <a16:creationId xmlns:a16="http://schemas.microsoft.com/office/drawing/2014/main" id="{A50499FA-3E68-42A6-844F-63BCC6DBA536}"/>
              </a:ext>
            </a:extLst>
          </p:cNvPr>
          <p:cNvSpPr>
            <a:spLocks xmlns:a="http://schemas.openxmlformats.org/drawingml/2006/main" noGrp="1"/>
          </p:cNvSpPr>
          <p:nvPr/>
        </p:nvSpPr>
        <p:spPr>
          <a:xfrm xmlns:a="http://schemas.openxmlformats.org/drawingml/2006/main">
            <a:off x="5638800" y="1981200"/>
            <a:ext cx="1876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completed days</a:t>
            </a:r>
          </a:p>
        </p:txBody>
      </p:sp>
      <p:sp>
        <p:nvSpPr>
          <p:cNvPr id="21" name="">
            <a:extLst xmlns:a="http://schemas.openxmlformats.org/drawingml/2006/main">
              <a:ext uri="{FF2B5EF4-FFF2-40B4-BE49-F238E27FC236}">
                <a16:creationId xmlns:a16="http://schemas.microsoft.com/office/drawing/2014/main" id="{9A0916E4-BAFB-41FB-803D-07D3C0DC95B7}"/>
              </a:ext>
            </a:extLst>
          </p:cNvPr>
          <p:cNvSpPr>
            <a:spLocks xmlns:a="http://schemas.openxmlformats.org/drawingml/2006/main" noGrp="1"/>
          </p:cNvSpPr>
          <p:nvPr/>
        </p:nvSpPr>
        <p:spPr>
          <a:xfrm xmlns:a="http://schemas.openxmlformats.org/drawingml/2006/main">
            <a:off x="5638800" y="2257425"/>
            <a:ext cx="187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26 Feb 2023 → 19 Aug 2026</a:t>
            </a:r>
          </a:p>
        </p:txBody>
      </p:sp>
      <p:sp>
        <p:nvSpPr>
          <p:cNvPr id="22" name="">
            <a:extLst xmlns:a="http://schemas.openxmlformats.org/drawingml/2006/main">
              <a:ext uri="{FF2B5EF4-FFF2-40B4-BE49-F238E27FC236}">
                <a16:creationId xmlns:a16="http://schemas.microsoft.com/office/drawing/2014/main" id="{5816DEE5-DD7C-42CE-A41C-280CE6D8DEE4}"/>
              </a:ext>
            </a:extLst>
          </p:cNvPr>
          <p:cNvSpPr>
            <a:spLocks xmlns:a="http://schemas.openxmlformats.org/drawingml/2006/main" noGrp="1"/>
          </p:cNvSpPr>
          <p:nvPr/>
        </p:nvSpPr>
        <p:spPr>
          <a:xfrm xmlns:a="http://schemas.openxmlformats.org/drawingml/2006/main">
            <a:off x="7839075" y="1381125"/>
            <a:ext cx="3743325"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3EC"/>
            </a:solidFill>
          </a:ln>
        </p:spPr>
      </p:sp>
      <p:sp>
        <p:nvSpPr>
          <p:cNvPr id="23" name="">
            <a:extLst xmlns:a="http://schemas.openxmlformats.org/drawingml/2006/main">
              <a:ext uri="{FF2B5EF4-FFF2-40B4-BE49-F238E27FC236}">
                <a16:creationId xmlns:a16="http://schemas.microsoft.com/office/drawing/2014/main" id="{C1FF5BCC-2220-498A-B65B-E1ADF6DA6722}"/>
              </a:ext>
            </a:extLst>
          </p:cNvPr>
          <p:cNvSpPr>
            <a:spLocks xmlns:a="http://schemas.openxmlformats.org/drawingml/2006/main" noGrp="1"/>
          </p:cNvSpPr>
          <p:nvPr/>
        </p:nvSpPr>
        <p:spPr>
          <a:xfrm xmlns:a="http://schemas.openxmlformats.org/drawingml/2006/main">
            <a:off x="7839075" y="1381125"/>
            <a:ext cx="66675" cy="1295400"/>
          </a:xfrm>
          <a:prstGeom xmlns:a="http://schemas.openxmlformats.org/drawingml/2006/main" prst="roundRect">
            <a:avLst>
              <a:gd name="adj" fmla="val 50000"/>
            </a:avLst>
          </a:prstGeom>
          <a:solidFill xmlns:a="http://schemas.openxmlformats.org/drawingml/2006/main">
            <a:srgbClr val="24C1D6"/>
          </a:solidFill>
          <a:ln xmlns:a="http://schemas.openxmlformats.org/drawingml/2006/main" w="0">
            <a:solidFill>
              <a:srgbClr val="24C1D6"/>
            </a:solidFill>
          </a:ln>
        </p:spPr>
      </p:sp>
      <p:sp>
        <p:nvSpPr>
          <p:cNvPr id="24" name="">
            <a:extLst xmlns:a="http://schemas.openxmlformats.org/drawingml/2006/main">
              <a:ext uri="{FF2B5EF4-FFF2-40B4-BE49-F238E27FC236}">
                <a16:creationId xmlns:a16="http://schemas.microsoft.com/office/drawing/2014/main" id="{606C77FD-4916-4ED1-87D8-A5AC6BFC523D}"/>
              </a:ext>
            </a:extLst>
          </p:cNvPr>
          <p:cNvSpPr>
            <a:spLocks xmlns:a="http://schemas.openxmlformats.org/drawingml/2006/main" noGrp="1"/>
          </p:cNvSpPr>
          <p:nvPr/>
        </p:nvSpPr>
        <p:spPr>
          <a:xfrm xmlns:a="http://schemas.openxmlformats.org/drawingml/2006/main">
            <a:off x="8048625" y="155257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24C1D6"/>
                </a:solidFill>
                <a:latin typeface="Arial"/>
                <a:ea typeface="Arial"/>
                <a:cs typeface="Arial"/>
              </a:defRPr>
            </a:pPr>
            <a:r>
              <a:rPr sz="2175" b="1" i="0">
                <a:solidFill>
                  <a:srgbClr val="24C1D6"/>
                </a:solidFill>
                <a:latin typeface="Arial"/>
                <a:ea typeface="Arial"/>
                <a:cs typeface="Arial"/>
              </a:rPr>
              <a:t>1,226</a:t>
            </a:r>
          </a:p>
        </p:txBody>
      </p:sp>
      <p:sp>
        <p:nvSpPr>
          <p:cNvPr id="25" name="">
            <a:extLst xmlns:a="http://schemas.openxmlformats.org/drawingml/2006/main">
              <a:ext uri="{FF2B5EF4-FFF2-40B4-BE49-F238E27FC236}">
                <a16:creationId xmlns:a16="http://schemas.microsoft.com/office/drawing/2014/main" id="{AEF55D35-91B8-4D24-B3F9-14544B8BCEE7}"/>
              </a:ext>
            </a:extLst>
          </p:cNvPr>
          <p:cNvSpPr>
            <a:spLocks xmlns:a="http://schemas.openxmlformats.org/drawingml/2006/main" noGrp="1"/>
          </p:cNvSpPr>
          <p:nvPr/>
        </p:nvSpPr>
        <p:spPr>
          <a:xfrm xmlns:a="http://schemas.openxmlformats.org/drawingml/2006/main">
            <a:off x="8048625" y="1981200"/>
            <a:ext cx="338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forecast origins</a:t>
            </a:r>
          </a:p>
        </p:txBody>
      </p:sp>
      <p:sp>
        <p:nvSpPr>
          <p:cNvPr id="26" name="">
            <a:extLst xmlns:a="http://schemas.openxmlformats.org/drawingml/2006/main">
              <a:ext uri="{FF2B5EF4-FFF2-40B4-BE49-F238E27FC236}">
                <a16:creationId xmlns:a16="http://schemas.microsoft.com/office/drawing/2014/main" id="{6DCCEA2B-F94F-4BD3-855B-2E77182D90A8}"/>
              </a:ext>
            </a:extLst>
          </p:cNvPr>
          <p:cNvSpPr>
            <a:spLocks xmlns:a="http://schemas.openxmlformats.org/drawingml/2006/main" noGrp="1"/>
          </p:cNvSpPr>
          <p:nvPr/>
        </p:nvSpPr>
        <p:spPr>
          <a:xfrm xmlns:a="http://schemas.openxmlformats.org/drawingml/2006/main">
            <a:off x="8048625" y="225742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950 train · 276 frozen holdout</a:t>
            </a:r>
          </a:p>
        </p:txBody>
      </p:sp>
      <p:sp>
        <p:nvSpPr>
          <p:cNvPr id="27" name="">
            <a:extLst xmlns:a="http://schemas.openxmlformats.org/drawingml/2006/main">
              <a:ext uri="{FF2B5EF4-FFF2-40B4-BE49-F238E27FC236}">
                <a16:creationId xmlns:a16="http://schemas.microsoft.com/office/drawing/2014/main" id="{A4F32A96-6ACE-46F9-B183-AF561C905929}"/>
              </a:ext>
            </a:extLst>
          </p:cNvPr>
          <p:cNvSpPr>
            <a:spLocks xmlns:a="http://schemas.openxmlformats.org/drawingml/2006/main" noGrp="1"/>
          </p:cNvSpPr>
          <p:nvPr/>
        </p:nvSpPr>
        <p:spPr>
          <a:xfrm xmlns:a="http://schemas.openxmlformats.org/drawingml/2006/main">
            <a:off x="609600" y="3000375"/>
            <a:ext cx="10972800" cy="2981325"/>
          </a:xfrm>
          <a:prstGeom xmlns:a="http://schemas.openxmlformats.org/drawingml/2006/main" prst="roundRect">
            <a:avLst>
              <a:gd name="adj" fmla="val 2556"/>
            </a:avLst>
          </a:prstGeom>
          <a:solidFill xmlns:a="http://schemas.openxmlformats.org/drawingml/2006/main">
            <a:srgbClr val="F5F8FB"/>
          </a:solidFill>
          <a:ln xmlns:a="http://schemas.openxmlformats.org/drawingml/2006/main" w="9525">
            <a:solidFill>
              <a:srgbClr val="D8E3EC"/>
            </a:solidFill>
          </a:ln>
        </p:spPr>
      </p:sp>
      <p:sp>
        <p:nvSpPr>
          <p:cNvPr id="28" name="">
            <a:extLst xmlns:a="http://schemas.openxmlformats.org/drawingml/2006/main">
              <a:ext uri="{FF2B5EF4-FFF2-40B4-BE49-F238E27FC236}">
                <a16:creationId xmlns:a16="http://schemas.microsoft.com/office/drawing/2014/main" id="{92046170-831B-4C17-848F-0DD98CC9BFE9}"/>
              </a:ext>
            </a:extLst>
          </p:cNvPr>
          <p:cNvSpPr>
            <a:spLocks xmlns:a="http://schemas.openxmlformats.org/drawingml/2006/main" noGrp="1"/>
          </p:cNvSpPr>
          <p:nvPr/>
        </p:nvSpPr>
        <p:spPr>
          <a:xfrm xmlns:a="http://schemas.openxmlformats.org/drawingml/2006/main">
            <a:off x="838200" y="322897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1363DF"/>
                </a:solidFill>
                <a:latin typeface="Arial"/>
                <a:ea typeface="Arial"/>
                <a:cs typeface="Arial"/>
              </a:defRPr>
            </a:pPr>
            <a:r>
              <a:rPr sz="900" b="1" i="0">
                <a:solidFill>
                  <a:srgbClr val="1363DF"/>
                </a:solidFill>
                <a:latin typeface="Arial"/>
                <a:ea typeface="Arial"/>
                <a:cs typeface="Arial"/>
              </a:rPr>
              <a:t>TARGET CONSTRUCTION</a:t>
            </a:r>
          </a:p>
        </p:txBody>
      </p:sp>
      <p:sp>
        <p:nvSpPr>
          <p:cNvPr id="29" name="">
            <a:extLst xmlns:a="http://schemas.openxmlformats.org/drawingml/2006/main">
              <a:ext uri="{FF2B5EF4-FFF2-40B4-BE49-F238E27FC236}">
                <a16:creationId xmlns:a16="http://schemas.microsoft.com/office/drawing/2014/main" id="{FC4CF9F5-794E-4EB3-99DE-F7B1F0269042}"/>
              </a:ext>
            </a:extLst>
          </p:cNvPr>
          <p:cNvSpPr>
            <a:spLocks xmlns:a="http://schemas.openxmlformats.org/drawingml/2006/main" noGrp="1"/>
          </p:cNvSpPr>
          <p:nvPr/>
        </p:nvSpPr>
        <p:spPr>
          <a:xfrm xmlns:a="http://schemas.openxmlformats.org/drawingml/2006/main">
            <a:off x="838200" y="3571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i="0">
                <a:solidFill>
                  <a:srgbClr val="071C2C"/>
                </a:solidFill>
                <a:latin typeface="Arial"/>
                <a:ea typeface="Arial"/>
                <a:cs typeface="Arial"/>
              </a:defRPr>
            </a:pPr>
            <a:r>
              <a:rPr sz="1800" b="1" i="0">
                <a:solidFill>
                  <a:srgbClr val="071C2C"/>
                </a:solidFill>
                <a:latin typeface="Arial"/>
                <a:ea typeface="Arial"/>
                <a:cs typeface="Arial"/>
              </a:rPr>
              <a:t>r(t) = ln[P(t) / P(t−1)]</a:t>
            </a:r>
          </a:p>
        </p:txBody>
      </p:sp>
      <p:sp>
        <p:nvSpPr>
          <p:cNvPr id="30" name="">
            <a:extLst xmlns:a="http://schemas.openxmlformats.org/drawingml/2006/main">
              <a:ext uri="{FF2B5EF4-FFF2-40B4-BE49-F238E27FC236}">
                <a16:creationId xmlns:a16="http://schemas.microsoft.com/office/drawing/2014/main" id="{C797C419-510E-473E-BDCA-0263A18E08AB}"/>
              </a:ext>
            </a:extLst>
          </p:cNvPr>
          <p:cNvSpPr>
            <a:spLocks xmlns:a="http://schemas.openxmlformats.org/drawingml/2006/main" noGrp="1"/>
          </p:cNvSpPr>
          <p:nvPr/>
        </p:nvSpPr>
        <p:spPr>
          <a:xfrm xmlns:a="http://schemas.openxmlformats.org/drawingml/2006/main">
            <a:off x="838200" y="40195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i="0">
                <a:solidFill>
                  <a:srgbClr val="071C2C"/>
                </a:solidFill>
                <a:latin typeface="Arial"/>
                <a:ea typeface="Arial"/>
                <a:cs typeface="Arial"/>
              </a:defRPr>
            </a:pPr>
            <a:r>
              <a:rPr sz="1725" b="1" i="0">
                <a:solidFill>
                  <a:srgbClr val="071C2C"/>
                </a:solidFill>
                <a:latin typeface="Arial"/>
                <a:ea typeface="Arial"/>
                <a:cs typeface="Arial"/>
              </a:rPr>
              <a:t>target(t+1) = SD{r(t−28), …, r(t+1)}</a:t>
            </a:r>
          </a:p>
        </p:txBody>
      </p:sp>
      <p:sp>
        <p:nvSpPr>
          <p:cNvPr id="31" name="">
            <a:extLst xmlns:a="http://schemas.openxmlformats.org/drawingml/2006/main">
              <a:ext uri="{FF2B5EF4-FFF2-40B4-BE49-F238E27FC236}">
                <a16:creationId xmlns:a16="http://schemas.microsoft.com/office/drawing/2014/main" id="{D2C8ACE9-EEE8-467A-9E36-68AB51CD0968}"/>
              </a:ext>
            </a:extLst>
          </p:cNvPr>
          <p:cNvSpPr>
            <a:spLocks xmlns:a="http://schemas.openxmlformats.org/drawingml/2006/main" noGrp="1"/>
          </p:cNvSpPr>
          <p:nvPr/>
        </p:nvSpPr>
        <p:spPr>
          <a:xfrm xmlns:a="http://schemas.openxmlformats.org/drawingml/2006/main">
            <a:off x="838200" y="4591050"/>
            <a:ext cx="433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0" i="0">
                <a:solidFill>
                  <a:srgbClr val="5B6B7C"/>
                </a:solidFill>
                <a:latin typeface="Arial"/>
                <a:ea typeface="Arial"/>
                <a:cs typeface="Arial"/>
              </a:defRPr>
            </a:pPr>
            <a:r>
              <a:rPr sz="1275" b="0" i="0">
                <a:solidFill>
                  <a:srgbClr val="5B6B7C"/>
                </a:solidFill>
                <a:latin typeface="Arial"/>
                <a:ea typeface="Arial"/>
                <a:cs typeface="Arial"/>
              </a:rPr>
              <a:t>The forecast origin already knows 29 returns.</a:t>
            </a:r>
          </a:p>
        </p:txBody>
      </p:sp>
      <p:sp>
        <p:nvSpPr>
          <p:cNvPr id="32" name="">
            <a:extLst xmlns:a="http://schemas.openxmlformats.org/drawingml/2006/main">
              <a:ext uri="{FF2B5EF4-FFF2-40B4-BE49-F238E27FC236}">
                <a16:creationId xmlns:a16="http://schemas.microsoft.com/office/drawing/2014/main" id="{4FCA74E1-1181-42DB-A8DE-F46BB4E2644A}"/>
              </a:ext>
            </a:extLst>
          </p:cNvPr>
          <p:cNvSpPr>
            <a:spLocks xmlns:a="http://schemas.openxmlformats.org/drawingml/2006/main" noGrp="1"/>
          </p:cNvSpPr>
          <p:nvPr/>
        </p:nvSpPr>
        <p:spPr>
          <a:xfrm xmlns:a="http://schemas.openxmlformats.org/drawingml/2006/main">
            <a:off x="619125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3" name="">
            <a:extLst xmlns:a="http://schemas.openxmlformats.org/drawingml/2006/main">
              <a:ext uri="{FF2B5EF4-FFF2-40B4-BE49-F238E27FC236}">
                <a16:creationId xmlns:a16="http://schemas.microsoft.com/office/drawing/2014/main" id="{715EC55A-7A13-4652-975B-3B940B75D47E}"/>
              </a:ext>
            </a:extLst>
          </p:cNvPr>
          <p:cNvSpPr>
            <a:spLocks xmlns:a="http://schemas.openxmlformats.org/drawingml/2006/main" noGrp="1"/>
          </p:cNvSpPr>
          <p:nvPr/>
        </p:nvSpPr>
        <p:spPr>
          <a:xfrm xmlns:a="http://schemas.openxmlformats.org/drawingml/2006/main">
            <a:off x="652462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4" name="">
            <a:extLst xmlns:a="http://schemas.openxmlformats.org/drawingml/2006/main">
              <a:ext uri="{FF2B5EF4-FFF2-40B4-BE49-F238E27FC236}">
                <a16:creationId xmlns:a16="http://schemas.microsoft.com/office/drawing/2014/main" id="{80220651-B0CF-470C-BB1A-CBE47B7A8018}"/>
              </a:ext>
            </a:extLst>
          </p:cNvPr>
          <p:cNvSpPr>
            <a:spLocks xmlns:a="http://schemas.openxmlformats.org/drawingml/2006/main" noGrp="1"/>
          </p:cNvSpPr>
          <p:nvPr/>
        </p:nvSpPr>
        <p:spPr>
          <a:xfrm xmlns:a="http://schemas.openxmlformats.org/drawingml/2006/main">
            <a:off x="685800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5" name="">
            <a:extLst xmlns:a="http://schemas.openxmlformats.org/drawingml/2006/main">
              <a:ext uri="{FF2B5EF4-FFF2-40B4-BE49-F238E27FC236}">
                <a16:creationId xmlns:a16="http://schemas.microsoft.com/office/drawing/2014/main" id="{65C563F2-2999-4831-AC71-CF1D1444EB1F}"/>
              </a:ext>
            </a:extLst>
          </p:cNvPr>
          <p:cNvSpPr>
            <a:spLocks xmlns:a="http://schemas.openxmlformats.org/drawingml/2006/main" noGrp="1"/>
          </p:cNvSpPr>
          <p:nvPr/>
        </p:nvSpPr>
        <p:spPr>
          <a:xfrm xmlns:a="http://schemas.openxmlformats.org/drawingml/2006/main">
            <a:off x="719137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6" name="">
            <a:extLst xmlns:a="http://schemas.openxmlformats.org/drawingml/2006/main">
              <a:ext uri="{FF2B5EF4-FFF2-40B4-BE49-F238E27FC236}">
                <a16:creationId xmlns:a16="http://schemas.microsoft.com/office/drawing/2014/main" id="{29A4A9ED-4C9B-48F8-AC02-BDD2E3EF2EDD}"/>
              </a:ext>
            </a:extLst>
          </p:cNvPr>
          <p:cNvSpPr>
            <a:spLocks xmlns:a="http://schemas.openxmlformats.org/drawingml/2006/main" noGrp="1"/>
          </p:cNvSpPr>
          <p:nvPr/>
        </p:nvSpPr>
        <p:spPr>
          <a:xfrm xmlns:a="http://schemas.openxmlformats.org/drawingml/2006/main">
            <a:off x="752475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7" name="">
            <a:extLst xmlns:a="http://schemas.openxmlformats.org/drawingml/2006/main">
              <a:ext uri="{FF2B5EF4-FFF2-40B4-BE49-F238E27FC236}">
                <a16:creationId xmlns:a16="http://schemas.microsoft.com/office/drawing/2014/main" id="{0429E107-A45B-4973-A3D3-ABBFEB713CD2}"/>
              </a:ext>
            </a:extLst>
          </p:cNvPr>
          <p:cNvSpPr>
            <a:spLocks xmlns:a="http://schemas.openxmlformats.org/drawingml/2006/main" noGrp="1"/>
          </p:cNvSpPr>
          <p:nvPr/>
        </p:nvSpPr>
        <p:spPr>
          <a:xfrm xmlns:a="http://schemas.openxmlformats.org/drawingml/2006/main">
            <a:off x="785812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8" name="">
            <a:extLst xmlns:a="http://schemas.openxmlformats.org/drawingml/2006/main">
              <a:ext uri="{FF2B5EF4-FFF2-40B4-BE49-F238E27FC236}">
                <a16:creationId xmlns:a16="http://schemas.microsoft.com/office/drawing/2014/main" id="{0A719300-F114-445F-8249-F10F4B762509}"/>
              </a:ext>
            </a:extLst>
          </p:cNvPr>
          <p:cNvSpPr>
            <a:spLocks xmlns:a="http://schemas.openxmlformats.org/drawingml/2006/main" noGrp="1"/>
          </p:cNvSpPr>
          <p:nvPr/>
        </p:nvSpPr>
        <p:spPr>
          <a:xfrm xmlns:a="http://schemas.openxmlformats.org/drawingml/2006/main">
            <a:off x="819150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39" name="">
            <a:extLst xmlns:a="http://schemas.openxmlformats.org/drawingml/2006/main">
              <a:ext uri="{FF2B5EF4-FFF2-40B4-BE49-F238E27FC236}">
                <a16:creationId xmlns:a16="http://schemas.microsoft.com/office/drawing/2014/main" id="{67413818-DC4D-4B09-9094-8131E5F5129F}"/>
              </a:ext>
            </a:extLst>
          </p:cNvPr>
          <p:cNvSpPr>
            <a:spLocks xmlns:a="http://schemas.openxmlformats.org/drawingml/2006/main" noGrp="1"/>
          </p:cNvSpPr>
          <p:nvPr/>
        </p:nvSpPr>
        <p:spPr>
          <a:xfrm xmlns:a="http://schemas.openxmlformats.org/drawingml/2006/main">
            <a:off x="852487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0" name="">
            <a:extLst xmlns:a="http://schemas.openxmlformats.org/drawingml/2006/main">
              <a:ext uri="{FF2B5EF4-FFF2-40B4-BE49-F238E27FC236}">
                <a16:creationId xmlns:a16="http://schemas.microsoft.com/office/drawing/2014/main" id="{CA60C429-11AA-4A55-9CDE-3CE879C5CD44}"/>
              </a:ext>
            </a:extLst>
          </p:cNvPr>
          <p:cNvSpPr>
            <a:spLocks xmlns:a="http://schemas.openxmlformats.org/drawingml/2006/main" noGrp="1"/>
          </p:cNvSpPr>
          <p:nvPr/>
        </p:nvSpPr>
        <p:spPr>
          <a:xfrm xmlns:a="http://schemas.openxmlformats.org/drawingml/2006/main">
            <a:off x="885825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1" name="">
            <a:extLst xmlns:a="http://schemas.openxmlformats.org/drawingml/2006/main">
              <a:ext uri="{FF2B5EF4-FFF2-40B4-BE49-F238E27FC236}">
                <a16:creationId xmlns:a16="http://schemas.microsoft.com/office/drawing/2014/main" id="{10C073EB-0314-4493-A2EF-45C7EAC4AA08}"/>
              </a:ext>
            </a:extLst>
          </p:cNvPr>
          <p:cNvSpPr>
            <a:spLocks xmlns:a="http://schemas.openxmlformats.org/drawingml/2006/main" noGrp="1"/>
          </p:cNvSpPr>
          <p:nvPr/>
        </p:nvSpPr>
        <p:spPr>
          <a:xfrm xmlns:a="http://schemas.openxmlformats.org/drawingml/2006/main">
            <a:off x="919162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2" name="">
            <a:extLst xmlns:a="http://schemas.openxmlformats.org/drawingml/2006/main">
              <a:ext uri="{FF2B5EF4-FFF2-40B4-BE49-F238E27FC236}">
                <a16:creationId xmlns:a16="http://schemas.microsoft.com/office/drawing/2014/main" id="{BBD8CCDB-E6EA-4B75-B30F-608C0A798E52}"/>
              </a:ext>
            </a:extLst>
          </p:cNvPr>
          <p:cNvSpPr>
            <a:spLocks xmlns:a="http://schemas.openxmlformats.org/drawingml/2006/main" noGrp="1"/>
          </p:cNvSpPr>
          <p:nvPr/>
        </p:nvSpPr>
        <p:spPr>
          <a:xfrm xmlns:a="http://schemas.openxmlformats.org/drawingml/2006/main">
            <a:off x="952500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3" name="">
            <a:extLst xmlns:a="http://schemas.openxmlformats.org/drawingml/2006/main">
              <a:ext uri="{FF2B5EF4-FFF2-40B4-BE49-F238E27FC236}">
                <a16:creationId xmlns:a16="http://schemas.microsoft.com/office/drawing/2014/main" id="{F0BDBC67-A526-4188-8FF3-B190961B68E9}"/>
              </a:ext>
            </a:extLst>
          </p:cNvPr>
          <p:cNvSpPr>
            <a:spLocks xmlns:a="http://schemas.openxmlformats.org/drawingml/2006/main" noGrp="1"/>
          </p:cNvSpPr>
          <p:nvPr/>
        </p:nvSpPr>
        <p:spPr>
          <a:xfrm xmlns:a="http://schemas.openxmlformats.org/drawingml/2006/main">
            <a:off x="985837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4" name="">
            <a:extLst xmlns:a="http://schemas.openxmlformats.org/drawingml/2006/main">
              <a:ext uri="{FF2B5EF4-FFF2-40B4-BE49-F238E27FC236}">
                <a16:creationId xmlns:a16="http://schemas.microsoft.com/office/drawing/2014/main" id="{F0BF4304-96A7-4233-9522-D52613A40DF2}"/>
              </a:ext>
            </a:extLst>
          </p:cNvPr>
          <p:cNvSpPr>
            <a:spLocks xmlns:a="http://schemas.openxmlformats.org/drawingml/2006/main" noGrp="1"/>
          </p:cNvSpPr>
          <p:nvPr/>
        </p:nvSpPr>
        <p:spPr>
          <a:xfrm xmlns:a="http://schemas.openxmlformats.org/drawingml/2006/main">
            <a:off x="1019175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5" name="">
            <a:extLst xmlns:a="http://schemas.openxmlformats.org/drawingml/2006/main">
              <a:ext uri="{FF2B5EF4-FFF2-40B4-BE49-F238E27FC236}">
                <a16:creationId xmlns:a16="http://schemas.microsoft.com/office/drawing/2014/main" id="{5D827A84-D712-413C-98CE-0CFF56171D35}"/>
              </a:ext>
            </a:extLst>
          </p:cNvPr>
          <p:cNvSpPr>
            <a:spLocks xmlns:a="http://schemas.openxmlformats.org/drawingml/2006/main" noGrp="1"/>
          </p:cNvSpPr>
          <p:nvPr/>
        </p:nvSpPr>
        <p:spPr>
          <a:xfrm xmlns:a="http://schemas.openxmlformats.org/drawingml/2006/main">
            <a:off x="10525125"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6" name="">
            <a:extLst xmlns:a="http://schemas.openxmlformats.org/drawingml/2006/main">
              <a:ext uri="{FF2B5EF4-FFF2-40B4-BE49-F238E27FC236}">
                <a16:creationId xmlns:a16="http://schemas.microsoft.com/office/drawing/2014/main" id="{ABCC0279-19EC-475A-B988-CAA328EF26A1}"/>
              </a:ext>
            </a:extLst>
          </p:cNvPr>
          <p:cNvSpPr>
            <a:spLocks xmlns:a="http://schemas.openxmlformats.org/drawingml/2006/main" noGrp="1"/>
          </p:cNvSpPr>
          <p:nvPr/>
        </p:nvSpPr>
        <p:spPr>
          <a:xfrm xmlns:a="http://schemas.openxmlformats.org/drawingml/2006/main">
            <a:off x="10858500" y="3552825"/>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7" name="">
            <a:extLst xmlns:a="http://schemas.openxmlformats.org/drawingml/2006/main">
              <a:ext uri="{FF2B5EF4-FFF2-40B4-BE49-F238E27FC236}">
                <a16:creationId xmlns:a16="http://schemas.microsoft.com/office/drawing/2014/main" id="{1F330331-A3CD-4D5F-90AE-64AFE2F2E117}"/>
              </a:ext>
            </a:extLst>
          </p:cNvPr>
          <p:cNvSpPr>
            <a:spLocks xmlns:a="http://schemas.openxmlformats.org/drawingml/2006/main" noGrp="1"/>
          </p:cNvSpPr>
          <p:nvPr/>
        </p:nvSpPr>
        <p:spPr>
          <a:xfrm xmlns:a="http://schemas.openxmlformats.org/drawingml/2006/main">
            <a:off x="619125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8" name="">
            <a:extLst xmlns:a="http://schemas.openxmlformats.org/drawingml/2006/main">
              <a:ext uri="{FF2B5EF4-FFF2-40B4-BE49-F238E27FC236}">
                <a16:creationId xmlns:a16="http://schemas.microsoft.com/office/drawing/2014/main" id="{80DF2FF9-5D15-45BA-8B5C-5360C611C9E0}"/>
              </a:ext>
            </a:extLst>
          </p:cNvPr>
          <p:cNvSpPr>
            <a:spLocks xmlns:a="http://schemas.openxmlformats.org/drawingml/2006/main" noGrp="1"/>
          </p:cNvSpPr>
          <p:nvPr/>
        </p:nvSpPr>
        <p:spPr>
          <a:xfrm xmlns:a="http://schemas.openxmlformats.org/drawingml/2006/main">
            <a:off x="652462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49" name="">
            <a:extLst xmlns:a="http://schemas.openxmlformats.org/drawingml/2006/main">
              <a:ext uri="{FF2B5EF4-FFF2-40B4-BE49-F238E27FC236}">
                <a16:creationId xmlns:a16="http://schemas.microsoft.com/office/drawing/2014/main" id="{5EF1FDEB-D154-4A57-9134-A3F189E0A7C2}"/>
              </a:ext>
            </a:extLst>
          </p:cNvPr>
          <p:cNvSpPr>
            <a:spLocks xmlns:a="http://schemas.openxmlformats.org/drawingml/2006/main" noGrp="1"/>
          </p:cNvSpPr>
          <p:nvPr/>
        </p:nvSpPr>
        <p:spPr>
          <a:xfrm xmlns:a="http://schemas.openxmlformats.org/drawingml/2006/main">
            <a:off x="685800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0" name="">
            <a:extLst xmlns:a="http://schemas.openxmlformats.org/drawingml/2006/main">
              <a:ext uri="{FF2B5EF4-FFF2-40B4-BE49-F238E27FC236}">
                <a16:creationId xmlns:a16="http://schemas.microsoft.com/office/drawing/2014/main" id="{6ACD8C3F-7D87-478D-99D6-4B83E750CD34}"/>
              </a:ext>
            </a:extLst>
          </p:cNvPr>
          <p:cNvSpPr>
            <a:spLocks xmlns:a="http://schemas.openxmlformats.org/drawingml/2006/main" noGrp="1"/>
          </p:cNvSpPr>
          <p:nvPr/>
        </p:nvSpPr>
        <p:spPr>
          <a:xfrm xmlns:a="http://schemas.openxmlformats.org/drawingml/2006/main">
            <a:off x="719137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1" name="">
            <a:extLst xmlns:a="http://schemas.openxmlformats.org/drawingml/2006/main">
              <a:ext uri="{FF2B5EF4-FFF2-40B4-BE49-F238E27FC236}">
                <a16:creationId xmlns:a16="http://schemas.microsoft.com/office/drawing/2014/main" id="{F221B7FF-41C6-4FD6-AD88-78366865879D}"/>
              </a:ext>
            </a:extLst>
          </p:cNvPr>
          <p:cNvSpPr>
            <a:spLocks xmlns:a="http://schemas.openxmlformats.org/drawingml/2006/main" noGrp="1"/>
          </p:cNvSpPr>
          <p:nvPr/>
        </p:nvSpPr>
        <p:spPr>
          <a:xfrm xmlns:a="http://schemas.openxmlformats.org/drawingml/2006/main">
            <a:off x="752475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2" name="">
            <a:extLst xmlns:a="http://schemas.openxmlformats.org/drawingml/2006/main">
              <a:ext uri="{FF2B5EF4-FFF2-40B4-BE49-F238E27FC236}">
                <a16:creationId xmlns:a16="http://schemas.microsoft.com/office/drawing/2014/main" id="{92EE247D-11C2-4593-B241-3C3CCE21F204}"/>
              </a:ext>
            </a:extLst>
          </p:cNvPr>
          <p:cNvSpPr>
            <a:spLocks xmlns:a="http://schemas.openxmlformats.org/drawingml/2006/main" noGrp="1"/>
          </p:cNvSpPr>
          <p:nvPr/>
        </p:nvSpPr>
        <p:spPr>
          <a:xfrm xmlns:a="http://schemas.openxmlformats.org/drawingml/2006/main">
            <a:off x="785812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3" name="">
            <a:extLst xmlns:a="http://schemas.openxmlformats.org/drawingml/2006/main">
              <a:ext uri="{FF2B5EF4-FFF2-40B4-BE49-F238E27FC236}">
                <a16:creationId xmlns:a16="http://schemas.microsoft.com/office/drawing/2014/main" id="{9AC422BF-B4A8-4BEA-B79F-B90ED734A1B5}"/>
              </a:ext>
            </a:extLst>
          </p:cNvPr>
          <p:cNvSpPr>
            <a:spLocks xmlns:a="http://schemas.openxmlformats.org/drawingml/2006/main" noGrp="1"/>
          </p:cNvSpPr>
          <p:nvPr/>
        </p:nvSpPr>
        <p:spPr>
          <a:xfrm xmlns:a="http://schemas.openxmlformats.org/drawingml/2006/main">
            <a:off x="819150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4" name="">
            <a:extLst xmlns:a="http://schemas.openxmlformats.org/drawingml/2006/main">
              <a:ext uri="{FF2B5EF4-FFF2-40B4-BE49-F238E27FC236}">
                <a16:creationId xmlns:a16="http://schemas.microsoft.com/office/drawing/2014/main" id="{347E986B-4F89-4595-9A83-8EBDDBB9879F}"/>
              </a:ext>
            </a:extLst>
          </p:cNvPr>
          <p:cNvSpPr>
            <a:spLocks xmlns:a="http://schemas.openxmlformats.org/drawingml/2006/main" noGrp="1"/>
          </p:cNvSpPr>
          <p:nvPr/>
        </p:nvSpPr>
        <p:spPr>
          <a:xfrm xmlns:a="http://schemas.openxmlformats.org/drawingml/2006/main">
            <a:off x="852487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5" name="">
            <a:extLst xmlns:a="http://schemas.openxmlformats.org/drawingml/2006/main">
              <a:ext uri="{FF2B5EF4-FFF2-40B4-BE49-F238E27FC236}">
                <a16:creationId xmlns:a16="http://schemas.microsoft.com/office/drawing/2014/main" id="{C58BE37B-4D85-4031-866E-4EF02679FF94}"/>
              </a:ext>
            </a:extLst>
          </p:cNvPr>
          <p:cNvSpPr>
            <a:spLocks xmlns:a="http://schemas.openxmlformats.org/drawingml/2006/main" noGrp="1"/>
          </p:cNvSpPr>
          <p:nvPr/>
        </p:nvSpPr>
        <p:spPr>
          <a:xfrm xmlns:a="http://schemas.openxmlformats.org/drawingml/2006/main">
            <a:off x="885825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6" name="">
            <a:extLst xmlns:a="http://schemas.openxmlformats.org/drawingml/2006/main">
              <a:ext uri="{FF2B5EF4-FFF2-40B4-BE49-F238E27FC236}">
                <a16:creationId xmlns:a16="http://schemas.microsoft.com/office/drawing/2014/main" id="{82BAD393-B14C-4F60-BC69-A7664707B2F7}"/>
              </a:ext>
            </a:extLst>
          </p:cNvPr>
          <p:cNvSpPr>
            <a:spLocks xmlns:a="http://schemas.openxmlformats.org/drawingml/2006/main" noGrp="1"/>
          </p:cNvSpPr>
          <p:nvPr/>
        </p:nvSpPr>
        <p:spPr>
          <a:xfrm xmlns:a="http://schemas.openxmlformats.org/drawingml/2006/main">
            <a:off x="919162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7" name="">
            <a:extLst xmlns:a="http://schemas.openxmlformats.org/drawingml/2006/main">
              <a:ext uri="{FF2B5EF4-FFF2-40B4-BE49-F238E27FC236}">
                <a16:creationId xmlns:a16="http://schemas.microsoft.com/office/drawing/2014/main" id="{99023B33-F7B4-487F-9C3E-1217D81875A4}"/>
              </a:ext>
            </a:extLst>
          </p:cNvPr>
          <p:cNvSpPr>
            <a:spLocks xmlns:a="http://schemas.openxmlformats.org/drawingml/2006/main" noGrp="1"/>
          </p:cNvSpPr>
          <p:nvPr/>
        </p:nvSpPr>
        <p:spPr>
          <a:xfrm xmlns:a="http://schemas.openxmlformats.org/drawingml/2006/main">
            <a:off x="952500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8" name="">
            <a:extLst xmlns:a="http://schemas.openxmlformats.org/drawingml/2006/main">
              <a:ext uri="{FF2B5EF4-FFF2-40B4-BE49-F238E27FC236}">
                <a16:creationId xmlns:a16="http://schemas.microsoft.com/office/drawing/2014/main" id="{5C8B1C68-92CF-43EB-8E2A-75858149E969}"/>
              </a:ext>
            </a:extLst>
          </p:cNvPr>
          <p:cNvSpPr>
            <a:spLocks xmlns:a="http://schemas.openxmlformats.org/drawingml/2006/main" noGrp="1"/>
          </p:cNvSpPr>
          <p:nvPr/>
        </p:nvSpPr>
        <p:spPr>
          <a:xfrm xmlns:a="http://schemas.openxmlformats.org/drawingml/2006/main">
            <a:off x="985837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59" name="">
            <a:extLst xmlns:a="http://schemas.openxmlformats.org/drawingml/2006/main">
              <a:ext uri="{FF2B5EF4-FFF2-40B4-BE49-F238E27FC236}">
                <a16:creationId xmlns:a16="http://schemas.microsoft.com/office/drawing/2014/main" id="{87DEA46B-31AC-4FB3-8AF8-034F34EF8410}"/>
              </a:ext>
            </a:extLst>
          </p:cNvPr>
          <p:cNvSpPr>
            <a:spLocks xmlns:a="http://schemas.openxmlformats.org/drawingml/2006/main" noGrp="1"/>
          </p:cNvSpPr>
          <p:nvPr/>
        </p:nvSpPr>
        <p:spPr>
          <a:xfrm xmlns:a="http://schemas.openxmlformats.org/drawingml/2006/main">
            <a:off x="10191750"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60" name="">
            <a:extLst xmlns:a="http://schemas.openxmlformats.org/drawingml/2006/main">
              <a:ext uri="{FF2B5EF4-FFF2-40B4-BE49-F238E27FC236}">
                <a16:creationId xmlns:a16="http://schemas.microsoft.com/office/drawing/2014/main" id="{F4102C83-DCF3-4181-BA87-A82458BF1E5C}"/>
              </a:ext>
            </a:extLst>
          </p:cNvPr>
          <p:cNvSpPr>
            <a:spLocks xmlns:a="http://schemas.openxmlformats.org/drawingml/2006/main" noGrp="1"/>
          </p:cNvSpPr>
          <p:nvPr/>
        </p:nvSpPr>
        <p:spPr>
          <a:xfrm xmlns:a="http://schemas.openxmlformats.org/drawingml/2006/main">
            <a:off x="10525125" y="4076700"/>
            <a:ext cx="247650" cy="361950"/>
          </a:xfrm>
          <a:prstGeom xmlns:a="http://schemas.openxmlformats.org/drawingml/2006/main" prst="roundRect">
            <a:avLst>
              <a:gd name="adj" fmla="val 30769"/>
            </a:avLst>
          </a:prstGeom>
          <a:solidFill xmlns:a="http://schemas.openxmlformats.org/drawingml/2006/main">
            <a:srgbClr val="1363DF"/>
          </a:solidFill>
          <a:ln xmlns:a="http://schemas.openxmlformats.org/drawingml/2006/main" w="0">
            <a:solidFill>
              <a:srgbClr val="1363DF"/>
            </a:solidFill>
          </a:ln>
        </p:spPr>
      </p:sp>
      <p:sp>
        <p:nvSpPr>
          <p:cNvPr id="61" name="">
            <a:extLst xmlns:a="http://schemas.openxmlformats.org/drawingml/2006/main">
              <a:ext uri="{FF2B5EF4-FFF2-40B4-BE49-F238E27FC236}">
                <a16:creationId xmlns:a16="http://schemas.microsoft.com/office/drawing/2014/main" id="{87F09F45-F1A5-49FA-9045-630AD8D05FC7}"/>
              </a:ext>
            </a:extLst>
          </p:cNvPr>
          <p:cNvSpPr>
            <a:spLocks xmlns:a="http://schemas.openxmlformats.org/drawingml/2006/main" noGrp="1"/>
          </p:cNvSpPr>
          <p:nvPr/>
        </p:nvSpPr>
        <p:spPr>
          <a:xfrm xmlns:a="http://schemas.openxmlformats.org/drawingml/2006/main">
            <a:off x="10858500" y="4076700"/>
            <a:ext cx="247650" cy="361950"/>
          </a:xfrm>
          <a:prstGeom xmlns:a="http://schemas.openxmlformats.org/drawingml/2006/main" prst="roundRect">
            <a:avLst>
              <a:gd name="adj" fmla="val 30769"/>
            </a:avLst>
          </a:prstGeom>
          <a:solidFill xmlns:a="http://schemas.openxmlformats.org/drawingml/2006/main">
            <a:srgbClr val="24C1D6"/>
          </a:solidFill>
          <a:ln xmlns:a="http://schemas.openxmlformats.org/drawingml/2006/main" w="0">
            <a:solidFill>
              <a:srgbClr val="24C1D6"/>
            </a:solidFill>
          </a:ln>
        </p:spPr>
      </p:sp>
      <p:sp>
        <p:nvSpPr>
          <p:cNvPr id="62" name="">
            <a:extLst xmlns:a="http://schemas.openxmlformats.org/drawingml/2006/main">
              <a:ext uri="{FF2B5EF4-FFF2-40B4-BE49-F238E27FC236}">
                <a16:creationId xmlns:a16="http://schemas.microsoft.com/office/drawing/2014/main" id="{0B35BA35-A1FD-4D87-B365-93989A8D20A1}"/>
              </a:ext>
            </a:extLst>
          </p:cNvPr>
          <p:cNvSpPr>
            <a:spLocks xmlns:a="http://schemas.openxmlformats.org/drawingml/2006/main" noGrp="1"/>
          </p:cNvSpPr>
          <p:nvPr/>
        </p:nvSpPr>
        <p:spPr>
          <a:xfrm xmlns:a="http://schemas.openxmlformats.org/drawingml/2006/main">
            <a:off x="6200775" y="4724400"/>
            <a:ext cx="2905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1363DF"/>
                </a:solidFill>
                <a:latin typeface="Arial"/>
                <a:ea typeface="Arial"/>
                <a:cs typeface="Arial"/>
              </a:defRPr>
            </a:pPr>
            <a:r>
              <a:rPr sz="1125" b="1" i="0">
                <a:solidFill>
                  <a:srgbClr val="1363DF"/>
                </a:solidFill>
                <a:latin typeface="Arial"/>
                <a:ea typeface="Arial"/>
                <a:cs typeface="Arial"/>
              </a:rPr>
              <a:t>29 known returns</a:t>
            </a:r>
          </a:p>
        </p:txBody>
      </p:sp>
      <p:sp>
        <p:nvSpPr>
          <p:cNvPr id="63" name="">
            <a:extLst xmlns:a="http://schemas.openxmlformats.org/drawingml/2006/main">
              <a:ext uri="{FF2B5EF4-FFF2-40B4-BE49-F238E27FC236}">
                <a16:creationId xmlns:a16="http://schemas.microsoft.com/office/drawing/2014/main" id="{0A7C80DC-72A7-48A6-8851-0A0D217260E8}"/>
              </a:ext>
            </a:extLst>
          </p:cNvPr>
          <p:cNvSpPr>
            <a:spLocks xmlns:a="http://schemas.openxmlformats.org/drawingml/2006/main" noGrp="1"/>
          </p:cNvSpPr>
          <p:nvPr/>
        </p:nvSpPr>
        <p:spPr>
          <a:xfrm xmlns:a="http://schemas.openxmlformats.org/drawingml/2006/main">
            <a:off x="9134475" y="47244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125" b="1" i="0">
                <a:solidFill>
                  <a:srgbClr val="0A8F9C"/>
                </a:solidFill>
                <a:latin typeface="Arial"/>
                <a:ea typeface="Arial"/>
                <a:cs typeface="Arial"/>
              </a:defRPr>
            </a:pPr>
            <a:r>
              <a:rPr sz="1125" b="1" i="0">
                <a:solidFill>
                  <a:srgbClr val="0A8F9C"/>
                </a:solidFill>
                <a:latin typeface="Arial"/>
                <a:ea typeface="Arial"/>
                <a:cs typeface="Arial"/>
              </a:rPr>
              <a:t>+ 1 entering return</a:t>
            </a:r>
          </a:p>
        </p:txBody>
      </p:sp>
      <p:sp>
        <p:nvSpPr>
          <p:cNvPr id="64" name="">
            <a:extLst xmlns:a="http://schemas.openxmlformats.org/drawingml/2006/main">
              <a:ext uri="{FF2B5EF4-FFF2-40B4-BE49-F238E27FC236}">
                <a16:creationId xmlns:a16="http://schemas.microsoft.com/office/drawing/2014/main" id="{849DFD2D-DDAD-4C61-B701-DD08EC2523E7}"/>
              </a:ext>
            </a:extLst>
          </p:cNvPr>
          <p:cNvSpPr>
            <a:spLocks xmlns:a="http://schemas.openxmlformats.org/drawingml/2006/main" noGrp="1"/>
          </p:cNvSpPr>
          <p:nvPr/>
        </p:nvSpPr>
        <p:spPr>
          <a:xfrm xmlns:a="http://schemas.openxmlformats.org/drawingml/2006/main">
            <a:off x="6191250" y="5219700"/>
            <a:ext cx="4953000" cy="323850"/>
          </a:xfrm>
          <a:prstGeom xmlns:a="http://schemas.openxmlformats.org/drawingml/2006/main" prst="roundRect">
            <a:avLst>
              <a:gd name="adj" fmla="val 23529"/>
            </a:avLst>
          </a:prstGeom>
          <a:solidFill xmlns:a="http://schemas.openxmlformats.org/drawingml/2006/main">
            <a:srgbClr val="E8FAFC"/>
          </a:solidFill>
          <a:ln xmlns:a="http://schemas.openxmlformats.org/drawingml/2006/main" w="0">
            <a:solidFill>
              <a:srgbClr val="E8FAFC"/>
            </a:solidFill>
          </a:ln>
        </p:spPr>
      </p:sp>
      <p:sp>
        <p:nvSpPr>
          <p:cNvPr id="65" name="">
            <a:extLst xmlns:a="http://schemas.openxmlformats.org/drawingml/2006/main">
              <a:ext uri="{FF2B5EF4-FFF2-40B4-BE49-F238E27FC236}">
                <a16:creationId xmlns:a16="http://schemas.microsoft.com/office/drawing/2014/main" id="{8C5D8F5F-CF59-42CC-AC88-5CB847F513B0}"/>
              </a:ext>
            </a:extLst>
          </p:cNvPr>
          <p:cNvSpPr>
            <a:spLocks xmlns:a="http://schemas.openxmlformats.org/drawingml/2006/main" noGrp="1"/>
          </p:cNvSpPr>
          <p:nvPr/>
        </p:nvSpPr>
        <p:spPr>
          <a:xfrm xmlns:a="http://schemas.openxmlformats.org/drawingml/2006/main">
            <a:off x="6191250" y="52292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A8F9C"/>
                </a:solidFill>
                <a:latin typeface="Arial"/>
                <a:ea typeface="Arial"/>
                <a:cs typeface="Arial"/>
              </a:defRPr>
            </a:pPr>
            <a:r>
              <a:rPr sz="1050" b="1" i="0">
                <a:solidFill>
                  <a:srgbClr val="0A8F9C"/>
                </a:solidFill>
                <a:latin typeface="Arial"/>
                <a:ea typeface="Arial"/>
                <a:cs typeface="Arial"/>
              </a:rPr>
              <a:t>UPDATE FORECAST — NOT A NEW 30-DAY HORIZON</a:t>
            </a:r>
          </a:p>
        </p:txBody>
      </p:sp>
      <p:sp>
        <p:nvSpPr>
          <p:cNvPr id="66" name="">
            <a:extLst xmlns:a="http://schemas.openxmlformats.org/drawingml/2006/main">
              <a:ext uri="{FF2B5EF4-FFF2-40B4-BE49-F238E27FC236}">
                <a16:creationId xmlns:a16="http://schemas.microsoft.com/office/drawing/2014/main" id="{AB3ACBEA-DE9C-4F29-9A97-E64DA99EFF61}"/>
              </a:ext>
            </a:extLst>
          </p:cNvPr>
          <p:cNvSpPr>
            <a:spLocks xmlns:a="http://schemas.openxmlformats.org/drawingml/2006/main" noGrp="1"/>
          </p:cNvSpPr>
          <p:nvPr/>
        </p:nvSpPr>
        <p:spPr>
          <a:xfrm xmlns:a="http://schemas.openxmlformats.org/drawingml/2006/main">
            <a:off x="838200" y="5676900"/>
            <a:ext cx="6381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Source: saved Hyperliquid quality report and model_run_metadata.json</a:t>
            </a:r>
          </a:p>
        </p:txBody>
      </p:sp>
    </p:spTree>
    <p:extLst>
      <p:ext uri="{BB962C8B-B14F-4D97-AF65-F5344CB8AC3E}">
        <p14:creationId xmlns:p14="http://schemas.microsoft.com/office/powerpoint/2010/main" val="2564028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30B71A4-D6CE-4728-82BF-C649A0B1A73A}"/>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2653D97A-0710-464B-9682-3BEFDADF8DE2}"/>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EVALUATION DESIGN</a:t>
            </a:r>
          </a:p>
        </p:txBody>
      </p:sp>
      <p:sp>
        <p:nvSpPr>
          <p:cNvPr id="3" name="">
            <a:extLst xmlns:a="http://schemas.openxmlformats.org/drawingml/2006/main">
              <a:ext uri="{FF2B5EF4-FFF2-40B4-BE49-F238E27FC236}">
                <a16:creationId xmlns:a16="http://schemas.microsoft.com/office/drawing/2014/main" id="{5BA674F2-3667-4B25-ABDF-B7D45B1D4E0B}"/>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A frozen chronological split protects the holdout</a:t>
            </a:r>
          </a:p>
        </p:txBody>
      </p:sp>
      <p:sp>
        <p:nvSpPr>
          <p:cNvPr id="4" name="">
            <a:extLst xmlns:a="http://schemas.openxmlformats.org/drawingml/2006/main">
              <a:ext uri="{FF2B5EF4-FFF2-40B4-BE49-F238E27FC236}">
                <a16:creationId xmlns:a16="http://schemas.microsoft.com/office/drawing/2014/main" id="{29AF878D-200F-41FB-8EC5-881EC5767466}"/>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5" name="">
            <a:extLst xmlns:a="http://schemas.openxmlformats.org/drawingml/2006/main">
              <a:ext uri="{FF2B5EF4-FFF2-40B4-BE49-F238E27FC236}">
                <a16:creationId xmlns:a16="http://schemas.microsoft.com/office/drawing/2014/main" id="{6A5042B5-7061-44B5-880B-DFA34D934249}"/>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6" name="">
            <a:extLst xmlns:a="http://schemas.openxmlformats.org/drawingml/2006/main">
              <a:ext uri="{FF2B5EF4-FFF2-40B4-BE49-F238E27FC236}">
                <a16:creationId xmlns:a16="http://schemas.microsoft.com/office/drawing/2014/main" id="{4481F369-ADAB-4D4A-AAD1-80F1027E9A74}"/>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04 / 10</a:t>
            </a:r>
          </a:p>
        </p:txBody>
      </p:sp>
      <p:sp>
        <p:nvSpPr>
          <p:cNvPr id="7" name="">
            <a:extLst xmlns:a="http://schemas.openxmlformats.org/drawingml/2006/main">
              <a:ext uri="{FF2B5EF4-FFF2-40B4-BE49-F238E27FC236}">
                <a16:creationId xmlns:a16="http://schemas.microsoft.com/office/drawing/2014/main" id="{D9D72ED8-8799-4E35-90E4-0545A7DE86EE}"/>
              </a:ext>
            </a:extLst>
          </p:cNvPr>
          <p:cNvSpPr>
            <a:spLocks xmlns:a="http://schemas.openxmlformats.org/drawingml/2006/main" noGrp="1"/>
          </p:cNvSpPr>
          <p:nvPr/>
        </p:nvSpPr>
        <p:spPr>
          <a:xfrm xmlns:a="http://schemas.openxmlformats.org/drawingml/2006/main">
            <a:off x="609600" y="13620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25" b="1" i="0">
                <a:solidFill>
                  <a:srgbClr val="E45756"/>
                </a:solidFill>
                <a:latin typeface="Arial"/>
                <a:ea typeface="Arial"/>
                <a:cs typeface="Arial"/>
              </a:defRPr>
            </a:pPr>
            <a:r>
              <a:rPr sz="1425" b="1" i="0">
                <a:solidFill>
                  <a:srgbClr val="E45756"/>
                </a:solidFill>
                <a:latin typeface="Arial"/>
                <a:ea typeface="Arial"/>
                <a:cs typeface="Arial"/>
              </a:rPr>
              <a:t>No shuffle</a:t>
            </a:r>
          </a:p>
        </p:txBody>
      </p:sp>
      <p:sp>
        <p:nvSpPr>
          <p:cNvPr id="8" name="">
            <a:extLst xmlns:a="http://schemas.openxmlformats.org/drawingml/2006/main">
              <a:ext uri="{FF2B5EF4-FFF2-40B4-BE49-F238E27FC236}">
                <a16:creationId xmlns:a16="http://schemas.microsoft.com/office/drawing/2014/main" id="{3A52E019-9557-4294-8E22-99AD50759D59}"/>
              </a:ext>
            </a:extLst>
          </p:cNvPr>
          <p:cNvSpPr>
            <a:spLocks xmlns:a="http://schemas.openxmlformats.org/drawingml/2006/main" noGrp="1"/>
          </p:cNvSpPr>
          <p:nvPr/>
        </p:nvSpPr>
        <p:spPr>
          <a:xfrm xmlns:a="http://schemas.openxmlformats.org/drawingml/2006/main">
            <a:off x="4495800" y="1362075"/>
            <a:ext cx="266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25" b="1" i="0">
                <a:solidFill>
                  <a:srgbClr val="E45756"/>
                </a:solidFill>
                <a:latin typeface="Arial"/>
                <a:ea typeface="Arial"/>
                <a:cs typeface="Arial"/>
              </a:defRPr>
            </a:pPr>
            <a:r>
              <a:rPr sz="1425" b="1" i="0">
                <a:solidFill>
                  <a:srgbClr val="E45756"/>
                </a:solidFill>
                <a:latin typeface="Arial"/>
                <a:ea typeface="Arial"/>
                <a:cs typeface="Arial"/>
              </a:rPr>
              <a:t>No test-set tuning</a:t>
            </a:r>
          </a:p>
        </p:txBody>
      </p:sp>
      <p:sp>
        <p:nvSpPr>
          <p:cNvPr id="9" name="">
            <a:extLst xmlns:a="http://schemas.openxmlformats.org/drawingml/2006/main">
              <a:ext uri="{FF2B5EF4-FFF2-40B4-BE49-F238E27FC236}">
                <a16:creationId xmlns:a16="http://schemas.microsoft.com/office/drawing/2014/main" id="{D8C1BD9F-077E-4EF6-B94D-FF6383524296}"/>
              </a:ext>
            </a:extLst>
          </p:cNvPr>
          <p:cNvSpPr>
            <a:spLocks xmlns:a="http://schemas.openxmlformats.org/drawingml/2006/main" noGrp="1"/>
          </p:cNvSpPr>
          <p:nvPr/>
        </p:nvSpPr>
        <p:spPr>
          <a:xfrm xmlns:a="http://schemas.openxmlformats.org/drawingml/2006/main">
            <a:off x="8572500" y="13620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25" b="1" i="0">
                <a:solidFill>
                  <a:srgbClr val="E45756"/>
                </a:solidFill>
                <a:latin typeface="Arial"/>
                <a:ea typeface="Arial"/>
                <a:cs typeface="Arial"/>
              </a:defRPr>
            </a:pPr>
            <a:r>
              <a:rPr sz="1425" b="1" i="0">
                <a:solidFill>
                  <a:srgbClr val="E45756"/>
                </a:solidFill>
                <a:latin typeface="Arial"/>
                <a:ea typeface="Arial"/>
                <a:cs typeface="Arial"/>
              </a:rPr>
              <a:t>One fixed cutoff</a:t>
            </a:r>
          </a:p>
        </p:txBody>
      </p:sp>
      <p:sp>
        <p:nvSpPr>
          <p:cNvPr id="10" name="">
            <a:extLst xmlns:a="http://schemas.openxmlformats.org/drawingml/2006/main">
              <a:ext uri="{FF2B5EF4-FFF2-40B4-BE49-F238E27FC236}">
                <a16:creationId xmlns:a16="http://schemas.microsoft.com/office/drawing/2014/main" id="{DAC49FD7-0999-47D1-80FA-C5E0B183154A}"/>
              </a:ext>
            </a:extLst>
          </p:cNvPr>
          <p:cNvSpPr>
            <a:spLocks xmlns:a="http://schemas.openxmlformats.org/drawingml/2006/main" noGrp="1"/>
          </p:cNvSpPr>
          <p:nvPr/>
        </p:nvSpPr>
        <p:spPr>
          <a:xfrm xmlns:a="http://schemas.openxmlformats.org/drawingml/2006/main">
            <a:off x="762000" y="2438400"/>
            <a:ext cx="10572750" cy="266700"/>
          </a:xfrm>
          <a:prstGeom xmlns:a="http://schemas.openxmlformats.org/drawingml/2006/main" prst="roundRect">
            <a:avLst>
              <a:gd name="adj" fmla="val 28571"/>
            </a:avLst>
          </a:prstGeom>
          <a:solidFill xmlns:a="http://schemas.openxmlformats.org/drawingml/2006/main">
            <a:srgbClr val="EDF2F7"/>
          </a:solidFill>
          <a:ln xmlns:a="http://schemas.openxmlformats.org/drawingml/2006/main" w="0">
            <a:solidFill>
              <a:srgbClr val="EDF2F7"/>
            </a:solidFill>
          </a:ln>
        </p:spPr>
      </p:sp>
      <p:sp>
        <p:nvSpPr>
          <p:cNvPr id="11" name="">
            <a:extLst xmlns:a="http://schemas.openxmlformats.org/drawingml/2006/main">
              <a:ext uri="{FF2B5EF4-FFF2-40B4-BE49-F238E27FC236}">
                <a16:creationId xmlns:a16="http://schemas.microsoft.com/office/drawing/2014/main" id="{7D3EB302-276D-4B34-AC0C-2463CE2A3933}"/>
              </a:ext>
            </a:extLst>
          </p:cNvPr>
          <p:cNvSpPr>
            <a:spLocks xmlns:a="http://schemas.openxmlformats.org/drawingml/2006/main" noGrp="1"/>
          </p:cNvSpPr>
          <p:nvPr/>
        </p:nvSpPr>
        <p:spPr>
          <a:xfrm xmlns:a="http://schemas.openxmlformats.org/drawingml/2006/main">
            <a:off x="762000" y="2438400"/>
            <a:ext cx="8162925" cy="266700"/>
          </a:xfrm>
          <a:prstGeom xmlns:a="http://schemas.openxmlformats.org/drawingml/2006/main" prst="roundRect">
            <a:avLst>
              <a:gd name="adj" fmla="val 28571"/>
            </a:avLst>
          </a:prstGeom>
          <a:solidFill xmlns:a="http://schemas.openxmlformats.org/drawingml/2006/main">
            <a:srgbClr val="1363DF"/>
          </a:solidFill>
          <a:ln xmlns:a="http://schemas.openxmlformats.org/drawingml/2006/main" w="0">
            <a:solidFill>
              <a:srgbClr val="1363DF"/>
            </a:solidFill>
          </a:ln>
        </p:spPr>
      </p:sp>
      <p:sp>
        <p:nvSpPr>
          <p:cNvPr id="12" name="">
            <a:extLst xmlns:a="http://schemas.openxmlformats.org/drawingml/2006/main">
              <a:ext uri="{FF2B5EF4-FFF2-40B4-BE49-F238E27FC236}">
                <a16:creationId xmlns:a16="http://schemas.microsoft.com/office/drawing/2014/main" id="{C9140BE9-D05E-4A34-AA80-3E4EDC36F5C1}"/>
              </a:ext>
            </a:extLst>
          </p:cNvPr>
          <p:cNvSpPr>
            <a:spLocks xmlns:a="http://schemas.openxmlformats.org/drawingml/2006/main" noGrp="1"/>
          </p:cNvSpPr>
          <p:nvPr/>
        </p:nvSpPr>
        <p:spPr>
          <a:xfrm xmlns:a="http://schemas.openxmlformats.org/drawingml/2006/main">
            <a:off x="8924925" y="2438400"/>
            <a:ext cx="2409825" cy="266700"/>
          </a:xfrm>
          <a:prstGeom xmlns:a="http://schemas.openxmlformats.org/drawingml/2006/main" prst="roundRect">
            <a:avLst>
              <a:gd name="adj" fmla="val 28571"/>
            </a:avLst>
          </a:prstGeom>
          <a:solidFill xmlns:a="http://schemas.openxmlformats.org/drawingml/2006/main">
            <a:srgbClr val="24C1D6"/>
          </a:solidFill>
          <a:ln xmlns:a="http://schemas.openxmlformats.org/drawingml/2006/main" w="0">
            <a:solidFill>
              <a:srgbClr val="24C1D6"/>
            </a:solidFill>
          </a:ln>
        </p:spPr>
      </p:sp>
      <p:sp>
        <p:nvSpPr>
          <p:cNvPr id="13" name="">
            <a:extLst xmlns:a="http://schemas.openxmlformats.org/drawingml/2006/main">
              <a:ext uri="{FF2B5EF4-FFF2-40B4-BE49-F238E27FC236}">
                <a16:creationId xmlns:a16="http://schemas.microsoft.com/office/drawing/2014/main" id="{189ECF1B-31D0-44BE-8283-A6326EF914AB}"/>
              </a:ext>
            </a:extLst>
          </p:cNvPr>
          <p:cNvSpPr>
            <a:spLocks xmlns:a="http://schemas.openxmlformats.org/drawingml/2006/main" noGrp="1"/>
          </p:cNvSpPr>
          <p:nvPr/>
        </p:nvSpPr>
        <p:spPr>
          <a:xfrm xmlns:a="http://schemas.openxmlformats.org/drawingml/2006/main">
            <a:off x="8896350" y="2171700"/>
            <a:ext cx="57150" cy="809625"/>
          </a:xfrm>
          <a:prstGeom xmlns:a="http://schemas.openxmlformats.org/drawingml/2006/main" prst="rect">
            <a:avLst/>
          </a:prstGeom>
          <a:solidFill xmlns:a="http://schemas.openxmlformats.org/drawingml/2006/main">
            <a:srgbClr val="071C2C"/>
          </a:solidFill>
          <a:ln xmlns:a="http://schemas.openxmlformats.org/drawingml/2006/main" w="0">
            <a:solidFill>
              <a:srgbClr val="071C2C"/>
            </a:solidFill>
          </a:ln>
        </p:spPr>
      </p:sp>
      <p:sp>
        <p:nvSpPr>
          <p:cNvPr id="14" name="">
            <a:extLst xmlns:a="http://schemas.openxmlformats.org/drawingml/2006/main">
              <a:ext uri="{FF2B5EF4-FFF2-40B4-BE49-F238E27FC236}">
                <a16:creationId xmlns:a16="http://schemas.microsoft.com/office/drawing/2014/main" id="{BA0D9141-5BA5-40FF-944F-F0DD7F4B5914}"/>
              </a:ext>
            </a:extLst>
          </p:cNvPr>
          <p:cNvSpPr>
            <a:spLocks xmlns:a="http://schemas.openxmlformats.org/drawingml/2006/main" noGrp="1"/>
          </p:cNvSpPr>
          <p:nvPr/>
        </p:nvSpPr>
        <p:spPr>
          <a:xfrm xmlns:a="http://schemas.openxmlformats.org/drawingml/2006/main">
            <a:off x="762000" y="2800350"/>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050" b="1" i="0">
                <a:solidFill>
                  <a:srgbClr val="102A43"/>
                </a:solidFill>
                <a:latin typeface="Arial"/>
                <a:ea typeface="Arial"/>
                <a:cs typeface="Arial"/>
              </a:defRPr>
            </a:pPr>
            <a:r>
              <a:rPr sz="1050" b="1" i="0">
                <a:solidFill>
                  <a:srgbClr val="102A43"/>
                </a:solidFill>
                <a:latin typeface="Arial"/>
                <a:ea typeface="Arial"/>
                <a:cs typeface="Arial"/>
              </a:rPr>
              <a:t>11 Apr 2023</a:t>
            </a:r>
          </a:p>
        </p:txBody>
      </p:sp>
      <p:sp>
        <p:nvSpPr>
          <p:cNvPr id="15" name="">
            <a:extLst xmlns:a="http://schemas.openxmlformats.org/drawingml/2006/main">
              <a:ext uri="{FF2B5EF4-FFF2-40B4-BE49-F238E27FC236}">
                <a16:creationId xmlns:a16="http://schemas.microsoft.com/office/drawing/2014/main" id="{468F7E17-7603-4266-A3F3-FCB0BF17EFC7}"/>
              </a:ext>
            </a:extLst>
          </p:cNvPr>
          <p:cNvSpPr>
            <a:spLocks xmlns:a="http://schemas.openxmlformats.org/drawingml/2006/main" noGrp="1"/>
          </p:cNvSpPr>
          <p:nvPr/>
        </p:nvSpPr>
        <p:spPr>
          <a:xfrm xmlns:a="http://schemas.openxmlformats.org/drawingml/2006/main">
            <a:off x="7620000" y="2800350"/>
            <a:ext cx="128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050" b="1" i="0">
                <a:solidFill>
                  <a:srgbClr val="102A43"/>
                </a:solidFill>
                <a:latin typeface="Arial"/>
                <a:ea typeface="Arial"/>
                <a:cs typeface="Arial"/>
              </a:defRPr>
            </a:pPr>
            <a:r>
              <a:rPr sz="1050" b="1" i="0">
                <a:solidFill>
                  <a:srgbClr val="102A43"/>
                </a:solidFill>
                <a:latin typeface="Arial"/>
                <a:ea typeface="Arial"/>
                <a:cs typeface="Arial"/>
              </a:rPr>
              <a:t>15 Nov 2025</a:t>
            </a:r>
          </a:p>
        </p:txBody>
      </p:sp>
      <p:sp>
        <p:nvSpPr>
          <p:cNvPr id="16" name="">
            <a:extLst xmlns:a="http://schemas.openxmlformats.org/drawingml/2006/main">
              <a:ext uri="{FF2B5EF4-FFF2-40B4-BE49-F238E27FC236}">
                <a16:creationId xmlns:a16="http://schemas.microsoft.com/office/drawing/2014/main" id="{9679402E-46DE-4129-A5C4-0DA8CEF24F5E}"/>
              </a:ext>
            </a:extLst>
          </p:cNvPr>
          <p:cNvSpPr>
            <a:spLocks xmlns:a="http://schemas.openxmlformats.org/drawingml/2006/main" noGrp="1"/>
          </p:cNvSpPr>
          <p:nvPr/>
        </p:nvSpPr>
        <p:spPr>
          <a:xfrm xmlns:a="http://schemas.openxmlformats.org/drawingml/2006/main">
            <a:off x="8982075" y="2800350"/>
            <a:ext cx="128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050" b="1" i="0">
                <a:solidFill>
                  <a:srgbClr val="102A43"/>
                </a:solidFill>
                <a:latin typeface="Arial"/>
                <a:ea typeface="Arial"/>
                <a:cs typeface="Arial"/>
              </a:defRPr>
            </a:pPr>
            <a:r>
              <a:rPr sz="1050" b="1" i="0">
                <a:solidFill>
                  <a:srgbClr val="102A43"/>
                </a:solidFill>
                <a:latin typeface="Arial"/>
                <a:ea typeface="Arial"/>
                <a:cs typeface="Arial"/>
              </a:rPr>
              <a:t>16 Nov 2025</a:t>
            </a:r>
          </a:p>
        </p:txBody>
      </p:sp>
      <p:sp>
        <p:nvSpPr>
          <p:cNvPr id="17" name="">
            <a:extLst xmlns:a="http://schemas.openxmlformats.org/drawingml/2006/main">
              <a:ext uri="{FF2B5EF4-FFF2-40B4-BE49-F238E27FC236}">
                <a16:creationId xmlns:a16="http://schemas.microsoft.com/office/drawing/2014/main" id="{C3880037-9CB2-4C42-A0A1-323556CCEC42}"/>
              </a:ext>
            </a:extLst>
          </p:cNvPr>
          <p:cNvSpPr>
            <a:spLocks xmlns:a="http://schemas.openxmlformats.org/drawingml/2006/main" noGrp="1"/>
          </p:cNvSpPr>
          <p:nvPr/>
        </p:nvSpPr>
        <p:spPr>
          <a:xfrm xmlns:a="http://schemas.openxmlformats.org/drawingml/2006/main">
            <a:off x="10096500" y="280035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050" b="1" i="0">
                <a:solidFill>
                  <a:srgbClr val="102A43"/>
                </a:solidFill>
                <a:latin typeface="Arial"/>
                <a:ea typeface="Arial"/>
                <a:cs typeface="Arial"/>
              </a:defRPr>
            </a:pPr>
            <a:r>
              <a:rPr sz="1050" b="1" i="0">
                <a:solidFill>
                  <a:srgbClr val="102A43"/>
                </a:solidFill>
                <a:latin typeface="Arial"/>
                <a:ea typeface="Arial"/>
                <a:cs typeface="Arial"/>
              </a:rPr>
              <a:t>18 Aug 2026</a:t>
            </a:r>
          </a:p>
        </p:txBody>
      </p:sp>
      <p:sp>
        <p:nvSpPr>
          <p:cNvPr id="18" name="">
            <a:extLst xmlns:a="http://schemas.openxmlformats.org/drawingml/2006/main">
              <a:ext uri="{FF2B5EF4-FFF2-40B4-BE49-F238E27FC236}">
                <a16:creationId xmlns:a16="http://schemas.microsoft.com/office/drawing/2014/main" id="{BCD06FB9-A90A-4187-B429-C5B5A9C85687}"/>
              </a:ext>
            </a:extLst>
          </p:cNvPr>
          <p:cNvSpPr>
            <a:spLocks xmlns:a="http://schemas.openxmlformats.org/drawingml/2006/main" noGrp="1"/>
          </p:cNvSpPr>
          <p:nvPr/>
        </p:nvSpPr>
        <p:spPr>
          <a:xfrm xmlns:a="http://schemas.openxmlformats.org/drawingml/2006/main">
            <a:off x="3048000" y="250507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 950</a:t>
            </a:r>
          </a:p>
        </p:txBody>
      </p:sp>
      <p:sp>
        <p:nvSpPr>
          <p:cNvPr id="19" name="">
            <a:extLst xmlns:a="http://schemas.openxmlformats.org/drawingml/2006/main">
              <a:ext uri="{FF2B5EF4-FFF2-40B4-BE49-F238E27FC236}">
                <a16:creationId xmlns:a16="http://schemas.microsoft.com/office/drawing/2014/main" id="{386795CF-F6A9-4F9D-A87C-B30736920E5C}"/>
              </a:ext>
            </a:extLst>
          </p:cNvPr>
          <p:cNvSpPr>
            <a:spLocks xmlns:a="http://schemas.openxmlformats.org/drawingml/2006/main" noGrp="1"/>
          </p:cNvSpPr>
          <p:nvPr/>
        </p:nvSpPr>
        <p:spPr>
          <a:xfrm xmlns:a="http://schemas.openxmlformats.org/drawingml/2006/main">
            <a:off x="9124950" y="2505075"/>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125" b="1" i="0">
                <a:solidFill>
                  <a:srgbClr val="071C2C"/>
                </a:solidFill>
                <a:latin typeface="Arial"/>
                <a:ea typeface="Arial"/>
                <a:cs typeface="Arial"/>
              </a:defRPr>
            </a:pPr>
            <a:r>
              <a:rPr sz="1125" b="1" i="0">
                <a:solidFill>
                  <a:srgbClr val="071C2C"/>
                </a:solidFill>
                <a:latin typeface="Arial"/>
                <a:ea typeface="Arial"/>
                <a:cs typeface="Arial"/>
              </a:rPr>
              <a:t>HOLDOUT · 276</a:t>
            </a:r>
          </a:p>
        </p:txBody>
      </p:sp>
      <p:sp>
        <p:nvSpPr>
          <p:cNvPr id="20" name="">
            <a:extLst xmlns:a="http://schemas.openxmlformats.org/drawingml/2006/main">
              <a:ext uri="{FF2B5EF4-FFF2-40B4-BE49-F238E27FC236}">
                <a16:creationId xmlns:a16="http://schemas.microsoft.com/office/drawing/2014/main" id="{8F8E2A1C-FB8A-43C8-A20C-76F109D12EF2}"/>
              </a:ext>
            </a:extLst>
          </p:cNvPr>
          <p:cNvSpPr>
            <a:spLocks xmlns:a="http://schemas.openxmlformats.org/drawingml/2006/main" noGrp="1"/>
          </p:cNvSpPr>
          <p:nvPr/>
        </p:nvSpPr>
        <p:spPr>
          <a:xfrm xmlns:a="http://schemas.openxmlformats.org/drawingml/2006/main">
            <a:off x="609600" y="3581400"/>
            <a:ext cx="2571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E3EC"/>
            </a:solidFill>
          </a:ln>
        </p:spPr>
      </p:sp>
      <p:sp>
        <p:nvSpPr>
          <p:cNvPr id="21" name="">
            <a:extLst xmlns:a="http://schemas.openxmlformats.org/drawingml/2006/main">
              <a:ext uri="{FF2B5EF4-FFF2-40B4-BE49-F238E27FC236}">
                <a16:creationId xmlns:a16="http://schemas.microsoft.com/office/drawing/2014/main" id="{E1CF06BA-61B8-4DF6-87E8-11D38F28247B}"/>
              </a:ext>
            </a:extLst>
          </p:cNvPr>
          <p:cNvSpPr>
            <a:spLocks xmlns:a="http://schemas.openxmlformats.org/drawingml/2006/main" noGrp="1"/>
          </p:cNvSpPr>
          <p:nvPr/>
        </p:nvSpPr>
        <p:spPr>
          <a:xfrm xmlns:a="http://schemas.openxmlformats.org/drawingml/2006/main">
            <a:off x="609600" y="3581400"/>
            <a:ext cx="66675" cy="1809750"/>
          </a:xfrm>
          <a:prstGeom xmlns:a="http://schemas.openxmlformats.org/drawingml/2006/main" prst="roundRect">
            <a:avLst>
              <a:gd name="adj" fmla="val 50000"/>
            </a:avLst>
          </a:prstGeom>
          <a:solidFill xmlns:a="http://schemas.openxmlformats.org/drawingml/2006/main">
            <a:srgbClr val="1363DF"/>
          </a:solidFill>
          <a:ln xmlns:a="http://schemas.openxmlformats.org/drawingml/2006/main" w="0">
            <a:solidFill>
              <a:srgbClr val="1363DF"/>
            </a:solidFill>
          </a:ln>
        </p:spPr>
      </p:sp>
      <p:sp>
        <p:nvSpPr>
          <p:cNvPr id="22" name="">
            <a:extLst xmlns:a="http://schemas.openxmlformats.org/drawingml/2006/main">
              <a:ext uri="{FF2B5EF4-FFF2-40B4-BE49-F238E27FC236}">
                <a16:creationId xmlns:a16="http://schemas.microsoft.com/office/drawing/2014/main" id="{55DF1134-2EA6-45EA-89AA-00F4BB25D482}"/>
              </a:ext>
            </a:extLst>
          </p:cNvPr>
          <p:cNvSpPr>
            <a:spLocks xmlns:a="http://schemas.openxmlformats.org/drawingml/2006/main" noGrp="1"/>
          </p:cNvSpPr>
          <p:nvPr/>
        </p:nvSpPr>
        <p:spPr>
          <a:xfrm xmlns:a="http://schemas.openxmlformats.org/drawingml/2006/main">
            <a:off x="838200" y="3781425"/>
            <a:ext cx="400050" cy="400050"/>
          </a:xfrm>
          <a:prstGeom xmlns:a="http://schemas.openxmlformats.org/drawingml/2006/main" prst="ellipse">
            <a:avLst/>
          </a:prstGeom>
          <a:solidFill xmlns:a="http://schemas.openxmlformats.org/drawingml/2006/main">
            <a:srgbClr val="1363DF"/>
          </a:solidFill>
          <a:ln xmlns:a="http://schemas.openxmlformats.org/drawingml/2006/main" w="0">
            <a:solidFill>
              <a:srgbClr val="1363DF"/>
            </a:solidFill>
          </a:ln>
        </p:spPr>
      </p:sp>
      <p:sp>
        <p:nvSpPr>
          <p:cNvPr id="23" name="">
            <a:extLst xmlns:a="http://schemas.openxmlformats.org/drawingml/2006/main">
              <a:ext uri="{FF2B5EF4-FFF2-40B4-BE49-F238E27FC236}">
                <a16:creationId xmlns:a16="http://schemas.microsoft.com/office/drawing/2014/main" id="{5B7360DA-7AF6-46A9-BC24-607F2F34364E}"/>
              </a:ext>
            </a:extLst>
          </p:cNvPr>
          <p:cNvSpPr>
            <a:spLocks xmlns:a="http://schemas.openxmlformats.org/drawingml/2006/main" noGrp="1"/>
          </p:cNvSpPr>
          <p:nvPr/>
        </p:nvSpPr>
        <p:spPr>
          <a:xfrm xmlns:a="http://schemas.openxmlformats.org/drawingml/2006/main">
            <a:off x="838200" y="3781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E15CAEC4-92C6-4D1D-B922-6138187686FF}"/>
              </a:ext>
            </a:extLst>
          </p:cNvPr>
          <p:cNvSpPr>
            <a:spLocks xmlns:a="http://schemas.openxmlformats.org/drawingml/2006/main" noGrp="1"/>
          </p:cNvSpPr>
          <p:nvPr/>
        </p:nvSpPr>
        <p:spPr>
          <a:xfrm xmlns:a="http://schemas.openxmlformats.org/drawingml/2006/main">
            <a:off x="1390650" y="38195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Predeclare</a:t>
            </a:r>
          </a:p>
        </p:txBody>
      </p:sp>
      <p:sp>
        <p:nvSpPr>
          <p:cNvPr id="25" name="">
            <a:extLst xmlns:a="http://schemas.openxmlformats.org/drawingml/2006/main">
              <a:ext uri="{FF2B5EF4-FFF2-40B4-BE49-F238E27FC236}">
                <a16:creationId xmlns:a16="http://schemas.microsoft.com/office/drawing/2014/main" id="{6E504C56-864F-4439-BEA2-A5B9F8EC565F}"/>
              </a:ext>
            </a:extLst>
          </p:cNvPr>
          <p:cNvSpPr>
            <a:spLocks xmlns:a="http://schemas.openxmlformats.org/drawingml/2006/main" noGrp="1"/>
          </p:cNvSpPr>
          <p:nvPr/>
        </p:nvSpPr>
        <p:spPr>
          <a:xfrm xmlns:a="http://schemas.openxmlformats.org/drawingml/2006/main">
            <a:off x="838200" y="436245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features, candidates and metrics</a:t>
            </a:r>
          </a:p>
        </p:txBody>
      </p:sp>
      <p:sp>
        <p:nvSpPr>
          <p:cNvPr id="26" name="">
            <a:extLst xmlns:a="http://schemas.openxmlformats.org/drawingml/2006/main">
              <a:ext uri="{FF2B5EF4-FFF2-40B4-BE49-F238E27FC236}">
                <a16:creationId xmlns:a16="http://schemas.microsoft.com/office/drawing/2014/main" id="{135EE157-1935-4BB6-9B3E-24FE50BCC47D}"/>
              </a:ext>
            </a:extLst>
          </p:cNvPr>
          <p:cNvSpPr>
            <a:spLocks xmlns:a="http://schemas.openxmlformats.org/drawingml/2006/main" noGrp="1"/>
          </p:cNvSpPr>
          <p:nvPr/>
        </p:nvSpPr>
        <p:spPr>
          <a:xfrm xmlns:a="http://schemas.openxmlformats.org/drawingml/2006/main">
            <a:off x="3371850" y="3581400"/>
            <a:ext cx="2571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E3EC"/>
            </a:solidFill>
          </a:ln>
        </p:spPr>
      </p:sp>
      <p:sp>
        <p:nvSpPr>
          <p:cNvPr id="27" name="">
            <a:extLst xmlns:a="http://schemas.openxmlformats.org/drawingml/2006/main">
              <a:ext uri="{FF2B5EF4-FFF2-40B4-BE49-F238E27FC236}">
                <a16:creationId xmlns:a16="http://schemas.microsoft.com/office/drawing/2014/main" id="{39C90922-CAEF-4F56-B113-969E203F3E6B}"/>
              </a:ext>
            </a:extLst>
          </p:cNvPr>
          <p:cNvSpPr>
            <a:spLocks xmlns:a="http://schemas.openxmlformats.org/drawingml/2006/main" noGrp="1"/>
          </p:cNvSpPr>
          <p:nvPr/>
        </p:nvSpPr>
        <p:spPr>
          <a:xfrm xmlns:a="http://schemas.openxmlformats.org/drawingml/2006/main">
            <a:off x="3371850" y="3581400"/>
            <a:ext cx="66675" cy="1809750"/>
          </a:xfrm>
          <a:prstGeom xmlns:a="http://schemas.openxmlformats.org/drawingml/2006/main" prst="roundRect">
            <a:avLst>
              <a:gd name="adj" fmla="val 50000"/>
            </a:avLst>
          </a:prstGeom>
          <a:solidFill xmlns:a="http://schemas.openxmlformats.org/drawingml/2006/main">
            <a:srgbClr val="24C1D6"/>
          </a:solidFill>
          <a:ln xmlns:a="http://schemas.openxmlformats.org/drawingml/2006/main" w="0">
            <a:solidFill>
              <a:srgbClr val="24C1D6"/>
            </a:solidFill>
          </a:ln>
        </p:spPr>
      </p:sp>
      <p:sp>
        <p:nvSpPr>
          <p:cNvPr id="28" name="">
            <a:extLst xmlns:a="http://schemas.openxmlformats.org/drawingml/2006/main">
              <a:ext uri="{FF2B5EF4-FFF2-40B4-BE49-F238E27FC236}">
                <a16:creationId xmlns:a16="http://schemas.microsoft.com/office/drawing/2014/main" id="{642DC39D-3927-4579-B8D8-BD00090CB581}"/>
              </a:ext>
            </a:extLst>
          </p:cNvPr>
          <p:cNvSpPr>
            <a:spLocks xmlns:a="http://schemas.openxmlformats.org/drawingml/2006/main" noGrp="1"/>
          </p:cNvSpPr>
          <p:nvPr/>
        </p:nvSpPr>
        <p:spPr>
          <a:xfrm xmlns:a="http://schemas.openxmlformats.org/drawingml/2006/main">
            <a:off x="3600450" y="3781425"/>
            <a:ext cx="400050" cy="400050"/>
          </a:xfrm>
          <a:prstGeom xmlns:a="http://schemas.openxmlformats.org/drawingml/2006/main" prst="ellipse">
            <a:avLst/>
          </a:prstGeom>
          <a:solidFill xmlns:a="http://schemas.openxmlformats.org/drawingml/2006/main">
            <a:srgbClr val="24C1D6"/>
          </a:solidFill>
          <a:ln xmlns:a="http://schemas.openxmlformats.org/drawingml/2006/main" w="0">
            <a:solidFill>
              <a:srgbClr val="24C1D6"/>
            </a:solidFill>
          </a:ln>
        </p:spPr>
      </p:sp>
      <p:sp>
        <p:nvSpPr>
          <p:cNvPr id="29" name="">
            <a:extLst xmlns:a="http://schemas.openxmlformats.org/drawingml/2006/main">
              <a:ext uri="{FF2B5EF4-FFF2-40B4-BE49-F238E27FC236}">
                <a16:creationId xmlns:a16="http://schemas.microsoft.com/office/drawing/2014/main" id="{88E49385-BFF5-423E-B393-F4C4C166FB4E}"/>
              </a:ext>
            </a:extLst>
          </p:cNvPr>
          <p:cNvSpPr>
            <a:spLocks xmlns:a="http://schemas.openxmlformats.org/drawingml/2006/main" noGrp="1"/>
          </p:cNvSpPr>
          <p:nvPr/>
        </p:nvSpPr>
        <p:spPr>
          <a:xfrm xmlns:a="http://schemas.openxmlformats.org/drawingml/2006/main">
            <a:off x="3600450" y="3781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2</a:t>
            </a:r>
          </a:p>
        </p:txBody>
      </p:sp>
      <p:sp>
        <p:nvSpPr>
          <p:cNvPr id="30" name="">
            <a:extLst xmlns:a="http://schemas.openxmlformats.org/drawingml/2006/main">
              <a:ext uri="{FF2B5EF4-FFF2-40B4-BE49-F238E27FC236}">
                <a16:creationId xmlns:a16="http://schemas.microsoft.com/office/drawing/2014/main" id="{A4BBEC7E-85A9-419E-B2DC-6085F8DFA1AA}"/>
              </a:ext>
            </a:extLst>
          </p:cNvPr>
          <p:cNvSpPr>
            <a:spLocks xmlns:a="http://schemas.openxmlformats.org/drawingml/2006/main" noGrp="1"/>
          </p:cNvSpPr>
          <p:nvPr/>
        </p:nvSpPr>
        <p:spPr>
          <a:xfrm xmlns:a="http://schemas.openxmlformats.org/drawingml/2006/main">
            <a:off x="4152900" y="38195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Select</a:t>
            </a:r>
          </a:p>
        </p:txBody>
      </p:sp>
      <p:sp>
        <p:nvSpPr>
          <p:cNvPr id="31" name="">
            <a:extLst xmlns:a="http://schemas.openxmlformats.org/drawingml/2006/main">
              <a:ext uri="{FF2B5EF4-FFF2-40B4-BE49-F238E27FC236}">
                <a16:creationId xmlns:a16="http://schemas.microsoft.com/office/drawing/2014/main" id="{25FAE78E-ADE5-4678-8A55-C57088B71463}"/>
              </a:ext>
            </a:extLst>
          </p:cNvPr>
          <p:cNvSpPr>
            <a:spLocks xmlns:a="http://schemas.openxmlformats.org/drawingml/2006/main" noGrp="1"/>
          </p:cNvSpPr>
          <p:nvPr/>
        </p:nvSpPr>
        <p:spPr>
          <a:xfrm xmlns:a="http://schemas.openxmlformats.org/drawingml/2006/main">
            <a:off x="3600450" y="436245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chronological training tail only</a:t>
            </a:r>
          </a:p>
        </p:txBody>
      </p:sp>
      <p:sp>
        <p:nvSpPr>
          <p:cNvPr id="32" name="">
            <a:extLst xmlns:a="http://schemas.openxmlformats.org/drawingml/2006/main">
              <a:ext uri="{FF2B5EF4-FFF2-40B4-BE49-F238E27FC236}">
                <a16:creationId xmlns:a16="http://schemas.microsoft.com/office/drawing/2014/main" id="{C712DD58-E78E-4B99-9959-4028AA7096D0}"/>
              </a:ext>
            </a:extLst>
          </p:cNvPr>
          <p:cNvSpPr>
            <a:spLocks xmlns:a="http://schemas.openxmlformats.org/drawingml/2006/main" noGrp="1"/>
          </p:cNvSpPr>
          <p:nvPr/>
        </p:nvSpPr>
        <p:spPr>
          <a:xfrm xmlns:a="http://schemas.openxmlformats.org/drawingml/2006/main">
            <a:off x="6134100" y="3581400"/>
            <a:ext cx="2571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E3EC"/>
            </a:solidFill>
          </a:ln>
        </p:spPr>
      </p:sp>
      <p:sp>
        <p:nvSpPr>
          <p:cNvPr id="33" name="">
            <a:extLst xmlns:a="http://schemas.openxmlformats.org/drawingml/2006/main">
              <a:ext uri="{FF2B5EF4-FFF2-40B4-BE49-F238E27FC236}">
                <a16:creationId xmlns:a16="http://schemas.microsoft.com/office/drawing/2014/main" id="{89F6F434-22DA-43B1-8C4D-56DF900903AD}"/>
              </a:ext>
            </a:extLst>
          </p:cNvPr>
          <p:cNvSpPr>
            <a:spLocks xmlns:a="http://schemas.openxmlformats.org/drawingml/2006/main" noGrp="1"/>
          </p:cNvSpPr>
          <p:nvPr/>
        </p:nvSpPr>
        <p:spPr>
          <a:xfrm xmlns:a="http://schemas.openxmlformats.org/drawingml/2006/main">
            <a:off x="6134100" y="3581400"/>
            <a:ext cx="66675" cy="1809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34" name="">
            <a:extLst xmlns:a="http://schemas.openxmlformats.org/drawingml/2006/main">
              <a:ext uri="{FF2B5EF4-FFF2-40B4-BE49-F238E27FC236}">
                <a16:creationId xmlns:a16="http://schemas.microsoft.com/office/drawing/2014/main" id="{1E7D2590-D9F6-439C-B07A-E5B4565981A9}"/>
              </a:ext>
            </a:extLst>
          </p:cNvPr>
          <p:cNvSpPr>
            <a:spLocks xmlns:a="http://schemas.openxmlformats.org/drawingml/2006/main" noGrp="1"/>
          </p:cNvSpPr>
          <p:nvPr/>
        </p:nvSpPr>
        <p:spPr>
          <a:xfrm xmlns:a="http://schemas.openxmlformats.org/drawingml/2006/main">
            <a:off x="6362700" y="3781425"/>
            <a:ext cx="400050" cy="400050"/>
          </a:xfrm>
          <a:prstGeom xmlns:a="http://schemas.openxmlformats.org/drawingml/2006/main" prst="ellipse">
            <a:avLst/>
          </a:prstGeom>
          <a:solidFill xmlns:a="http://schemas.openxmlformats.org/drawingml/2006/main">
            <a:srgbClr val="159A70"/>
          </a:solidFill>
          <a:ln xmlns:a="http://schemas.openxmlformats.org/drawingml/2006/main" w="0">
            <a:solidFill>
              <a:srgbClr val="159A70"/>
            </a:solidFill>
          </a:ln>
        </p:spPr>
      </p:sp>
      <p:sp>
        <p:nvSpPr>
          <p:cNvPr id="35" name="">
            <a:extLst xmlns:a="http://schemas.openxmlformats.org/drawingml/2006/main">
              <a:ext uri="{FF2B5EF4-FFF2-40B4-BE49-F238E27FC236}">
                <a16:creationId xmlns:a16="http://schemas.microsoft.com/office/drawing/2014/main" id="{DFCEF51C-E887-4F7E-9BFD-94428CEA598E}"/>
              </a:ext>
            </a:extLst>
          </p:cNvPr>
          <p:cNvSpPr>
            <a:spLocks xmlns:a="http://schemas.openxmlformats.org/drawingml/2006/main" noGrp="1"/>
          </p:cNvSpPr>
          <p:nvPr/>
        </p:nvSpPr>
        <p:spPr>
          <a:xfrm xmlns:a="http://schemas.openxmlformats.org/drawingml/2006/main">
            <a:off x="6362700" y="3781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3</a:t>
            </a:r>
          </a:p>
        </p:txBody>
      </p:sp>
      <p:sp>
        <p:nvSpPr>
          <p:cNvPr id="36" name="">
            <a:extLst xmlns:a="http://schemas.openxmlformats.org/drawingml/2006/main">
              <a:ext uri="{FF2B5EF4-FFF2-40B4-BE49-F238E27FC236}">
                <a16:creationId xmlns:a16="http://schemas.microsoft.com/office/drawing/2014/main" id="{AC68E476-F286-4A1B-9E11-7531C6F3A083}"/>
              </a:ext>
            </a:extLst>
          </p:cNvPr>
          <p:cNvSpPr>
            <a:spLocks xmlns:a="http://schemas.openxmlformats.org/drawingml/2006/main" noGrp="1"/>
          </p:cNvSpPr>
          <p:nvPr/>
        </p:nvSpPr>
        <p:spPr>
          <a:xfrm xmlns:a="http://schemas.openxmlformats.org/drawingml/2006/main">
            <a:off x="6915150" y="38195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Refit</a:t>
            </a:r>
          </a:p>
        </p:txBody>
      </p:sp>
      <p:sp>
        <p:nvSpPr>
          <p:cNvPr id="37" name="">
            <a:extLst xmlns:a="http://schemas.openxmlformats.org/drawingml/2006/main">
              <a:ext uri="{FF2B5EF4-FFF2-40B4-BE49-F238E27FC236}">
                <a16:creationId xmlns:a16="http://schemas.microsoft.com/office/drawing/2014/main" id="{2BAC880F-956A-4A9C-B895-DB5CECDE556C}"/>
              </a:ext>
            </a:extLst>
          </p:cNvPr>
          <p:cNvSpPr>
            <a:spLocks xmlns:a="http://schemas.openxmlformats.org/drawingml/2006/main" noGrp="1"/>
          </p:cNvSpPr>
          <p:nvPr/>
        </p:nvSpPr>
        <p:spPr>
          <a:xfrm xmlns:a="http://schemas.openxmlformats.org/drawingml/2006/main">
            <a:off x="6362700" y="436245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all pre-test observations</a:t>
            </a:r>
          </a:p>
        </p:txBody>
      </p:sp>
      <p:sp>
        <p:nvSpPr>
          <p:cNvPr id="38" name="">
            <a:extLst xmlns:a="http://schemas.openxmlformats.org/drawingml/2006/main">
              <a:ext uri="{FF2B5EF4-FFF2-40B4-BE49-F238E27FC236}">
                <a16:creationId xmlns:a16="http://schemas.microsoft.com/office/drawing/2014/main" id="{CA039A3E-1655-47FC-AA1C-64193FF54D57}"/>
              </a:ext>
            </a:extLst>
          </p:cNvPr>
          <p:cNvSpPr>
            <a:spLocks xmlns:a="http://schemas.openxmlformats.org/drawingml/2006/main" noGrp="1"/>
          </p:cNvSpPr>
          <p:nvPr/>
        </p:nvSpPr>
        <p:spPr>
          <a:xfrm xmlns:a="http://schemas.openxmlformats.org/drawingml/2006/main">
            <a:off x="8896350" y="3581400"/>
            <a:ext cx="2571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8E3EC"/>
            </a:solidFill>
          </a:ln>
        </p:spPr>
      </p:sp>
      <p:sp>
        <p:nvSpPr>
          <p:cNvPr id="39" name="">
            <a:extLst xmlns:a="http://schemas.openxmlformats.org/drawingml/2006/main">
              <a:ext uri="{FF2B5EF4-FFF2-40B4-BE49-F238E27FC236}">
                <a16:creationId xmlns:a16="http://schemas.microsoft.com/office/drawing/2014/main" id="{E91E9371-6CC0-4C9A-A411-A39E767A89BA}"/>
              </a:ext>
            </a:extLst>
          </p:cNvPr>
          <p:cNvSpPr>
            <a:spLocks xmlns:a="http://schemas.openxmlformats.org/drawingml/2006/main" noGrp="1"/>
          </p:cNvSpPr>
          <p:nvPr/>
        </p:nvSpPr>
        <p:spPr>
          <a:xfrm xmlns:a="http://schemas.openxmlformats.org/drawingml/2006/main">
            <a:off x="8896350" y="3581400"/>
            <a:ext cx="66675" cy="18097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solidFill>
              <a:srgbClr val="F4B942"/>
            </a:solidFill>
          </a:ln>
        </p:spPr>
      </p:sp>
      <p:sp>
        <p:nvSpPr>
          <p:cNvPr id="40" name="">
            <a:extLst xmlns:a="http://schemas.openxmlformats.org/drawingml/2006/main">
              <a:ext uri="{FF2B5EF4-FFF2-40B4-BE49-F238E27FC236}">
                <a16:creationId xmlns:a16="http://schemas.microsoft.com/office/drawing/2014/main" id="{70809A6B-E1C0-4EAD-ACFC-058536EEC3AA}"/>
              </a:ext>
            </a:extLst>
          </p:cNvPr>
          <p:cNvSpPr>
            <a:spLocks xmlns:a="http://schemas.openxmlformats.org/drawingml/2006/main" noGrp="1"/>
          </p:cNvSpPr>
          <p:nvPr/>
        </p:nvSpPr>
        <p:spPr>
          <a:xfrm xmlns:a="http://schemas.openxmlformats.org/drawingml/2006/main">
            <a:off x="9124950" y="3781425"/>
            <a:ext cx="400050" cy="400050"/>
          </a:xfrm>
          <a:prstGeom xmlns:a="http://schemas.openxmlformats.org/drawingml/2006/main" prst="ellipse">
            <a:avLst/>
          </a:prstGeom>
          <a:solidFill xmlns:a="http://schemas.openxmlformats.org/drawingml/2006/main">
            <a:srgbClr val="F4B942"/>
          </a:solidFill>
          <a:ln xmlns:a="http://schemas.openxmlformats.org/drawingml/2006/main" w="0">
            <a:solidFill>
              <a:srgbClr val="F4B942"/>
            </a:solidFill>
          </a:ln>
        </p:spPr>
      </p:sp>
      <p:sp>
        <p:nvSpPr>
          <p:cNvPr id="41" name="">
            <a:extLst xmlns:a="http://schemas.openxmlformats.org/drawingml/2006/main">
              <a:ext uri="{FF2B5EF4-FFF2-40B4-BE49-F238E27FC236}">
                <a16:creationId xmlns:a16="http://schemas.microsoft.com/office/drawing/2014/main" id="{17BD2539-E64D-4BA2-9E21-B0DA1762453C}"/>
              </a:ext>
            </a:extLst>
          </p:cNvPr>
          <p:cNvSpPr>
            <a:spLocks xmlns:a="http://schemas.openxmlformats.org/drawingml/2006/main" noGrp="1"/>
          </p:cNvSpPr>
          <p:nvPr/>
        </p:nvSpPr>
        <p:spPr>
          <a:xfrm xmlns:a="http://schemas.openxmlformats.org/drawingml/2006/main">
            <a:off x="9124950" y="3781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4</a:t>
            </a:r>
          </a:p>
        </p:txBody>
      </p:sp>
      <p:sp>
        <p:nvSpPr>
          <p:cNvPr id="42" name="">
            <a:extLst xmlns:a="http://schemas.openxmlformats.org/drawingml/2006/main">
              <a:ext uri="{FF2B5EF4-FFF2-40B4-BE49-F238E27FC236}">
                <a16:creationId xmlns:a16="http://schemas.microsoft.com/office/drawing/2014/main" id="{0069AE46-7820-4144-BB17-E795577745CA}"/>
              </a:ext>
            </a:extLst>
          </p:cNvPr>
          <p:cNvSpPr>
            <a:spLocks xmlns:a="http://schemas.openxmlformats.org/drawingml/2006/main" noGrp="1"/>
          </p:cNvSpPr>
          <p:nvPr/>
        </p:nvSpPr>
        <p:spPr>
          <a:xfrm xmlns:a="http://schemas.openxmlformats.org/drawingml/2006/main">
            <a:off x="9677400" y="38195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Evaluate</a:t>
            </a:r>
          </a:p>
        </p:txBody>
      </p:sp>
      <p:sp>
        <p:nvSpPr>
          <p:cNvPr id="43" name="">
            <a:extLst xmlns:a="http://schemas.openxmlformats.org/drawingml/2006/main">
              <a:ext uri="{FF2B5EF4-FFF2-40B4-BE49-F238E27FC236}">
                <a16:creationId xmlns:a16="http://schemas.microsoft.com/office/drawing/2014/main" id="{11139A80-4477-4EE5-8272-D5A1BAD678A8}"/>
              </a:ext>
            </a:extLst>
          </p:cNvPr>
          <p:cNvSpPr>
            <a:spLocks xmlns:a="http://schemas.openxmlformats.org/drawingml/2006/main" noGrp="1"/>
          </p:cNvSpPr>
          <p:nvPr/>
        </p:nvSpPr>
        <p:spPr>
          <a:xfrm xmlns:a="http://schemas.openxmlformats.org/drawingml/2006/main">
            <a:off x="9124950" y="436245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untouched frozen holdout</a:t>
            </a:r>
          </a:p>
        </p:txBody>
      </p:sp>
      <p:sp>
        <p:nvSpPr>
          <p:cNvPr id="44" name="">
            <a:extLst xmlns:a="http://schemas.openxmlformats.org/drawingml/2006/main">
              <a:ext uri="{FF2B5EF4-FFF2-40B4-BE49-F238E27FC236}">
                <a16:creationId xmlns:a16="http://schemas.microsoft.com/office/drawing/2014/main" id="{097CA301-B9A7-4CF1-8E1A-6D8EEE0C248C}"/>
              </a:ext>
            </a:extLst>
          </p:cNvPr>
          <p:cNvSpPr>
            <a:spLocks xmlns:a="http://schemas.openxmlformats.org/drawingml/2006/main" noGrp="1"/>
          </p:cNvSpPr>
          <p:nvPr/>
        </p:nvSpPr>
        <p:spPr>
          <a:xfrm xmlns:a="http://schemas.openxmlformats.org/drawingml/2006/main">
            <a:off x="3067050" y="5724525"/>
            <a:ext cx="6057900" cy="323850"/>
          </a:xfrm>
          <a:prstGeom xmlns:a="http://schemas.openxmlformats.org/drawingml/2006/main" prst="roundRect">
            <a:avLst>
              <a:gd name="adj" fmla="val 23529"/>
            </a:avLst>
          </a:prstGeom>
          <a:solidFill xmlns:a="http://schemas.openxmlformats.org/drawingml/2006/main">
            <a:srgbClr val="EAF2FF"/>
          </a:solidFill>
          <a:ln xmlns:a="http://schemas.openxmlformats.org/drawingml/2006/main" w="0">
            <a:solidFill>
              <a:srgbClr val="EAF2FF"/>
            </a:solidFill>
          </a:ln>
        </p:spPr>
      </p:sp>
      <p:sp>
        <p:nvSpPr>
          <p:cNvPr id="45" name="">
            <a:extLst xmlns:a="http://schemas.openxmlformats.org/drawingml/2006/main">
              <a:ext uri="{FF2B5EF4-FFF2-40B4-BE49-F238E27FC236}">
                <a16:creationId xmlns:a16="http://schemas.microsoft.com/office/drawing/2014/main" id="{F64ED7D3-03D6-42B6-BE5B-DE7740E73A46}"/>
              </a:ext>
            </a:extLst>
          </p:cNvPr>
          <p:cNvSpPr>
            <a:spLocks xmlns:a="http://schemas.openxmlformats.org/drawingml/2006/main" noGrp="1"/>
          </p:cNvSpPr>
          <p:nvPr/>
        </p:nvSpPr>
        <p:spPr>
          <a:xfrm xmlns:a="http://schemas.openxmlformats.org/drawingml/2006/main">
            <a:off x="3067050" y="5734050"/>
            <a:ext cx="605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SUPPLEMENTARY: 4 EXPANDING-WINDOW FOLDS × 69 OBSERVATIONS</a:t>
            </a:r>
          </a:p>
        </p:txBody>
      </p:sp>
    </p:spTree>
    <p:extLst>
      <p:ext uri="{BB962C8B-B14F-4D97-AF65-F5344CB8AC3E}">
        <p14:creationId xmlns:p14="http://schemas.microsoft.com/office/powerpoint/2010/main" val="1460287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0CEFF81-E5CE-4F63-B60E-10FBAC24E8FC}"/>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D48BAAEB-4593-4BC8-B50F-428AB6C1DBFA}"/>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MODEL SET</a:t>
            </a:r>
          </a:p>
        </p:txBody>
      </p:sp>
      <p:sp>
        <p:nvSpPr>
          <p:cNvPr id="3" name="">
            <a:extLst xmlns:a="http://schemas.openxmlformats.org/drawingml/2006/main">
              <a:ext uri="{FF2B5EF4-FFF2-40B4-BE49-F238E27FC236}">
                <a16:creationId xmlns:a16="http://schemas.microsoft.com/office/drawing/2014/main" id="{6EDFB625-FC95-4ED2-97AE-79AE2B1126BC}"/>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Five complete pipelines, each with a different role</a:t>
            </a:r>
          </a:p>
        </p:txBody>
      </p:sp>
      <p:sp>
        <p:nvSpPr>
          <p:cNvPr id="4" name="">
            <a:extLst xmlns:a="http://schemas.openxmlformats.org/drawingml/2006/main">
              <a:ext uri="{FF2B5EF4-FFF2-40B4-BE49-F238E27FC236}">
                <a16:creationId xmlns:a16="http://schemas.microsoft.com/office/drawing/2014/main" id="{5D5CED64-2FDA-424E-B3B9-FF60168E2765}"/>
              </a:ext>
            </a:extLst>
          </p:cNvPr>
          <p:cNvSpPr>
            <a:spLocks xmlns:a="http://schemas.openxmlformats.org/drawingml/2006/main" noGrp="1"/>
          </p:cNvSpPr>
          <p:nvPr/>
        </p:nvSpPr>
        <p:spPr>
          <a:xfrm xmlns:a="http://schemas.openxmlformats.org/drawingml/2006/main">
            <a:off x="609600" y="1000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i="0">
                <a:solidFill>
                  <a:srgbClr val="5B6B7C"/>
                </a:solidFill>
                <a:latin typeface="Arial"/>
                <a:ea typeface="Arial"/>
                <a:cs typeface="Arial"/>
              </a:defRPr>
            </a:pPr>
            <a:r>
              <a:rPr sz="1200" b="0" i="0">
                <a:solidFill>
                  <a:srgbClr val="5B6B7C"/>
                </a:solidFill>
                <a:latin typeface="Arial"/>
                <a:ea typeface="Arial"/>
                <a:cs typeface="Arial"/>
              </a:rPr>
              <a:t>The result compares tested pipelines — not every possible version of each model family.</a:t>
            </a:r>
          </a:p>
        </p:txBody>
      </p:sp>
      <p:sp>
        <p:nvSpPr>
          <p:cNvPr id="5" name="">
            <a:extLst xmlns:a="http://schemas.openxmlformats.org/drawingml/2006/main">
              <a:ext uri="{FF2B5EF4-FFF2-40B4-BE49-F238E27FC236}">
                <a16:creationId xmlns:a16="http://schemas.microsoft.com/office/drawing/2014/main" id="{544B0EF5-CE52-461D-B97E-09828BB2ECD4}"/>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6" name="">
            <a:extLst xmlns:a="http://schemas.openxmlformats.org/drawingml/2006/main">
              <a:ext uri="{FF2B5EF4-FFF2-40B4-BE49-F238E27FC236}">
                <a16:creationId xmlns:a16="http://schemas.microsoft.com/office/drawing/2014/main" id="{E2B2CA2D-64E2-49FE-943A-DF4C256D5F74}"/>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7" name="">
            <a:extLst xmlns:a="http://schemas.openxmlformats.org/drawingml/2006/main">
              <a:ext uri="{FF2B5EF4-FFF2-40B4-BE49-F238E27FC236}">
                <a16:creationId xmlns:a16="http://schemas.microsoft.com/office/drawing/2014/main" id="{AD8FF2DA-E28E-4F36-8001-4F0DABE68835}"/>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05 / 10</a:t>
            </a:r>
          </a:p>
        </p:txBody>
      </p:sp>
      <p:sp>
        <p:nvSpPr>
          <p:cNvPr id="8" name="">
            <a:extLst xmlns:a="http://schemas.openxmlformats.org/drawingml/2006/main">
              <a:ext uri="{FF2B5EF4-FFF2-40B4-BE49-F238E27FC236}">
                <a16:creationId xmlns:a16="http://schemas.microsoft.com/office/drawing/2014/main" id="{D38B2167-8730-42FC-A56E-8B442E110F4D}"/>
              </a:ext>
            </a:extLst>
          </p:cNvPr>
          <p:cNvSpPr>
            <a:spLocks xmlns:a="http://schemas.openxmlformats.org/drawingml/2006/main" noGrp="1"/>
          </p:cNvSpPr>
          <p:nvPr/>
        </p:nvSpPr>
        <p:spPr>
          <a:xfrm xmlns:a="http://schemas.openxmlformats.org/drawingml/2006/main">
            <a:off x="609600" y="1619250"/>
            <a:ext cx="2028825" cy="3371850"/>
          </a:xfrm>
          <a:prstGeom xmlns:a="http://schemas.openxmlformats.org/drawingml/2006/main" prst="roundRect">
            <a:avLst>
              <a:gd name="adj" fmla="val 3756"/>
            </a:avLst>
          </a:prstGeom>
          <a:solidFill xmlns:a="http://schemas.openxmlformats.org/drawingml/2006/main">
            <a:srgbClr val="EDF2F7"/>
          </a:solidFill>
          <a:ln xmlns:a="http://schemas.openxmlformats.org/drawingml/2006/main" w="9525">
            <a:solidFill>
              <a:srgbClr val="5B6B7C"/>
            </a:solidFill>
          </a:ln>
        </p:spPr>
      </p:sp>
      <p:sp>
        <p:nvSpPr>
          <p:cNvPr id="9" name="">
            <a:extLst xmlns:a="http://schemas.openxmlformats.org/drawingml/2006/main">
              <a:ext uri="{FF2B5EF4-FFF2-40B4-BE49-F238E27FC236}">
                <a16:creationId xmlns:a16="http://schemas.microsoft.com/office/drawing/2014/main" id="{62F210E6-3867-4026-809E-10DB9477DA31}"/>
              </a:ext>
            </a:extLst>
          </p:cNvPr>
          <p:cNvSpPr>
            <a:spLocks xmlns:a="http://schemas.openxmlformats.org/drawingml/2006/main" noGrp="1"/>
          </p:cNvSpPr>
          <p:nvPr/>
        </p:nvSpPr>
        <p:spPr>
          <a:xfrm xmlns:a="http://schemas.openxmlformats.org/drawingml/2006/main">
            <a:off x="1190625" y="1847850"/>
            <a:ext cx="876300" cy="876300"/>
          </a:xfrm>
          <a:prstGeom xmlns:a="http://schemas.openxmlformats.org/drawingml/2006/main" prst="ellipse">
            <a:avLst/>
          </a:prstGeom>
          <a:solidFill xmlns:a="http://schemas.openxmlformats.org/drawingml/2006/main">
            <a:srgbClr val="5B6B7C"/>
          </a:solidFill>
          <a:ln xmlns:a="http://schemas.openxmlformats.org/drawingml/2006/main" w="0">
            <a:solidFill>
              <a:srgbClr val="5B6B7C"/>
            </a:solidFill>
          </a:ln>
        </p:spPr>
      </p:sp>
      <p:sp>
        <p:nvSpPr>
          <p:cNvPr id="10" name="">
            <a:extLst xmlns:a="http://schemas.openxmlformats.org/drawingml/2006/main">
              <a:ext uri="{FF2B5EF4-FFF2-40B4-BE49-F238E27FC236}">
                <a16:creationId xmlns:a16="http://schemas.microsoft.com/office/drawing/2014/main" id="{E5C45C61-5F89-4278-9EC0-62C320D5ADEE}"/>
              </a:ext>
            </a:extLst>
          </p:cNvPr>
          <p:cNvSpPr>
            <a:spLocks xmlns:a="http://schemas.openxmlformats.org/drawingml/2006/main" noGrp="1"/>
          </p:cNvSpPr>
          <p:nvPr/>
        </p:nvSpPr>
        <p:spPr>
          <a:xfrm xmlns:a="http://schemas.openxmlformats.org/drawingml/2006/main">
            <a:off x="1190625" y="1847850"/>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ROLL</a:t>
            </a:r>
          </a:p>
        </p:txBody>
      </p:sp>
      <p:sp>
        <p:nvSpPr>
          <p:cNvPr id="11" name="">
            <a:extLst xmlns:a="http://schemas.openxmlformats.org/drawingml/2006/main">
              <a:ext uri="{FF2B5EF4-FFF2-40B4-BE49-F238E27FC236}">
                <a16:creationId xmlns:a16="http://schemas.microsoft.com/office/drawing/2014/main" id="{62733638-767B-4275-9592-61D9AC5B1214}"/>
              </a:ext>
            </a:extLst>
          </p:cNvPr>
          <p:cNvSpPr>
            <a:spLocks xmlns:a="http://schemas.openxmlformats.org/drawingml/2006/main" noGrp="1"/>
          </p:cNvSpPr>
          <p:nvPr/>
        </p:nvSpPr>
        <p:spPr>
          <a:xfrm xmlns:a="http://schemas.openxmlformats.org/drawingml/2006/main">
            <a:off x="781050" y="29527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071C2C"/>
                </a:solidFill>
                <a:latin typeface="Arial"/>
                <a:ea typeface="Arial"/>
                <a:cs typeface="Arial"/>
              </a:defRPr>
            </a:pPr>
            <a:r>
              <a:rPr sz="1575" b="1" i="0">
                <a:solidFill>
                  <a:srgbClr val="071C2C"/>
                </a:solidFill>
                <a:latin typeface="Arial"/>
                <a:ea typeface="Arial"/>
                <a:cs typeface="Arial"/>
              </a:rPr>
              <a:t>Rolling</a:t>
            </a:r>
          </a:p>
        </p:txBody>
      </p:sp>
      <p:sp>
        <p:nvSpPr>
          <p:cNvPr id="12" name="">
            <a:extLst xmlns:a="http://schemas.openxmlformats.org/drawingml/2006/main">
              <a:ext uri="{FF2B5EF4-FFF2-40B4-BE49-F238E27FC236}">
                <a16:creationId xmlns:a16="http://schemas.microsoft.com/office/drawing/2014/main" id="{9B6AEB99-BC49-4ED5-AFAF-813A76315B4F}"/>
              </a:ext>
            </a:extLst>
          </p:cNvPr>
          <p:cNvSpPr>
            <a:spLocks xmlns:a="http://schemas.openxmlformats.org/drawingml/2006/main" noGrp="1"/>
          </p:cNvSpPr>
          <p:nvPr/>
        </p:nvSpPr>
        <p:spPr>
          <a:xfrm xmlns:a="http://schemas.openxmlformats.org/drawingml/2006/main">
            <a:off x="781050" y="3419475"/>
            <a:ext cx="1685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persistence benchmark</a:t>
            </a:r>
          </a:p>
        </p:txBody>
      </p:sp>
      <p:sp>
        <p:nvSpPr>
          <p:cNvPr id="13" name="">
            <a:extLst xmlns:a="http://schemas.openxmlformats.org/drawingml/2006/main">
              <a:ext uri="{FF2B5EF4-FFF2-40B4-BE49-F238E27FC236}">
                <a16:creationId xmlns:a16="http://schemas.microsoft.com/office/drawing/2014/main" id="{5184B88B-4032-4F76-8110-04581CC88D1F}"/>
              </a:ext>
            </a:extLst>
          </p:cNvPr>
          <p:cNvSpPr>
            <a:spLocks xmlns:a="http://schemas.openxmlformats.org/drawingml/2006/main" noGrp="1"/>
          </p:cNvSpPr>
          <p:nvPr/>
        </p:nvSpPr>
        <p:spPr>
          <a:xfrm xmlns:a="http://schemas.openxmlformats.org/drawingml/2006/main">
            <a:off x="876300" y="4076700"/>
            <a:ext cx="1495425" cy="14288"/>
          </a:xfrm>
          <a:prstGeom xmlns:a="http://schemas.openxmlformats.org/drawingml/2006/main" prst="rect">
            <a:avLst/>
          </a:prstGeom>
          <a:solidFill xmlns:a="http://schemas.openxmlformats.org/drawingml/2006/main">
            <a:srgbClr val="5B6B7C"/>
          </a:solidFill>
          <a:ln xmlns:a="http://schemas.openxmlformats.org/drawingml/2006/main" w="0">
            <a:solidFill>
              <a:srgbClr val="5B6B7C"/>
            </a:solidFill>
          </a:ln>
        </p:spPr>
      </p:sp>
      <p:sp>
        <p:nvSpPr>
          <p:cNvPr id="14" name="">
            <a:extLst xmlns:a="http://schemas.openxmlformats.org/drawingml/2006/main">
              <a:ext uri="{FF2B5EF4-FFF2-40B4-BE49-F238E27FC236}">
                <a16:creationId xmlns:a16="http://schemas.microsoft.com/office/drawing/2014/main" id="{59B096B0-8CDE-4A18-A97C-C2DEDBE223CF}"/>
              </a:ext>
            </a:extLst>
          </p:cNvPr>
          <p:cNvSpPr>
            <a:spLocks xmlns:a="http://schemas.openxmlformats.org/drawingml/2006/main" noGrp="1"/>
          </p:cNvSpPr>
          <p:nvPr/>
        </p:nvSpPr>
        <p:spPr>
          <a:xfrm xmlns:a="http://schemas.openxmlformats.org/drawingml/2006/main">
            <a:off x="781050" y="42957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5B6B7C"/>
                </a:solidFill>
                <a:latin typeface="Arial"/>
                <a:ea typeface="Arial"/>
                <a:cs typeface="Arial"/>
              </a:defRPr>
            </a:pPr>
            <a:r>
              <a:rPr sz="1050" b="1" i="0">
                <a:solidFill>
                  <a:srgbClr val="5B6B7C"/>
                </a:solidFill>
                <a:latin typeface="Arial"/>
                <a:ea typeface="Arial"/>
                <a:cs typeface="Arial"/>
              </a:rPr>
              <a:t>0 fitted parameters</a:t>
            </a:r>
          </a:p>
        </p:txBody>
      </p:sp>
      <p:sp>
        <p:nvSpPr>
          <p:cNvPr id="15" name="">
            <a:extLst xmlns:a="http://schemas.openxmlformats.org/drawingml/2006/main">
              <a:ext uri="{FF2B5EF4-FFF2-40B4-BE49-F238E27FC236}">
                <a16:creationId xmlns:a16="http://schemas.microsoft.com/office/drawing/2014/main" id="{91D3D6E5-D047-40A2-8A57-B19A1C17F4B6}"/>
              </a:ext>
            </a:extLst>
          </p:cNvPr>
          <p:cNvSpPr>
            <a:spLocks xmlns:a="http://schemas.openxmlformats.org/drawingml/2006/main" noGrp="1"/>
          </p:cNvSpPr>
          <p:nvPr/>
        </p:nvSpPr>
        <p:spPr>
          <a:xfrm xmlns:a="http://schemas.openxmlformats.org/drawingml/2006/main">
            <a:off x="2809875" y="1619250"/>
            <a:ext cx="2028825" cy="3371850"/>
          </a:xfrm>
          <a:prstGeom xmlns:a="http://schemas.openxmlformats.org/drawingml/2006/main" prst="roundRect">
            <a:avLst>
              <a:gd name="adj" fmla="val 3756"/>
            </a:avLst>
          </a:prstGeom>
          <a:solidFill xmlns:a="http://schemas.openxmlformats.org/drawingml/2006/main">
            <a:srgbClr val="EAF8F3"/>
          </a:solidFill>
          <a:ln xmlns:a="http://schemas.openxmlformats.org/drawingml/2006/main" w="9525">
            <a:solidFill>
              <a:srgbClr val="159A70"/>
            </a:solidFill>
          </a:ln>
        </p:spPr>
      </p:sp>
      <p:sp>
        <p:nvSpPr>
          <p:cNvPr id="16" name="">
            <a:extLst xmlns:a="http://schemas.openxmlformats.org/drawingml/2006/main">
              <a:ext uri="{FF2B5EF4-FFF2-40B4-BE49-F238E27FC236}">
                <a16:creationId xmlns:a16="http://schemas.microsoft.com/office/drawing/2014/main" id="{0815F0A3-72F2-46BF-B4B9-8880D17EBD33}"/>
              </a:ext>
            </a:extLst>
          </p:cNvPr>
          <p:cNvSpPr>
            <a:spLocks xmlns:a="http://schemas.openxmlformats.org/drawingml/2006/main" noGrp="1"/>
          </p:cNvSpPr>
          <p:nvPr/>
        </p:nvSpPr>
        <p:spPr>
          <a:xfrm xmlns:a="http://schemas.openxmlformats.org/drawingml/2006/main">
            <a:off x="3390900" y="1847850"/>
            <a:ext cx="876300" cy="876300"/>
          </a:xfrm>
          <a:prstGeom xmlns:a="http://schemas.openxmlformats.org/drawingml/2006/main" prst="ellipse">
            <a:avLst/>
          </a:prstGeom>
          <a:solidFill xmlns:a="http://schemas.openxmlformats.org/drawingml/2006/main">
            <a:srgbClr val="159A70"/>
          </a:solidFill>
          <a:ln xmlns:a="http://schemas.openxmlformats.org/drawingml/2006/main" w="0">
            <a:solidFill>
              <a:srgbClr val="159A70"/>
            </a:solidFill>
          </a:ln>
        </p:spPr>
      </p:sp>
      <p:sp>
        <p:nvSpPr>
          <p:cNvPr id="17" name="">
            <a:extLst xmlns:a="http://schemas.openxmlformats.org/drawingml/2006/main">
              <a:ext uri="{FF2B5EF4-FFF2-40B4-BE49-F238E27FC236}">
                <a16:creationId xmlns:a16="http://schemas.microsoft.com/office/drawing/2014/main" id="{A8F63A48-0DB1-40E6-AA3E-C6B141B0BB8D}"/>
              </a:ext>
            </a:extLst>
          </p:cNvPr>
          <p:cNvSpPr>
            <a:spLocks xmlns:a="http://schemas.openxmlformats.org/drawingml/2006/main" noGrp="1"/>
          </p:cNvSpPr>
          <p:nvPr/>
        </p:nvSpPr>
        <p:spPr>
          <a:xfrm xmlns:a="http://schemas.openxmlformats.org/drawingml/2006/main">
            <a:off x="3390900" y="1847850"/>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G</a:t>
            </a:r>
          </a:p>
        </p:txBody>
      </p:sp>
      <p:sp>
        <p:nvSpPr>
          <p:cNvPr id="18" name="">
            <a:extLst xmlns:a="http://schemas.openxmlformats.org/drawingml/2006/main">
              <a:ext uri="{FF2B5EF4-FFF2-40B4-BE49-F238E27FC236}">
                <a16:creationId xmlns:a16="http://schemas.microsoft.com/office/drawing/2014/main" id="{233CA2C2-64C1-4272-B4CA-B372C48A0935}"/>
              </a:ext>
            </a:extLst>
          </p:cNvPr>
          <p:cNvSpPr>
            <a:spLocks xmlns:a="http://schemas.openxmlformats.org/drawingml/2006/main" noGrp="1"/>
          </p:cNvSpPr>
          <p:nvPr/>
        </p:nvSpPr>
        <p:spPr>
          <a:xfrm xmlns:a="http://schemas.openxmlformats.org/drawingml/2006/main">
            <a:off x="2981325" y="29527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071C2C"/>
                </a:solidFill>
                <a:latin typeface="Arial"/>
                <a:ea typeface="Arial"/>
                <a:cs typeface="Arial"/>
              </a:defRPr>
            </a:pPr>
            <a:r>
              <a:rPr sz="1575" b="1" i="0">
                <a:solidFill>
                  <a:srgbClr val="071C2C"/>
                </a:solidFill>
                <a:latin typeface="Arial"/>
                <a:ea typeface="Arial"/>
                <a:cs typeface="Arial"/>
              </a:rPr>
              <a:t>GARCH(1,1)</a:t>
            </a:r>
          </a:p>
        </p:txBody>
      </p:sp>
      <p:sp>
        <p:nvSpPr>
          <p:cNvPr id="19" name="">
            <a:extLst xmlns:a="http://schemas.openxmlformats.org/drawingml/2006/main">
              <a:ext uri="{FF2B5EF4-FFF2-40B4-BE49-F238E27FC236}">
                <a16:creationId xmlns:a16="http://schemas.microsoft.com/office/drawing/2014/main" id="{C8C5E418-0ECC-458B-800C-51765B1D4A34}"/>
              </a:ext>
            </a:extLst>
          </p:cNvPr>
          <p:cNvSpPr>
            <a:spLocks xmlns:a="http://schemas.openxmlformats.org/drawingml/2006/main" noGrp="1"/>
          </p:cNvSpPr>
          <p:nvPr/>
        </p:nvSpPr>
        <p:spPr>
          <a:xfrm xmlns:a="http://schemas.openxmlformats.org/drawingml/2006/main">
            <a:off x="2981325" y="3419475"/>
            <a:ext cx="1685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conditional variance</a:t>
            </a:r>
          </a:p>
        </p:txBody>
      </p:sp>
      <p:sp>
        <p:nvSpPr>
          <p:cNvPr id="20" name="">
            <a:extLst xmlns:a="http://schemas.openxmlformats.org/drawingml/2006/main">
              <a:ext uri="{FF2B5EF4-FFF2-40B4-BE49-F238E27FC236}">
                <a16:creationId xmlns:a16="http://schemas.microsoft.com/office/drawing/2014/main" id="{2BD25100-94F5-4C37-80DB-BD07BFBE8635}"/>
              </a:ext>
            </a:extLst>
          </p:cNvPr>
          <p:cNvSpPr>
            <a:spLocks xmlns:a="http://schemas.openxmlformats.org/drawingml/2006/main" noGrp="1"/>
          </p:cNvSpPr>
          <p:nvPr/>
        </p:nvSpPr>
        <p:spPr>
          <a:xfrm xmlns:a="http://schemas.openxmlformats.org/drawingml/2006/main">
            <a:off x="3076575" y="4076700"/>
            <a:ext cx="1495425" cy="14288"/>
          </a:xfrm>
          <a:prstGeom xmlns:a="http://schemas.openxmlformats.org/drawingml/2006/main" prst="rect">
            <a:avLst/>
          </a:prstGeom>
          <a:solidFill xmlns:a="http://schemas.openxmlformats.org/drawingml/2006/main">
            <a:srgbClr val="159A70"/>
          </a:solidFill>
          <a:ln xmlns:a="http://schemas.openxmlformats.org/drawingml/2006/main" w="0">
            <a:solidFill>
              <a:srgbClr val="159A70"/>
            </a:solidFill>
          </a:ln>
        </p:spPr>
      </p:sp>
      <p:sp>
        <p:nvSpPr>
          <p:cNvPr id="21" name="">
            <a:extLst xmlns:a="http://schemas.openxmlformats.org/drawingml/2006/main">
              <a:ext uri="{FF2B5EF4-FFF2-40B4-BE49-F238E27FC236}">
                <a16:creationId xmlns:a16="http://schemas.microsoft.com/office/drawing/2014/main" id="{BB774714-789F-402E-8B84-74071E6744EF}"/>
              </a:ext>
            </a:extLst>
          </p:cNvPr>
          <p:cNvSpPr>
            <a:spLocks xmlns:a="http://schemas.openxmlformats.org/drawingml/2006/main" noGrp="1"/>
          </p:cNvSpPr>
          <p:nvPr/>
        </p:nvSpPr>
        <p:spPr>
          <a:xfrm xmlns:a="http://schemas.openxmlformats.org/drawingml/2006/main">
            <a:off x="2981325" y="42957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159A70"/>
                </a:solidFill>
                <a:latin typeface="Arial"/>
                <a:ea typeface="Arial"/>
                <a:cs typeface="Arial"/>
              </a:defRPr>
            </a:pPr>
            <a:r>
              <a:rPr sz="1050" b="1" i="0">
                <a:solidFill>
                  <a:srgbClr val="159A70"/>
                </a:solidFill>
                <a:latin typeface="Arial"/>
                <a:ea typeface="Arial"/>
                <a:cs typeface="Arial"/>
              </a:rPr>
              <a:t>3 fitted parameters</a:t>
            </a:r>
          </a:p>
        </p:txBody>
      </p:sp>
      <p:sp>
        <p:nvSpPr>
          <p:cNvPr id="22" name="">
            <a:extLst xmlns:a="http://schemas.openxmlformats.org/drawingml/2006/main">
              <a:ext uri="{FF2B5EF4-FFF2-40B4-BE49-F238E27FC236}">
                <a16:creationId xmlns:a16="http://schemas.microsoft.com/office/drawing/2014/main" id="{36A2E784-7E09-4B77-8D74-9474430530CE}"/>
              </a:ext>
            </a:extLst>
          </p:cNvPr>
          <p:cNvSpPr>
            <a:spLocks xmlns:a="http://schemas.openxmlformats.org/drawingml/2006/main" noGrp="1"/>
          </p:cNvSpPr>
          <p:nvPr/>
        </p:nvSpPr>
        <p:spPr>
          <a:xfrm xmlns:a="http://schemas.openxmlformats.org/drawingml/2006/main">
            <a:off x="5010150" y="1619250"/>
            <a:ext cx="2028825" cy="3371850"/>
          </a:xfrm>
          <a:prstGeom xmlns:a="http://schemas.openxmlformats.org/drawingml/2006/main" prst="roundRect">
            <a:avLst>
              <a:gd name="adj" fmla="val 3756"/>
            </a:avLst>
          </a:prstGeom>
          <a:solidFill xmlns:a="http://schemas.openxmlformats.org/drawingml/2006/main">
            <a:srgbClr val="EAF2FF"/>
          </a:solidFill>
          <a:ln xmlns:a="http://schemas.openxmlformats.org/drawingml/2006/main" w="9525">
            <a:solidFill>
              <a:srgbClr val="1363DF"/>
            </a:solidFill>
          </a:ln>
        </p:spPr>
      </p:sp>
      <p:sp>
        <p:nvSpPr>
          <p:cNvPr id="23" name="">
            <a:extLst xmlns:a="http://schemas.openxmlformats.org/drawingml/2006/main">
              <a:ext uri="{FF2B5EF4-FFF2-40B4-BE49-F238E27FC236}">
                <a16:creationId xmlns:a16="http://schemas.microsoft.com/office/drawing/2014/main" id="{AAE390B5-2358-4181-AEFF-7A6A979E4CEA}"/>
              </a:ext>
            </a:extLst>
          </p:cNvPr>
          <p:cNvSpPr>
            <a:spLocks xmlns:a="http://schemas.openxmlformats.org/drawingml/2006/main" noGrp="1"/>
          </p:cNvSpPr>
          <p:nvPr/>
        </p:nvSpPr>
        <p:spPr>
          <a:xfrm xmlns:a="http://schemas.openxmlformats.org/drawingml/2006/main">
            <a:off x="5591175" y="1847850"/>
            <a:ext cx="876300" cy="876300"/>
          </a:xfrm>
          <a:prstGeom xmlns:a="http://schemas.openxmlformats.org/drawingml/2006/main" prst="ellipse">
            <a:avLst/>
          </a:prstGeom>
          <a:solidFill xmlns:a="http://schemas.openxmlformats.org/drawingml/2006/main">
            <a:srgbClr val="1363DF"/>
          </a:solidFill>
          <a:ln xmlns:a="http://schemas.openxmlformats.org/drawingml/2006/main" w="0">
            <a:solidFill>
              <a:srgbClr val="1363DF"/>
            </a:solidFill>
          </a:ln>
        </p:spPr>
      </p:sp>
      <p:sp>
        <p:nvSpPr>
          <p:cNvPr id="24" name="">
            <a:extLst xmlns:a="http://schemas.openxmlformats.org/drawingml/2006/main">
              <a:ext uri="{FF2B5EF4-FFF2-40B4-BE49-F238E27FC236}">
                <a16:creationId xmlns:a16="http://schemas.microsoft.com/office/drawing/2014/main" id="{DAC28FC0-C4F5-473F-AC78-F57EF2369012}"/>
              </a:ext>
            </a:extLst>
          </p:cNvPr>
          <p:cNvSpPr>
            <a:spLocks xmlns:a="http://schemas.openxmlformats.org/drawingml/2006/main" noGrp="1"/>
          </p:cNvSpPr>
          <p:nvPr/>
        </p:nvSpPr>
        <p:spPr>
          <a:xfrm xmlns:a="http://schemas.openxmlformats.org/drawingml/2006/main">
            <a:off x="5591175" y="1847850"/>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β</a:t>
            </a:r>
          </a:p>
        </p:txBody>
      </p:sp>
      <p:sp>
        <p:nvSpPr>
          <p:cNvPr id="25" name="">
            <a:extLst xmlns:a="http://schemas.openxmlformats.org/drawingml/2006/main">
              <a:ext uri="{FF2B5EF4-FFF2-40B4-BE49-F238E27FC236}">
                <a16:creationId xmlns:a16="http://schemas.microsoft.com/office/drawing/2014/main" id="{9E9F4B87-F974-4665-85E4-2B71795E404E}"/>
              </a:ext>
            </a:extLst>
          </p:cNvPr>
          <p:cNvSpPr>
            <a:spLocks xmlns:a="http://schemas.openxmlformats.org/drawingml/2006/main" noGrp="1"/>
          </p:cNvSpPr>
          <p:nvPr/>
        </p:nvSpPr>
        <p:spPr>
          <a:xfrm xmlns:a="http://schemas.openxmlformats.org/drawingml/2006/main">
            <a:off x="5181600" y="29527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071C2C"/>
                </a:solidFill>
                <a:latin typeface="Arial"/>
                <a:ea typeface="Arial"/>
                <a:cs typeface="Arial"/>
              </a:defRPr>
            </a:pPr>
            <a:r>
              <a:rPr sz="1575" b="1" i="0">
                <a:solidFill>
                  <a:srgbClr val="071C2C"/>
                </a:solidFill>
                <a:latin typeface="Arial"/>
                <a:ea typeface="Arial"/>
                <a:cs typeface="Arial"/>
              </a:rPr>
              <a:t>Linear</a:t>
            </a:r>
          </a:p>
        </p:txBody>
      </p:sp>
      <p:sp>
        <p:nvSpPr>
          <p:cNvPr id="26" name="">
            <a:extLst xmlns:a="http://schemas.openxmlformats.org/drawingml/2006/main">
              <a:ext uri="{FF2B5EF4-FFF2-40B4-BE49-F238E27FC236}">
                <a16:creationId xmlns:a16="http://schemas.microsoft.com/office/drawing/2014/main" id="{BE8DF803-B6A4-4699-8D5C-CF346807A5CF}"/>
              </a:ext>
            </a:extLst>
          </p:cNvPr>
          <p:cNvSpPr>
            <a:spLocks xmlns:a="http://schemas.openxmlformats.org/drawingml/2006/main" noGrp="1"/>
          </p:cNvSpPr>
          <p:nvPr/>
        </p:nvSpPr>
        <p:spPr>
          <a:xfrm xmlns:a="http://schemas.openxmlformats.org/drawingml/2006/main">
            <a:off x="5181600" y="3419475"/>
            <a:ext cx="1685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lag-feature check</a:t>
            </a:r>
          </a:p>
        </p:txBody>
      </p:sp>
      <p:sp>
        <p:nvSpPr>
          <p:cNvPr id="27" name="">
            <a:extLst xmlns:a="http://schemas.openxmlformats.org/drawingml/2006/main">
              <a:ext uri="{FF2B5EF4-FFF2-40B4-BE49-F238E27FC236}">
                <a16:creationId xmlns:a16="http://schemas.microsoft.com/office/drawing/2014/main" id="{F8163705-07D8-4150-A448-14DC95C0E09D}"/>
              </a:ext>
            </a:extLst>
          </p:cNvPr>
          <p:cNvSpPr>
            <a:spLocks xmlns:a="http://schemas.openxmlformats.org/drawingml/2006/main" noGrp="1"/>
          </p:cNvSpPr>
          <p:nvPr/>
        </p:nvSpPr>
        <p:spPr>
          <a:xfrm xmlns:a="http://schemas.openxmlformats.org/drawingml/2006/main">
            <a:off x="5276850" y="4076700"/>
            <a:ext cx="1495425" cy="14288"/>
          </a:xfrm>
          <a:prstGeom xmlns:a="http://schemas.openxmlformats.org/drawingml/2006/main" prst="rect">
            <a:avLst/>
          </a:prstGeom>
          <a:solidFill xmlns:a="http://schemas.openxmlformats.org/drawingml/2006/main">
            <a:srgbClr val="1363DF"/>
          </a:solidFill>
          <a:ln xmlns:a="http://schemas.openxmlformats.org/drawingml/2006/main" w="0">
            <a:solidFill>
              <a:srgbClr val="1363DF"/>
            </a:solidFill>
          </a:ln>
        </p:spPr>
      </p:sp>
      <p:sp>
        <p:nvSpPr>
          <p:cNvPr id="28" name="">
            <a:extLst xmlns:a="http://schemas.openxmlformats.org/drawingml/2006/main">
              <a:ext uri="{FF2B5EF4-FFF2-40B4-BE49-F238E27FC236}">
                <a16:creationId xmlns:a16="http://schemas.microsoft.com/office/drawing/2014/main" id="{E18ED345-3E75-41A6-906F-56745B280E1C}"/>
              </a:ext>
            </a:extLst>
          </p:cNvPr>
          <p:cNvSpPr>
            <a:spLocks xmlns:a="http://schemas.openxmlformats.org/drawingml/2006/main" noGrp="1"/>
          </p:cNvSpPr>
          <p:nvPr/>
        </p:nvSpPr>
        <p:spPr>
          <a:xfrm xmlns:a="http://schemas.openxmlformats.org/drawingml/2006/main">
            <a:off x="5181600" y="42957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1363DF"/>
                </a:solidFill>
                <a:latin typeface="Arial"/>
                <a:ea typeface="Arial"/>
                <a:cs typeface="Arial"/>
              </a:defRPr>
            </a:pPr>
            <a:r>
              <a:rPr sz="1050" b="1" i="0">
                <a:solidFill>
                  <a:srgbClr val="1363DF"/>
                </a:solidFill>
                <a:latin typeface="Arial"/>
                <a:ea typeface="Arial"/>
                <a:cs typeface="Arial"/>
              </a:rPr>
              <a:t>26 coefficients</a:t>
            </a:r>
          </a:p>
        </p:txBody>
      </p:sp>
      <p:sp>
        <p:nvSpPr>
          <p:cNvPr id="29" name="">
            <a:extLst xmlns:a="http://schemas.openxmlformats.org/drawingml/2006/main">
              <a:ext uri="{FF2B5EF4-FFF2-40B4-BE49-F238E27FC236}">
                <a16:creationId xmlns:a16="http://schemas.microsoft.com/office/drawing/2014/main" id="{7A826694-4BCF-4669-BDCE-22554197F4ED}"/>
              </a:ext>
            </a:extLst>
          </p:cNvPr>
          <p:cNvSpPr>
            <a:spLocks xmlns:a="http://schemas.openxmlformats.org/drawingml/2006/main" noGrp="1"/>
          </p:cNvSpPr>
          <p:nvPr/>
        </p:nvSpPr>
        <p:spPr>
          <a:xfrm xmlns:a="http://schemas.openxmlformats.org/drawingml/2006/main">
            <a:off x="7210425" y="1619250"/>
            <a:ext cx="2028825" cy="3371850"/>
          </a:xfrm>
          <a:prstGeom xmlns:a="http://schemas.openxmlformats.org/drawingml/2006/main" prst="roundRect">
            <a:avLst>
              <a:gd name="adj" fmla="val 3756"/>
            </a:avLst>
          </a:prstGeom>
          <a:solidFill xmlns:a="http://schemas.openxmlformats.org/drawingml/2006/main">
            <a:srgbClr val="FFF6DF"/>
          </a:solidFill>
          <a:ln xmlns:a="http://schemas.openxmlformats.org/drawingml/2006/main" w="9525">
            <a:solidFill>
              <a:srgbClr val="F4B942"/>
            </a:solidFill>
          </a:ln>
        </p:spPr>
      </p:sp>
      <p:sp>
        <p:nvSpPr>
          <p:cNvPr id="30" name="">
            <a:extLst xmlns:a="http://schemas.openxmlformats.org/drawingml/2006/main">
              <a:ext uri="{FF2B5EF4-FFF2-40B4-BE49-F238E27FC236}">
                <a16:creationId xmlns:a16="http://schemas.microsoft.com/office/drawing/2014/main" id="{0A1E0262-B97E-4428-81DF-6BE3D2BC9303}"/>
              </a:ext>
            </a:extLst>
          </p:cNvPr>
          <p:cNvSpPr>
            <a:spLocks xmlns:a="http://schemas.openxmlformats.org/drawingml/2006/main" noGrp="1"/>
          </p:cNvSpPr>
          <p:nvPr/>
        </p:nvSpPr>
        <p:spPr>
          <a:xfrm xmlns:a="http://schemas.openxmlformats.org/drawingml/2006/main">
            <a:off x="7791450" y="1847850"/>
            <a:ext cx="876300" cy="876300"/>
          </a:xfrm>
          <a:prstGeom xmlns:a="http://schemas.openxmlformats.org/drawingml/2006/main" prst="ellipse">
            <a:avLst/>
          </a:prstGeom>
          <a:solidFill xmlns:a="http://schemas.openxmlformats.org/drawingml/2006/main">
            <a:srgbClr val="F4B942"/>
          </a:solidFill>
          <a:ln xmlns:a="http://schemas.openxmlformats.org/drawingml/2006/main" w="0">
            <a:solidFill>
              <a:srgbClr val="F4B942"/>
            </a:solidFill>
          </a:ln>
        </p:spPr>
      </p:sp>
      <p:sp>
        <p:nvSpPr>
          <p:cNvPr id="31" name="">
            <a:extLst xmlns:a="http://schemas.openxmlformats.org/drawingml/2006/main">
              <a:ext uri="{FF2B5EF4-FFF2-40B4-BE49-F238E27FC236}">
                <a16:creationId xmlns:a16="http://schemas.microsoft.com/office/drawing/2014/main" id="{D84D93C9-EB71-4CA3-9124-C1E9E82C805C}"/>
              </a:ext>
            </a:extLst>
          </p:cNvPr>
          <p:cNvSpPr>
            <a:spLocks xmlns:a="http://schemas.openxmlformats.org/drawingml/2006/main" noGrp="1"/>
          </p:cNvSpPr>
          <p:nvPr/>
        </p:nvSpPr>
        <p:spPr>
          <a:xfrm xmlns:a="http://schemas.openxmlformats.org/drawingml/2006/main">
            <a:off x="7791450" y="1847850"/>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RF</a:t>
            </a:r>
          </a:p>
        </p:txBody>
      </p:sp>
      <p:sp>
        <p:nvSpPr>
          <p:cNvPr id="32" name="">
            <a:extLst xmlns:a="http://schemas.openxmlformats.org/drawingml/2006/main">
              <a:ext uri="{FF2B5EF4-FFF2-40B4-BE49-F238E27FC236}">
                <a16:creationId xmlns:a16="http://schemas.microsoft.com/office/drawing/2014/main" id="{CD9804A0-B8DF-4D5B-A43E-20DBEC774616}"/>
              </a:ext>
            </a:extLst>
          </p:cNvPr>
          <p:cNvSpPr>
            <a:spLocks xmlns:a="http://schemas.openxmlformats.org/drawingml/2006/main" noGrp="1"/>
          </p:cNvSpPr>
          <p:nvPr/>
        </p:nvSpPr>
        <p:spPr>
          <a:xfrm xmlns:a="http://schemas.openxmlformats.org/drawingml/2006/main">
            <a:off x="7381875" y="29527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071C2C"/>
                </a:solidFill>
                <a:latin typeface="Arial"/>
                <a:ea typeface="Arial"/>
                <a:cs typeface="Arial"/>
              </a:defRPr>
            </a:pPr>
            <a:r>
              <a:rPr sz="1575" b="1" i="0">
                <a:solidFill>
                  <a:srgbClr val="071C2C"/>
                </a:solidFill>
                <a:latin typeface="Arial"/>
                <a:ea typeface="Arial"/>
                <a:cs typeface="Arial"/>
              </a:rPr>
              <a:t>Random Forest</a:t>
            </a:r>
          </a:p>
        </p:txBody>
      </p:sp>
      <p:sp>
        <p:nvSpPr>
          <p:cNvPr id="33" name="">
            <a:extLst xmlns:a="http://schemas.openxmlformats.org/drawingml/2006/main">
              <a:ext uri="{FF2B5EF4-FFF2-40B4-BE49-F238E27FC236}">
                <a16:creationId xmlns:a16="http://schemas.microsoft.com/office/drawing/2014/main" id="{815AA379-E90F-4AD4-82C6-D5809FE09C16}"/>
              </a:ext>
            </a:extLst>
          </p:cNvPr>
          <p:cNvSpPr>
            <a:spLocks xmlns:a="http://schemas.openxmlformats.org/drawingml/2006/main" noGrp="1"/>
          </p:cNvSpPr>
          <p:nvPr/>
        </p:nvSpPr>
        <p:spPr>
          <a:xfrm xmlns:a="http://schemas.openxmlformats.org/drawingml/2006/main">
            <a:off x="7381875" y="3419475"/>
            <a:ext cx="1685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nonlinear tabular</a:t>
            </a:r>
          </a:p>
        </p:txBody>
      </p:sp>
      <p:sp>
        <p:nvSpPr>
          <p:cNvPr id="34" name="">
            <a:extLst xmlns:a="http://schemas.openxmlformats.org/drawingml/2006/main">
              <a:ext uri="{FF2B5EF4-FFF2-40B4-BE49-F238E27FC236}">
                <a16:creationId xmlns:a16="http://schemas.microsoft.com/office/drawing/2014/main" id="{0E0CAC7D-CF4E-49B0-BE04-29D6509F3B3D}"/>
              </a:ext>
            </a:extLst>
          </p:cNvPr>
          <p:cNvSpPr>
            <a:spLocks xmlns:a="http://schemas.openxmlformats.org/drawingml/2006/main" noGrp="1"/>
          </p:cNvSpPr>
          <p:nvPr/>
        </p:nvSpPr>
        <p:spPr>
          <a:xfrm xmlns:a="http://schemas.openxmlformats.org/drawingml/2006/main">
            <a:off x="7477125" y="4076700"/>
            <a:ext cx="1495425" cy="14288"/>
          </a:xfrm>
          <a:prstGeom xmlns:a="http://schemas.openxmlformats.org/drawingml/2006/main" prst="rect">
            <a:avLst/>
          </a:prstGeom>
          <a:solidFill xmlns:a="http://schemas.openxmlformats.org/drawingml/2006/main">
            <a:srgbClr val="F4B942"/>
          </a:solidFill>
          <a:ln xmlns:a="http://schemas.openxmlformats.org/drawingml/2006/main" w="0">
            <a:solidFill>
              <a:srgbClr val="F4B942"/>
            </a:solidFill>
          </a:ln>
        </p:spPr>
      </p:sp>
      <p:sp>
        <p:nvSpPr>
          <p:cNvPr id="35" name="">
            <a:extLst xmlns:a="http://schemas.openxmlformats.org/drawingml/2006/main">
              <a:ext uri="{FF2B5EF4-FFF2-40B4-BE49-F238E27FC236}">
                <a16:creationId xmlns:a16="http://schemas.microsoft.com/office/drawing/2014/main" id="{25DF5651-A39E-48A7-855D-E36D9EC2B09A}"/>
              </a:ext>
            </a:extLst>
          </p:cNvPr>
          <p:cNvSpPr>
            <a:spLocks xmlns:a="http://schemas.openxmlformats.org/drawingml/2006/main" noGrp="1"/>
          </p:cNvSpPr>
          <p:nvPr/>
        </p:nvSpPr>
        <p:spPr>
          <a:xfrm xmlns:a="http://schemas.openxmlformats.org/drawingml/2006/main">
            <a:off x="7381875" y="42957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F4B942"/>
                </a:solidFill>
                <a:latin typeface="Arial"/>
                <a:ea typeface="Arial"/>
                <a:cs typeface="Arial"/>
              </a:defRPr>
            </a:pPr>
            <a:r>
              <a:rPr sz="1050" b="1" i="0">
                <a:solidFill>
                  <a:srgbClr val="F4B942"/>
                </a:solidFill>
                <a:latin typeface="Arial"/>
                <a:ea typeface="Arial"/>
                <a:cs typeface="Arial"/>
              </a:rPr>
              <a:t>6 training-only candidates</a:t>
            </a:r>
          </a:p>
        </p:txBody>
      </p:sp>
      <p:sp>
        <p:nvSpPr>
          <p:cNvPr id="36" name="">
            <a:extLst xmlns:a="http://schemas.openxmlformats.org/drawingml/2006/main">
              <a:ext uri="{FF2B5EF4-FFF2-40B4-BE49-F238E27FC236}">
                <a16:creationId xmlns:a16="http://schemas.microsoft.com/office/drawing/2014/main" id="{4A73C942-B126-48D3-BE4A-27B805527347}"/>
              </a:ext>
            </a:extLst>
          </p:cNvPr>
          <p:cNvSpPr>
            <a:spLocks xmlns:a="http://schemas.openxmlformats.org/drawingml/2006/main" noGrp="1"/>
          </p:cNvSpPr>
          <p:nvPr/>
        </p:nvSpPr>
        <p:spPr>
          <a:xfrm xmlns:a="http://schemas.openxmlformats.org/drawingml/2006/main">
            <a:off x="9410700" y="1619250"/>
            <a:ext cx="2028825" cy="3371850"/>
          </a:xfrm>
          <a:prstGeom xmlns:a="http://schemas.openxmlformats.org/drawingml/2006/main" prst="roundRect">
            <a:avLst>
              <a:gd name="adj" fmla="val 3756"/>
            </a:avLst>
          </a:prstGeom>
          <a:solidFill xmlns:a="http://schemas.openxmlformats.org/drawingml/2006/main">
            <a:srgbClr val="FDECEC"/>
          </a:solidFill>
          <a:ln xmlns:a="http://schemas.openxmlformats.org/drawingml/2006/main" w="9525">
            <a:solidFill>
              <a:srgbClr val="E45756"/>
            </a:solidFill>
          </a:ln>
        </p:spPr>
      </p:sp>
      <p:sp>
        <p:nvSpPr>
          <p:cNvPr id="37" name="">
            <a:extLst xmlns:a="http://schemas.openxmlformats.org/drawingml/2006/main">
              <a:ext uri="{FF2B5EF4-FFF2-40B4-BE49-F238E27FC236}">
                <a16:creationId xmlns:a16="http://schemas.microsoft.com/office/drawing/2014/main" id="{B098D856-3C09-4CE0-9919-725EEBA0B813}"/>
              </a:ext>
            </a:extLst>
          </p:cNvPr>
          <p:cNvSpPr>
            <a:spLocks xmlns:a="http://schemas.openxmlformats.org/drawingml/2006/main" noGrp="1"/>
          </p:cNvSpPr>
          <p:nvPr/>
        </p:nvSpPr>
        <p:spPr>
          <a:xfrm xmlns:a="http://schemas.openxmlformats.org/drawingml/2006/main">
            <a:off x="9991725" y="1847850"/>
            <a:ext cx="876300" cy="876300"/>
          </a:xfrm>
          <a:prstGeom xmlns:a="http://schemas.openxmlformats.org/drawingml/2006/main" prst="ellipse">
            <a:avLst/>
          </a:prstGeom>
          <a:solidFill xmlns:a="http://schemas.openxmlformats.org/drawingml/2006/main">
            <a:srgbClr val="E45756"/>
          </a:solidFill>
          <a:ln xmlns:a="http://schemas.openxmlformats.org/drawingml/2006/main" w="0">
            <a:solidFill>
              <a:srgbClr val="E45756"/>
            </a:solidFill>
          </a:ln>
        </p:spPr>
      </p:sp>
      <p:sp>
        <p:nvSpPr>
          <p:cNvPr id="38" name="">
            <a:extLst xmlns:a="http://schemas.openxmlformats.org/drawingml/2006/main">
              <a:ext uri="{FF2B5EF4-FFF2-40B4-BE49-F238E27FC236}">
                <a16:creationId xmlns:a16="http://schemas.microsoft.com/office/drawing/2014/main" id="{78321A2B-87EA-4B48-BC3A-D4C12A33B5FD}"/>
              </a:ext>
            </a:extLst>
          </p:cNvPr>
          <p:cNvSpPr>
            <a:spLocks xmlns:a="http://schemas.openxmlformats.org/drawingml/2006/main" noGrp="1"/>
          </p:cNvSpPr>
          <p:nvPr/>
        </p:nvSpPr>
        <p:spPr>
          <a:xfrm xmlns:a="http://schemas.openxmlformats.org/drawingml/2006/main">
            <a:off x="9991725" y="1847850"/>
            <a:ext cx="87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L</a:t>
            </a:r>
          </a:p>
        </p:txBody>
      </p:sp>
      <p:sp>
        <p:nvSpPr>
          <p:cNvPr id="39" name="">
            <a:extLst xmlns:a="http://schemas.openxmlformats.org/drawingml/2006/main">
              <a:ext uri="{FF2B5EF4-FFF2-40B4-BE49-F238E27FC236}">
                <a16:creationId xmlns:a16="http://schemas.microsoft.com/office/drawing/2014/main" id="{555FAAF8-5BCF-466C-9C00-5880D23EA8A1}"/>
              </a:ext>
            </a:extLst>
          </p:cNvPr>
          <p:cNvSpPr>
            <a:spLocks xmlns:a="http://schemas.openxmlformats.org/drawingml/2006/main" noGrp="1"/>
          </p:cNvSpPr>
          <p:nvPr/>
        </p:nvSpPr>
        <p:spPr>
          <a:xfrm xmlns:a="http://schemas.openxmlformats.org/drawingml/2006/main">
            <a:off x="9582150" y="2952750"/>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071C2C"/>
                </a:solidFill>
                <a:latin typeface="Arial"/>
                <a:ea typeface="Arial"/>
                <a:cs typeface="Arial"/>
              </a:defRPr>
            </a:pPr>
            <a:r>
              <a:rPr sz="1575" b="1" i="0">
                <a:solidFill>
                  <a:srgbClr val="071C2C"/>
                </a:solidFill>
                <a:latin typeface="Arial"/>
                <a:ea typeface="Arial"/>
                <a:cs typeface="Arial"/>
              </a:rPr>
              <a:t>LSTM</a:t>
            </a:r>
          </a:p>
        </p:txBody>
      </p:sp>
      <p:sp>
        <p:nvSpPr>
          <p:cNvPr id="40" name="">
            <a:extLst xmlns:a="http://schemas.openxmlformats.org/drawingml/2006/main">
              <a:ext uri="{FF2B5EF4-FFF2-40B4-BE49-F238E27FC236}">
                <a16:creationId xmlns:a16="http://schemas.microsoft.com/office/drawing/2014/main" id="{F892E9B6-2266-41E2-BC4B-9149A78F2D50}"/>
              </a:ext>
            </a:extLst>
          </p:cNvPr>
          <p:cNvSpPr>
            <a:spLocks xmlns:a="http://schemas.openxmlformats.org/drawingml/2006/main" noGrp="1"/>
          </p:cNvSpPr>
          <p:nvPr/>
        </p:nvSpPr>
        <p:spPr>
          <a:xfrm xmlns:a="http://schemas.openxmlformats.org/drawingml/2006/main">
            <a:off x="9582150" y="3419475"/>
            <a:ext cx="1685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i="0">
                <a:solidFill>
                  <a:srgbClr val="5B6B7C"/>
                </a:solidFill>
                <a:latin typeface="Arial"/>
                <a:ea typeface="Arial"/>
                <a:cs typeface="Arial"/>
              </a:defRPr>
            </a:pPr>
            <a:r>
              <a:rPr sz="1125" b="0" i="0">
                <a:solidFill>
                  <a:srgbClr val="5B6B7C"/>
                </a:solidFill>
                <a:latin typeface="Arial"/>
                <a:ea typeface="Arial"/>
                <a:cs typeface="Arial"/>
              </a:rPr>
              <a:t>nonlinear sequence</a:t>
            </a:r>
          </a:p>
        </p:txBody>
      </p:sp>
      <p:sp>
        <p:nvSpPr>
          <p:cNvPr id="41" name="">
            <a:extLst xmlns:a="http://schemas.openxmlformats.org/drawingml/2006/main">
              <a:ext uri="{FF2B5EF4-FFF2-40B4-BE49-F238E27FC236}">
                <a16:creationId xmlns:a16="http://schemas.microsoft.com/office/drawing/2014/main" id="{990596DE-1202-4E6F-8DDF-530B4E2B2AE6}"/>
              </a:ext>
            </a:extLst>
          </p:cNvPr>
          <p:cNvSpPr>
            <a:spLocks xmlns:a="http://schemas.openxmlformats.org/drawingml/2006/main" noGrp="1"/>
          </p:cNvSpPr>
          <p:nvPr/>
        </p:nvSpPr>
        <p:spPr>
          <a:xfrm xmlns:a="http://schemas.openxmlformats.org/drawingml/2006/main">
            <a:off x="9677400" y="4076700"/>
            <a:ext cx="1495425" cy="14288"/>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ln>
        </p:spPr>
      </p:sp>
      <p:sp>
        <p:nvSpPr>
          <p:cNvPr id="42" name="">
            <a:extLst xmlns:a="http://schemas.openxmlformats.org/drawingml/2006/main">
              <a:ext uri="{FF2B5EF4-FFF2-40B4-BE49-F238E27FC236}">
                <a16:creationId xmlns:a16="http://schemas.microsoft.com/office/drawing/2014/main" id="{A049C256-BD1A-4C7E-A93E-3AB927E41E83}"/>
              </a:ext>
            </a:extLst>
          </p:cNvPr>
          <p:cNvSpPr>
            <a:spLocks xmlns:a="http://schemas.openxmlformats.org/drawingml/2006/main" noGrp="1"/>
          </p:cNvSpPr>
          <p:nvPr/>
        </p:nvSpPr>
        <p:spPr>
          <a:xfrm xmlns:a="http://schemas.openxmlformats.org/drawingml/2006/main">
            <a:off x="9582150" y="42957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E45756"/>
                </a:solidFill>
                <a:latin typeface="Arial"/>
                <a:ea typeface="Arial"/>
                <a:cs typeface="Arial"/>
              </a:defRPr>
            </a:pPr>
            <a:r>
              <a:rPr sz="1050" b="1" i="0">
                <a:solidFill>
                  <a:srgbClr val="E45756"/>
                </a:solidFill>
                <a:latin typeface="Arial"/>
                <a:ea typeface="Arial"/>
                <a:cs typeface="Arial"/>
              </a:rPr>
              <a:t>4 candidates + early stopping</a:t>
            </a:r>
          </a:p>
        </p:txBody>
      </p:sp>
      <p:sp>
        <p:nvSpPr>
          <p:cNvPr id="43" name="">
            <a:extLst xmlns:a="http://schemas.openxmlformats.org/drawingml/2006/main">
              <a:ext uri="{FF2B5EF4-FFF2-40B4-BE49-F238E27FC236}">
                <a16:creationId xmlns:a16="http://schemas.microsoft.com/office/drawing/2014/main" id="{439AA051-9B13-4473-B6F9-7460F5C9DF64}"/>
              </a:ext>
            </a:extLst>
          </p:cNvPr>
          <p:cNvSpPr>
            <a:spLocks xmlns:a="http://schemas.openxmlformats.org/drawingml/2006/main" noGrp="1"/>
          </p:cNvSpPr>
          <p:nvPr/>
        </p:nvSpPr>
        <p:spPr>
          <a:xfrm xmlns:a="http://schemas.openxmlformats.org/drawingml/2006/main">
            <a:off x="609600" y="5286375"/>
            <a:ext cx="10972800" cy="742950"/>
          </a:xfrm>
          <a:prstGeom xmlns:a="http://schemas.openxmlformats.org/drawingml/2006/main" prst="roundRect">
            <a:avLst>
              <a:gd name="adj" fmla="val 10256"/>
            </a:avLst>
          </a:prstGeom>
          <a:solidFill xmlns:a="http://schemas.openxmlformats.org/drawingml/2006/main">
            <a:srgbClr val="071C2C"/>
          </a:solidFill>
          <a:ln xmlns:a="http://schemas.openxmlformats.org/drawingml/2006/main" w="9525">
            <a:solidFill>
              <a:srgbClr val="071C2C"/>
            </a:solidFill>
          </a:ln>
        </p:spPr>
      </p:sp>
      <p:sp>
        <p:nvSpPr>
          <p:cNvPr id="44" name="">
            <a:extLst xmlns:a="http://schemas.openxmlformats.org/drawingml/2006/main">
              <a:ext uri="{FF2B5EF4-FFF2-40B4-BE49-F238E27FC236}">
                <a16:creationId xmlns:a16="http://schemas.microsoft.com/office/drawing/2014/main" id="{713E512D-798F-4EA9-9497-EE327F37948C}"/>
              </a:ext>
            </a:extLst>
          </p:cNvPr>
          <p:cNvSpPr>
            <a:spLocks xmlns:a="http://schemas.openxmlformats.org/drawingml/2006/main" noGrp="1"/>
          </p:cNvSpPr>
          <p:nvPr/>
        </p:nvSpPr>
        <p:spPr>
          <a:xfrm xmlns:a="http://schemas.openxmlformats.org/drawingml/2006/main">
            <a:off x="857250" y="54578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i="0">
                <a:solidFill>
                  <a:srgbClr val="24C1D6"/>
                </a:solidFill>
                <a:latin typeface="Arial"/>
                <a:ea typeface="Arial"/>
                <a:cs typeface="Arial"/>
              </a:defRPr>
            </a:pPr>
            <a:r>
              <a:rPr sz="1275" b="1" i="0">
                <a:solidFill>
                  <a:srgbClr val="24C1D6"/>
                </a:solidFill>
                <a:latin typeface="Arial"/>
                <a:ea typeface="Arial"/>
                <a:cs typeface="Arial"/>
              </a:rPr>
              <a:t>Fairness boundary</a:t>
            </a:r>
          </a:p>
        </p:txBody>
      </p:sp>
      <p:sp>
        <p:nvSpPr>
          <p:cNvPr id="45" name="">
            <a:extLst xmlns:a="http://schemas.openxmlformats.org/drawingml/2006/main">
              <a:ext uri="{FF2B5EF4-FFF2-40B4-BE49-F238E27FC236}">
                <a16:creationId xmlns:a16="http://schemas.microsoft.com/office/drawing/2014/main" id="{250D460D-4027-41F4-ABA4-00D1807AE563}"/>
              </a:ext>
            </a:extLst>
          </p:cNvPr>
          <p:cNvSpPr>
            <a:spLocks xmlns:a="http://schemas.openxmlformats.org/drawingml/2006/main" noGrp="1"/>
          </p:cNvSpPr>
          <p:nvPr/>
        </p:nvSpPr>
        <p:spPr>
          <a:xfrm xmlns:a="http://schemas.openxmlformats.org/drawingml/2006/main">
            <a:off x="2762250" y="5429250"/>
            <a:ext cx="842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ML uses engineered/sequence inputs; GARCH uses returns. Conclusions apply to these full pipelines.</a:t>
            </a:r>
          </a:p>
        </p:txBody>
      </p:sp>
    </p:spTree>
    <p:extLst>
      <p:ext uri="{BB962C8B-B14F-4D97-AF65-F5344CB8AC3E}">
        <p14:creationId xmlns:p14="http://schemas.microsoft.com/office/powerpoint/2010/main" val="12490268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F18961E-DEFE-47C6-9DA0-971B158FFF45}"/>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B9CAD18C-FC00-4178-9EFF-103D405EE656}"/>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PRIMARY HOLDOUT RESULT</a:t>
            </a:r>
          </a:p>
        </p:txBody>
      </p:sp>
      <p:sp>
        <p:nvSpPr>
          <p:cNvPr id="3" name="">
            <a:extLst xmlns:a="http://schemas.openxmlformats.org/drawingml/2006/main">
              <a:ext uri="{FF2B5EF4-FFF2-40B4-BE49-F238E27FC236}">
                <a16:creationId xmlns:a16="http://schemas.microsoft.com/office/drawing/2014/main" id="{709B04C7-3E88-43A5-9599-39FFA8342782}"/>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GARCH wins; neither ML model beats rolling</a:t>
            </a:r>
          </a:p>
        </p:txBody>
      </p:sp>
      <p:sp>
        <p:nvSpPr>
          <p:cNvPr id="4" name="">
            <a:extLst xmlns:a="http://schemas.openxmlformats.org/drawingml/2006/main">
              <a:ext uri="{FF2B5EF4-FFF2-40B4-BE49-F238E27FC236}">
                <a16:creationId xmlns:a16="http://schemas.microsoft.com/office/drawing/2014/main" id="{AB4CB6D3-0079-4648-AD69-34CF4D1D1B4A}"/>
              </a:ext>
            </a:extLst>
          </p:cNvPr>
          <p:cNvSpPr>
            <a:spLocks xmlns:a="http://schemas.openxmlformats.org/drawingml/2006/main" noGrp="1"/>
          </p:cNvSpPr>
          <p:nvPr/>
        </p:nvSpPr>
        <p:spPr>
          <a:xfrm xmlns:a="http://schemas.openxmlformats.org/drawingml/2006/main">
            <a:off x="609600" y="1000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i="0">
                <a:solidFill>
                  <a:srgbClr val="5B6B7C"/>
                </a:solidFill>
                <a:latin typeface="Arial"/>
                <a:ea typeface="Arial"/>
                <a:cs typeface="Arial"/>
              </a:defRPr>
            </a:pPr>
            <a:r>
              <a:rPr sz="1200" b="0" i="0">
                <a:solidFill>
                  <a:srgbClr val="5B6B7C"/>
                </a:solidFill>
                <a:latin typeface="Arial"/>
                <a:ea typeface="Arial"/>
                <a:cs typeface="Arial"/>
              </a:rPr>
              <a:t>30-day target · 276 observations · lower loss is better</a:t>
            </a:r>
          </a:p>
        </p:txBody>
      </p:sp>
      <p:sp>
        <p:nvSpPr>
          <p:cNvPr id="5" name="">
            <a:extLst xmlns:a="http://schemas.openxmlformats.org/drawingml/2006/main">
              <a:ext uri="{FF2B5EF4-FFF2-40B4-BE49-F238E27FC236}">
                <a16:creationId xmlns:a16="http://schemas.microsoft.com/office/drawing/2014/main" id="{7265B8A2-F13F-4A6C-81A7-A7ABF037F8B6}"/>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6" name="">
            <a:extLst xmlns:a="http://schemas.openxmlformats.org/drawingml/2006/main">
              <a:ext uri="{FF2B5EF4-FFF2-40B4-BE49-F238E27FC236}">
                <a16:creationId xmlns:a16="http://schemas.microsoft.com/office/drawing/2014/main" id="{BE4790C6-2E87-4FB3-A127-7BB60C04E75B}"/>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7" name="">
            <a:extLst xmlns:a="http://schemas.openxmlformats.org/drawingml/2006/main">
              <a:ext uri="{FF2B5EF4-FFF2-40B4-BE49-F238E27FC236}">
                <a16:creationId xmlns:a16="http://schemas.microsoft.com/office/drawing/2014/main" id="{6DABA3E1-61EA-4FC0-94F2-CB1B4CA2D4D8}"/>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06 / 10</a:t>
            </a:r>
          </a:p>
        </p:txBody>
      </p:sp>
      <p:graphicFrame>
        <p:nvGraphicFramePr>
          <p:cNvPr id="30" name="Chart"/>
          <p:cNvGraphicFramePr/>
          <p:nvPr/>
        </p:nvGraphicFramePr>
        <p:xfrm>
          <a:off xmlns:a="http://schemas.openxmlformats.org/drawingml/2006/main" x="533400" y="1428750"/>
          <a:ext xmlns:a="http://schemas.openxmlformats.org/drawingml/2006/main" cx="7334250" cy="4476750"/>
        </p:xfrm>
        <a:graphic xmlns:a="http://schemas.openxmlformats.org/drawingml/2006/main">
          <a:graphicData uri="http://schemas.openxmlformats.org/drawingml/2006/chart">
            <c:chart xmlns:r="http://schemas.openxmlformats.org/officeDocument/2006/relationships" xmlns:c="http://schemas.openxmlformats.org/drawingml/2006/chart" r:id="R5ced195a4b9e48df"/>
          </a:graphicData>
        </a:graphic>
      </p:graphicFrame>
      <p:sp>
        <p:nvSpPr>
          <p:cNvPr id="9" name="">
            <a:extLst xmlns:a="http://schemas.openxmlformats.org/drawingml/2006/main">
              <a:ext uri="{FF2B5EF4-FFF2-40B4-BE49-F238E27FC236}">
                <a16:creationId xmlns:a16="http://schemas.microsoft.com/office/drawing/2014/main" id="{312FEDBD-8403-4E62-9B5C-9B59463DB707}"/>
              </a:ext>
            </a:extLst>
          </p:cNvPr>
          <p:cNvSpPr>
            <a:spLocks xmlns:a="http://schemas.openxmlformats.org/drawingml/2006/main" noGrp="1"/>
          </p:cNvSpPr>
          <p:nvPr/>
        </p:nvSpPr>
        <p:spPr>
          <a:xfrm xmlns:a="http://schemas.openxmlformats.org/drawingml/2006/main">
            <a:off x="8096250" y="1552575"/>
            <a:ext cx="3486150" cy="1581150"/>
          </a:xfrm>
          <a:prstGeom xmlns:a="http://schemas.openxmlformats.org/drawingml/2006/main" prst="roundRect">
            <a:avLst>
              <a:gd name="adj" fmla="val 4819"/>
            </a:avLst>
          </a:prstGeom>
          <a:solidFill xmlns:a="http://schemas.openxmlformats.org/drawingml/2006/main">
            <a:srgbClr val="EAF8F3"/>
          </a:solidFill>
          <a:ln xmlns:a="http://schemas.openxmlformats.org/drawingml/2006/main" w="9525">
            <a:solidFill>
              <a:srgbClr val="159A70"/>
            </a:solidFill>
          </a:ln>
        </p:spPr>
      </p:sp>
      <p:sp>
        <p:nvSpPr>
          <p:cNvPr id="10" name="">
            <a:extLst xmlns:a="http://schemas.openxmlformats.org/drawingml/2006/main">
              <a:ext uri="{FF2B5EF4-FFF2-40B4-BE49-F238E27FC236}">
                <a16:creationId xmlns:a16="http://schemas.microsoft.com/office/drawing/2014/main" id="{51A7844C-C603-44B8-84B3-53586C526366}"/>
              </a:ext>
            </a:extLst>
          </p:cNvPr>
          <p:cNvSpPr>
            <a:spLocks xmlns:a="http://schemas.openxmlformats.org/drawingml/2006/main" noGrp="1"/>
          </p:cNvSpPr>
          <p:nvPr/>
        </p:nvSpPr>
        <p:spPr>
          <a:xfrm xmlns:a="http://schemas.openxmlformats.org/drawingml/2006/main">
            <a:off x="8096250" y="1552575"/>
            <a:ext cx="66675" cy="15811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11" name="">
            <a:extLst xmlns:a="http://schemas.openxmlformats.org/drawingml/2006/main">
              <a:ext uri="{FF2B5EF4-FFF2-40B4-BE49-F238E27FC236}">
                <a16:creationId xmlns:a16="http://schemas.microsoft.com/office/drawing/2014/main" id="{833E6487-B306-4F4A-8627-3C7EA0B34E0C}"/>
              </a:ext>
            </a:extLst>
          </p:cNvPr>
          <p:cNvSpPr>
            <a:spLocks xmlns:a="http://schemas.openxmlformats.org/drawingml/2006/main" noGrp="1"/>
          </p:cNvSpPr>
          <p:nvPr/>
        </p:nvSpPr>
        <p:spPr>
          <a:xfrm xmlns:a="http://schemas.openxmlformats.org/drawingml/2006/main">
            <a:off x="8382000" y="178117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225" b="1" i="0">
                <a:solidFill>
                  <a:srgbClr val="159A70"/>
                </a:solidFill>
                <a:latin typeface="Arial"/>
                <a:ea typeface="Arial"/>
                <a:cs typeface="Arial"/>
              </a:defRPr>
            </a:pPr>
            <a:r>
              <a:rPr sz="3225" b="1" i="0">
                <a:solidFill>
                  <a:srgbClr val="159A70"/>
                </a:solidFill>
                <a:latin typeface="Arial"/>
                <a:ea typeface="Arial"/>
                <a:cs typeface="Arial"/>
              </a:rPr>
              <a:t>29.6%</a:t>
            </a:r>
          </a:p>
        </p:txBody>
      </p:sp>
      <p:sp>
        <p:nvSpPr>
          <p:cNvPr id="12" name="">
            <a:extLst xmlns:a="http://schemas.openxmlformats.org/drawingml/2006/main">
              <a:ext uri="{FF2B5EF4-FFF2-40B4-BE49-F238E27FC236}">
                <a16:creationId xmlns:a16="http://schemas.microsoft.com/office/drawing/2014/main" id="{8C0C50A8-3FAC-4934-8AF2-8FFC18B6428C}"/>
              </a:ext>
            </a:extLst>
          </p:cNvPr>
          <p:cNvSpPr>
            <a:spLocks xmlns:a="http://schemas.openxmlformats.org/drawingml/2006/main" noGrp="1"/>
          </p:cNvSpPr>
          <p:nvPr/>
        </p:nvSpPr>
        <p:spPr>
          <a:xfrm xmlns:a="http://schemas.openxmlformats.org/drawingml/2006/main">
            <a:off x="8382000" y="23717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02A43"/>
                </a:solidFill>
                <a:latin typeface="Arial"/>
                <a:ea typeface="Arial"/>
                <a:cs typeface="Arial"/>
              </a:defRPr>
            </a:pPr>
            <a:r>
              <a:rPr sz="1350" b="1" i="0">
                <a:solidFill>
                  <a:srgbClr val="102A43"/>
                </a:solidFill>
                <a:latin typeface="Arial"/>
                <a:ea typeface="Arial"/>
                <a:cs typeface="Arial"/>
              </a:rPr>
              <a:t>lower RMSE than rolling</a:t>
            </a:r>
          </a:p>
        </p:txBody>
      </p:sp>
      <p:sp>
        <p:nvSpPr>
          <p:cNvPr id="13" name="">
            <a:extLst xmlns:a="http://schemas.openxmlformats.org/drawingml/2006/main">
              <a:ext uri="{FF2B5EF4-FFF2-40B4-BE49-F238E27FC236}">
                <a16:creationId xmlns:a16="http://schemas.microsoft.com/office/drawing/2014/main" id="{3B94F4C2-43B2-4CFB-892C-79586D0D0723}"/>
              </a:ext>
            </a:extLst>
          </p:cNvPr>
          <p:cNvSpPr>
            <a:spLocks xmlns:a="http://schemas.openxmlformats.org/drawingml/2006/main" noGrp="1"/>
          </p:cNvSpPr>
          <p:nvPr/>
        </p:nvSpPr>
        <p:spPr>
          <a:xfrm xmlns:a="http://schemas.openxmlformats.org/drawingml/2006/main">
            <a:off x="8382000" y="273367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0.000983 vs 0.001396</a:t>
            </a:r>
          </a:p>
        </p:txBody>
      </p:sp>
      <p:sp>
        <p:nvSpPr>
          <p:cNvPr id="14" name="">
            <a:extLst xmlns:a="http://schemas.openxmlformats.org/drawingml/2006/main">
              <a:ext uri="{FF2B5EF4-FFF2-40B4-BE49-F238E27FC236}">
                <a16:creationId xmlns:a16="http://schemas.microsoft.com/office/drawing/2014/main" id="{FAA12415-8507-4033-A9F0-C6CFD1B0D79D}"/>
              </a:ext>
            </a:extLst>
          </p:cNvPr>
          <p:cNvSpPr>
            <a:spLocks xmlns:a="http://schemas.openxmlformats.org/drawingml/2006/main" noGrp="1"/>
          </p:cNvSpPr>
          <p:nvPr/>
        </p:nvSpPr>
        <p:spPr>
          <a:xfrm xmlns:a="http://schemas.openxmlformats.org/drawingml/2006/main">
            <a:off x="8096250" y="3333750"/>
            <a:ext cx="3486150" cy="1181100"/>
          </a:xfrm>
          <a:prstGeom xmlns:a="http://schemas.openxmlformats.org/drawingml/2006/main" prst="roundRect">
            <a:avLst>
              <a:gd name="adj" fmla="val 6452"/>
            </a:avLst>
          </a:prstGeom>
          <a:solidFill xmlns:a="http://schemas.openxmlformats.org/drawingml/2006/main">
            <a:srgbClr val="EAF2FF"/>
          </a:solidFill>
          <a:ln xmlns:a="http://schemas.openxmlformats.org/drawingml/2006/main" w="9525">
            <a:solidFill>
              <a:srgbClr val="1363DF"/>
            </a:solidFill>
          </a:ln>
        </p:spPr>
      </p:sp>
      <p:sp>
        <p:nvSpPr>
          <p:cNvPr id="15" name="">
            <a:extLst xmlns:a="http://schemas.openxmlformats.org/drawingml/2006/main">
              <a:ext uri="{FF2B5EF4-FFF2-40B4-BE49-F238E27FC236}">
                <a16:creationId xmlns:a16="http://schemas.microsoft.com/office/drawing/2014/main" id="{786C65B8-83EB-42A6-A74D-0A51E2367CB4}"/>
              </a:ext>
            </a:extLst>
          </p:cNvPr>
          <p:cNvSpPr>
            <a:spLocks xmlns:a="http://schemas.openxmlformats.org/drawingml/2006/main" noGrp="1"/>
          </p:cNvSpPr>
          <p:nvPr/>
        </p:nvSpPr>
        <p:spPr>
          <a:xfrm xmlns:a="http://schemas.openxmlformats.org/drawingml/2006/main">
            <a:off x="8096250" y="3333750"/>
            <a:ext cx="66675" cy="1181100"/>
          </a:xfrm>
          <a:prstGeom xmlns:a="http://schemas.openxmlformats.org/drawingml/2006/main" prst="roundRect">
            <a:avLst>
              <a:gd name="adj" fmla="val 50000"/>
            </a:avLst>
          </a:prstGeom>
          <a:solidFill xmlns:a="http://schemas.openxmlformats.org/drawingml/2006/main">
            <a:srgbClr val="1363DF"/>
          </a:solidFill>
          <a:ln xmlns:a="http://schemas.openxmlformats.org/drawingml/2006/main" w="0">
            <a:solidFill>
              <a:srgbClr val="1363DF"/>
            </a:solidFill>
          </a:ln>
        </p:spPr>
      </p:sp>
      <p:sp>
        <p:nvSpPr>
          <p:cNvPr id="16" name="">
            <a:extLst xmlns:a="http://schemas.openxmlformats.org/drawingml/2006/main">
              <a:ext uri="{FF2B5EF4-FFF2-40B4-BE49-F238E27FC236}">
                <a16:creationId xmlns:a16="http://schemas.microsoft.com/office/drawing/2014/main" id="{8A9F1980-6902-413E-AE1B-F5682A990B8D}"/>
              </a:ext>
            </a:extLst>
          </p:cNvPr>
          <p:cNvSpPr>
            <a:spLocks xmlns:a="http://schemas.openxmlformats.org/drawingml/2006/main" noGrp="1"/>
          </p:cNvSpPr>
          <p:nvPr/>
        </p:nvSpPr>
        <p:spPr>
          <a:xfrm xmlns:a="http://schemas.openxmlformats.org/drawingml/2006/main">
            <a:off x="8382000" y="35337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i="0">
                <a:solidFill>
                  <a:srgbClr val="1363DF"/>
                </a:solidFill>
                <a:latin typeface="Arial"/>
                <a:ea typeface="Arial"/>
                <a:cs typeface="Arial"/>
              </a:defRPr>
            </a:pPr>
            <a:r>
              <a:rPr sz="1725" b="1" i="0">
                <a:solidFill>
                  <a:srgbClr val="1363DF"/>
                </a:solidFill>
                <a:latin typeface="Arial"/>
                <a:ea typeface="Arial"/>
                <a:cs typeface="Arial"/>
              </a:rPr>
              <a:t>QLIKE agrees</a:t>
            </a:r>
          </a:p>
        </p:txBody>
      </p:sp>
      <p:sp>
        <p:nvSpPr>
          <p:cNvPr id="17" name="">
            <a:extLst xmlns:a="http://schemas.openxmlformats.org/drawingml/2006/main">
              <a:ext uri="{FF2B5EF4-FFF2-40B4-BE49-F238E27FC236}">
                <a16:creationId xmlns:a16="http://schemas.microsoft.com/office/drawing/2014/main" id="{DB072924-E198-4796-B98F-E841C6E649D5}"/>
              </a:ext>
            </a:extLst>
          </p:cNvPr>
          <p:cNvSpPr>
            <a:spLocks xmlns:a="http://schemas.openxmlformats.org/drawingml/2006/main" noGrp="1"/>
          </p:cNvSpPr>
          <p:nvPr/>
        </p:nvSpPr>
        <p:spPr>
          <a:xfrm xmlns:a="http://schemas.openxmlformats.org/drawingml/2006/main">
            <a:off x="8382000" y="39147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0" i="0">
                <a:solidFill>
                  <a:srgbClr val="102A43"/>
                </a:solidFill>
                <a:latin typeface="Arial"/>
                <a:ea typeface="Arial"/>
                <a:cs typeface="Arial"/>
              </a:defRPr>
            </a:pPr>
            <a:r>
              <a:rPr sz="1125" b="0" i="0">
                <a:solidFill>
                  <a:srgbClr val="102A43"/>
                </a:solidFill>
                <a:latin typeface="Arial"/>
                <a:ea typeface="Arial"/>
                <a:cs typeface="Arial"/>
              </a:rPr>
              <a:t>same overall ranking as RMSE</a:t>
            </a:r>
          </a:p>
        </p:txBody>
      </p:sp>
      <p:sp>
        <p:nvSpPr>
          <p:cNvPr id="18" name="">
            <a:extLst xmlns:a="http://schemas.openxmlformats.org/drawingml/2006/main">
              <a:ext uri="{FF2B5EF4-FFF2-40B4-BE49-F238E27FC236}">
                <a16:creationId xmlns:a16="http://schemas.microsoft.com/office/drawing/2014/main" id="{89EE7B59-AC33-4C0E-A4C2-D92B0C6B67B5}"/>
              </a:ext>
            </a:extLst>
          </p:cNvPr>
          <p:cNvSpPr>
            <a:spLocks xmlns:a="http://schemas.openxmlformats.org/drawingml/2006/main" noGrp="1"/>
          </p:cNvSpPr>
          <p:nvPr/>
        </p:nvSpPr>
        <p:spPr>
          <a:xfrm xmlns:a="http://schemas.openxmlformats.org/drawingml/2006/main">
            <a:off x="8096250" y="4714875"/>
            <a:ext cx="3486150" cy="1181100"/>
          </a:xfrm>
          <a:prstGeom xmlns:a="http://schemas.openxmlformats.org/drawingml/2006/main" prst="roundRect">
            <a:avLst>
              <a:gd name="adj" fmla="val 6452"/>
            </a:avLst>
          </a:prstGeom>
          <a:solidFill xmlns:a="http://schemas.openxmlformats.org/drawingml/2006/main">
            <a:srgbClr val="FDECEC"/>
          </a:solidFill>
          <a:ln xmlns:a="http://schemas.openxmlformats.org/drawingml/2006/main" w="9525">
            <a:solidFill>
              <a:srgbClr val="E45756"/>
            </a:solidFill>
          </a:ln>
        </p:spPr>
      </p:sp>
      <p:sp>
        <p:nvSpPr>
          <p:cNvPr id="19" name="">
            <a:extLst xmlns:a="http://schemas.openxmlformats.org/drawingml/2006/main">
              <a:ext uri="{FF2B5EF4-FFF2-40B4-BE49-F238E27FC236}">
                <a16:creationId xmlns:a16="http://schemas.microsoft.com/office/drawing/2014/main" id="{0F4B55FC-5D59-46B5-B1F5-EB0EC762B342}"/>
              </a:ext>
            </a:extLst>
          </p:cNvPr>
          <p:cNvSpPr>
            <a:spLocks xmlns:a="http://schemas.openxmlformats.org/drawingml/2006/main" noGrp="1"/>
          </p:cNvSpPr>
          <p:nvPr/>
        </p:nvSpPr>
        <p:spPr>
          <a:xfrm xmlns:a="http://schemas.openxmlformats.org/drawingml/2006/main">
            <a:off x="8096250" y="4714875"/>
            <a:ext cx="66675" cy="118110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20" name="">
            <a:extLst xmlns:a="http://schemas.openxmlformats.org/drawingml/2006/main">
              <a:ext uri="{FF2B5EF4-FFF2-40B4-BE49-F238E27FC236}">
                <a16:creationId xmlns:a16="http://schemas.microsoft.com/office/drawing/2014/main" id="{AE3660E6-B196-4EAD-ADC8-6D74EA2765E0}"/>
              </a:ext>
            </a:extLst>
          </p:cNvPr>
          <p:cNvSpPr>
            <a:spLocks xmlns:a="http://schemas.openxmlformats.org/drawingml/2006/main" noGrp="1"/>
          </p:cNvSpPr>
          <p:nvPr/>
        </p:nvSpPr>
        <p:spPr>
          <a:xfrm xmlns:a="http://schemas.openxmlformats.org/drawingml/2006/main">
            <a:off x="8382000" y="49053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E45756"/>
                </a:solidFill>
                <a:latin typeface="Arial"/>
                <a:ea typeface="Arial"/>
                <a:cs typeface="Arial"/>
              </a:defRPr>
            </a:pPr>
            <a:r>
              <a:rPr sz="1200" b="1" i="0">
                <a:solidFill>
                  <a:srgbClr val="E45756"/>
                </a:solidFill>
                <a:latin typeface="Arial"/>
                <a:ea typeface="Arial"/>
                <a:cs typeface="Arial"/>
              </a:rPr>
              <a:t>ML result</a:t>
            </a:r>
          </a:p>
        </p:txBody>
      </p:sp>
      <p:sp>
        <p:nvSpPr>
          <p:cNvPr id="21" name="">
            <a:extLst xmlns:a="http://schemas.openxmlformats.org/drawingml/2006/main">
              <a:ext uri="{FF2B5EF4-FFF2-40B4-BE49-F238E27FC236}">
                <a16:creationId xmlns:a16="http://schemas.microsoft.com/office/drawing/2014/main" id="{07BB6FBC-BDEC-4DE0-BFF6-E71E545ABA57}"/>
              </a:ext>
            </a:extLst>
          </p:cNvPr>
          <p:cNvSpPr>
            <a:spLocks xmlns:a="http://schemas.openxmlformats.org/drawingml/2006/main" noGrp="1"/>
          </p:cNvSpPr>
          <p:nvPr/>
        </p:nvSpPr>
        <p:spPr>
          <a:xfrm xmlns:a="http://schemas.openxmlformats.org/drawingml/2006/main">
            <a:off x="8382000" y="52387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LSTM #4 · Random Forest #5</a:t>
            </a:r>
          </a:p>
        </p:txBody>
      </p:sp>
      <p:sp>
        <p:nvSpPr>
          <p:cNvPr id="22" name="">
            <a:extLst xmlns:a="http://schemas.openxmlformats.org/drawingml/2006/main">
              <a:ext uri="{FF2B5EF4-FFF2-40B4-BE49-F238E27FC236}">
                <a16:creationId xmlns:a16="http://schemas.microsoft.com/office/drawing/2014/main" id="{D1C2118F-BF6D-40EF-921B-FCD74894C73A}"/>
              </a:ext>
            </a:extLst>
          </p:cNvPr>
          <p:cNvSpPr>
            <a:spLocks xmlns:a="http://schemas.openxmlformats.org/drawingml/2006/main" noGrp="1"/>
          </p:cNvSpPr>
          <p:nvPr/>
        </p:nvSpPr>
        <p:spPr>
          <a:xfrm xmlns:a="http://schemas.openxmlformats.org/drawingml/2006/main">
            <a:off x="8382000" y="561975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Source: model_performance.csv</a:t>
            </a:r>
          </a:p>
        </p:txBody>
      </p:sp>
    </p:spTree>
    <p:extLst>
      <p:ext uri="{BB962C8B-B14F-4D97-AF65-F5344CB8AC3E}">
        <p14:creationId xmlns:p14="http://schemas.microsoft.com/office/powerpoint/2010/main" val="8248884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A3C8A72-1AD6-4E87-A835-F89C2B312703}"/>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065ECF04-3C27-4F26-A966-E09210D565AF}"/>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ROBUSTNESS &amp; UNCERTAINTY</a:t>
            </a:r>
          </a:p>
        </p:txBody>
      </p:sp>
      <p:sp>
        <p:nvSpPr>
          <p:cNvPr id="3" name="">
            <a:extLst xmlns:a="http://schemas.openxmlformats.org/drawingml/2006/main">
              <a:ext uri="{FF2B5EF4-FFF2-40B4-BE49-F238E27FC236}">
                <a16:creationId xmlns:a16="http://schemas.microsoft.com/office/drawing/2014/main" id="{328A09EC-7227-4C63-BCC3-9C62B7A0294A}"/>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First place survives every planned stress test</a:t>
            </a:r>
          </a:p>
        </p:txBody>
      </p:sp>
      <p:sp>
        <p:nvSpPr>
          <p:cNvPr id="4" name="">
            <a:extLst xmlns:a="http://schemas.openxmlformats.org/drawingml/2006/main">
              <a:ext uri="{FF2B5EF4-FFF2-40B4-BE49-F238E27FC236}">
                <a16:creationId xmlns:a16="http://schemas.microsoft.com/office/drawing/2014/main" id="{B98357C1-4AD5-4574-936F-7B0B8FE82562}"/>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5" name="">
            <a:extLst xmlns:a="http://schemas.openxmlformats.org/drawingml/2006/main">
              <a:ext uri="{FF2B5EF4-FFF2-40B4-BE49-F238E27FC236}">
                <a16:creationId xmlns:a16="http://schemas.microsoft.com/office/drawing/2014/main" id="{CA3EDE9B-BF29-4149-BCC9-E9ABD8DE3BA7}"/>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6" name="">
            <a:extLst xmlns:a="http://schemas.openxmlformats.org/drawingml/2006/main">
              <a:ext uri="{FF2B5EF4-FFF2-40B4-BE49-F238E27FC236}">
                <a16:creationId xmlns:a16="http://schemas.microsoft.com/office/drawing/2014/main" id="{580252C7-51FC-4756-945F-20DBD422FEE3}"/>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07 / 10</a:t>
            </a:r>
          </a:p>
        </p:txBody>
      </p:sp>
      <p:sp>
        <p:nvSpPr>
          <p:cNvPr id="7" name="">
            <a:extLst xmlns:a="http://schemas.openxmlformats.org/drawingml/2006/main">
              <a:ext uri="{FF2B5EF4-FFF2-40B4-BE49-F238E27FC236}">
                <a16:creationId xmlns:a16="http://schemas.microsoft.com/office/drawing/2014/main" id="{2D52708C-5076-4F84-9744-325CC6FF14A7}"/>
              </a:ext>
            </a:extLst>
          </p:cNvPr>
          <p:cNvSpPr>
            <a:spLocks xmlns:a="http://schemas.openxmlformats.org/drawingml/2006/main" noGrp="1"/>
          </p:cNvSpPr>
          <p:nvPr/>
        </p:nvSpPr>
        <p:spPr>
          <a:xfrm xmlns:a="http://schemas.openxmlformats.org/drawingml/2006/main">
            <a:off x="609600" y="1381125"/>
            <a:ext cx="2571750" cy="15049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8E3EC"/>
            </a:solidFill>
          </a:ln>
        </p:spPr>
      </p:sp>
      <p:sp>
        <p:nvSpPr>
          <p:cNvPr id="8" name="">
            <a:extLst xmlns:a="http://schemas.openxmlformats.org/drawingml/2006/main">
              <a:ext uri="{FF2B5EF4-FFF2-40B4-BE49-F238E27FC236}">
                <a16:creationId xmlns:a16="http://schemas.microsoft.com/office/drawing/2014/main" id="{40D16283-1D71-4710-98CC-0F2D6E1AA233}"/>
              </a:ext>
            </a:extLst>
          </p:cNvPr>
          <p:cNvSpPr>
            <a:spLocks xmlns:a="http://schemas.openxmlformats.org/drawingml/2006/main" noGrp="1"/>
          </p:cNvSpPr>
          <p:nvPr/>
        </p:nvSpPr>
        <p:spPr>
          <a:xfrm xmlns:a="http://schemas.openxmlformats.org/drawingml/2006/main">
            <a:off x="609600" y="1381125"/>
            <a:ext cx="66675" cy="1504950"/>
          </a:xfrm>
          <a:prstGeom xmlns:a="http://schemas.openxmlformats.org/drawingml/2006/main" prst="roundRect">
            <a:avLst>
              <a:gd name="adj" fmla="val 50000"/>
            </a:avLst>
          </a:prstGeom>
          <a:solidFill xmlns:a="http://schemas.openxmlformats.org/drawingml/2006/main">
            <a:srgbClr val="1363DF"/>
          </a:solidFill>
          <a:ln xmlns:a="http://schemas.openxmlformats.org/drawingml/2006/main" w="0">
            <a:solidFill>
              <a:srgbClr val="1363DF"/>
            </a:solidFill>
          </a:ln>
        </p:spPr>
      </p:sp>
      <p:sp>
        <p:nvSpPr>
          <p:cNvPr id="9" name="">
            <a:extLst xmlns:a="http://schemas.openxmlformats.org/drawingml/2006/main">
              <a:ext uri="{FF2B5EF4-FFF2-40B4-BE49-F238E27FC236}">
                <a16:creationId xmlns:a16="http://schemas.microsoft.com/office/drawing/2014/main" id="{9FF38ED0-F8F6-4DBD-84E0-3B7485F83B29}"/>
              </a:ext>
            </a:extLst>
          </p:cNvPr>
          <p:cNvSpPr>
            <a:spLocks xmlns:a="http://schemas.openxmlformats.org/drawingml/2006/main" noGrp="1"/>
          </p:cNvSpPr>
          <p:nvPr/>
        </p:nvSpPr>
        <p:spPr>
          <a:xfrm xmlns:a="http://schemas.openxmlformats.org/drawingml/2006/main">
            <a:off x="819150" y="155257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1363DF"/>
                </a:solidFill>
                <a:latin typeface="Arial"/>
                <a:ea typeface="Arial"/>
                <a:cs typeface="Arial"/>
              </a:defRPr>
            </a:pPr>
            <a:r>
              <a:rPr sz="2175" b="1" i="0">
                <a:solidFill>
                  <a:srgbClr val="1363DF"/>
                </a:solidFill>
                <a:latin typeface="Arial"/>
                <a:ea typeface="Arial"/>
                <a:cs typeface="Arial"/>
              </a:rPr>
              <a:t>2 / 2</a:t>
            </a:r>
          </a:p>
        </p:txBody>
      </p:sp>
      <p:sp>
        <p:nvSpPr>
          <p:cNvPr id="10" name="">
            <a:extLst xmlns:a="http://schemas.openxmlformats.org/drawingml/2006/main">
              <a:ext uri="{FF2B5EF4-FFF2-40B4-BE49-F238E27FC236}">
                <a16:creationId xmlns:a16="http://schemas.microsoft.com/office/drawing/2014/main" id="{0B16E343-036D-488F-8182-CBBB6D60C5D9}"/>
              </a:ext>
            </a:extLst>
          </p:cNvPr>
          <p:cNvSpPr>
            <a:spLocks xmlns:a="http://schemas.openxmlformats.org/drawingml/2006/main" noGrp="1"/>
          </p:cNvSpPr>
          <p:nvPr/>
        </p:nvSpPr>
        <p:spPr>
          <a:xfrm xmlns:a="http://schemas.openxmlformats.org/drawingml/2006/main">
            <a:off x="819150" y="19812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target windows</a:t>
            </a:r>
          </a:p>
        </p:txBody>
      </p:sp>
      <p:sp>
        <p:nvSpPr>
          <p:cNvPr id="11" name="">
            <a:extLst xmlns:a="http://schemas.openxmlformats.org/drawingml/2006/main">
              <a:ext uri="{FF2B5EF4-FFF2-40B4-BE49-F238E27FC236}">
                <a16:creationId xmlns:a16="http://schemas.microsoft.com/office/drawing/2014/main" id="{AB2321CD-7651-4C5B-A430-6DD70974FB4E}"/>
              </a:ext>
            </a:extLst>
          </p:cNvPr>
          <p:cNvSpPr>
            <a:spLocks xmlns:a="http://schemas.openxmlformats.org/drawingml/2006/main" noGrp="1"/>
          </p:cNvSpPr>
          <p:nvPr/>
        </p:nvSpPr>
        <p:spPr>
          <a:xfrm xmlns:a="http://schemas.openxmlformats.org/drawingml/2006/main">
            <a:off x="819150" y="225742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14-day and 30-day</a:t>
            </a:r>
          </a:p>
        </p:txBody>
      </p:sp>
      <p:sp>
        <p:nvSpPr>
          <p:cNvPr id="12" name="">
            <a:extLst xmlns:a="http://schemas.openxmlformats.org/drawingml/2006/main">
              <a:ext uri="{FF2B5EF4-FFF2-40B4-BE49-F238E27FC236}">
                <a16:creationId xmlns:a16="http://schemas.microsoft.com/office/drawing/2014/main" id="{8A41C735-9981-48E9-AE42-8DD0CE0219B8}"/>
              </a:ext>
            </a:extLst>
          </p:cNvPr>
          <p:cNvSpPr>
            <a:spLocks xmlns:a="http://schemas.openxmlformats.org/drawingml/2006/main" noGrp="1"/>
          </p:cNvSpPr>
          <p:nvPr/>
        </p:nvSpPr>
        <p:spPr>
          <a:xfrm xmlns:a="http://schemas.openxmlformats.org/drawingml/2006/main">
            <a:off x="3371850" y="1381125"/>
            <a:ext cx="2571750" cy="15049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8E3EC"/>
            </a:solidFill>
          </a:ln>
        </p:spPr>
      </p:sp>
      <p:sp>
        <p:nvSpPr>
          <p:cNvPr id="13" name="">
            <a:extLst xmlns:a="http://schemas.openxmlformats.org/drawingml/2006/main">
              <a:ext uri="{FF2B5EF4-FFF2-40B4-BE49-F238E27FC236}">
                <a16:creationId xmlns:a16="http://schemas.microsoft.com/office/drawing/2014/main" id="{B1E5B8DB-8F29-47F9-9889-C00490AF3989}"/>
              </a:ext>
            </a:extLst>
          </p:cNvPr>
          <p:cNvSpPr>
            <a:spLocks xmlns:a="http://schemas.openxmlformats.org/drawingml/2006/main" noGrp="1"/>
          </p:cNvSpPr>
          <p:nvPr/>
        </p:nvSpPr>
        <p:spPr>
          <a:xfrm xmlns:a="http://schemas.openxmlformats.org/drawingml/2006/main">
            <a:off x="3371850" y="1381125"/>
            <a:ext cx="66675" cy="1504950"/>
          </a:xfrm>
          <a:prstGeom xmlns:a="http://schemas.openxmlformats.org/drawingml/2006/main" prst="roundRect">
            <a:avLst>
              <a:gd name="adj" fmla="val 50000"/>
            </a:avLst>
          </a:prstGeom>
          <a:solidFill xmlns:a="http://schemas.openxmlformats.org/drawingml/2006/main">
            <a:srgbClr val="24C1D6"/>
          </a:solidFill>
          <a:ln xmlns:a="http://schemas.openxmlformats.org/drawingml/2006/main" w="0">
            <a:solidFill>
              <a:srgbClr val="24C1D6"/>
            </a:solidFill>
          </a:ln>
        </p:spPr>
      </p:sp>
      <p:sp>
        <p:nvSpPr>
          <p:cNvPr id="14" name="">
            <a:extLst xmlns:a="http://schemas.openxmlformats.org/drawingml/2006/main">
              <a:ext uri="{FF2B5EF4-FFF2-40B4-BE49-F238E27FC236}">
                <a16:creationId xmlns:a16="http://schemas.microsoft.com/office/drawing/2014/main" id="{47DAD811-5B89-493A-9310-778BDD973CDC}"/>
              </a:ext>
            </a:extLst>
          </p:cNvPr>
          <p:cNvSpPr>
            <a:spLocks xmlns:a="http://schemas.openxmlformats.org/drawingml/2006/main" noGrp="1"/>
          </p:cNvSpPr>
          <p:nvPr/>
        </p:nvSpPr>
        <p:spPr>
          <a:xfrm xmlns:a="http://schemas.openxmlformats.org/drawingml/2006/main">
            <a:off x="3581400" y="155257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24C1D6"/>
                </a:solidFill>
                <a:latin typeface="Arial"/>
                <a:ea typeface="Arial"/>
                <a:cs typeface="Arial"/>
              </a:defRPr>
            </a:pPr>
            <a:r>
              <a:rPr sz="2175" b="1" i="0">
                <a:solidFill>
                  <a:srgbClr val="24C1D6"/>
                </a:solidFill>
                <a:latin typeface="Arial"/>
                <a:ea typeface="Arial"/>
                <a:cs typeface="Arial"/>
              </a:rPr>
              <a:t>2 / 2</a:t>
            </a:r>
          </a:p>
        </p:txBody>
      </p:sp>
      <p:sp>
        <p:nvSpPr>
          <p:cNvPr id="15" name="">
            <a:extLst xmlns:a="http://schemas.openxmlformats.org/drawingml/2006/main">
              <a:ext uri="{FF2B5EF4-FFF2-40B4-BE49-F238E27FC236}">
                <a16:creationId xmlns:a16="http://schemas.microsoft.com/office/drawing/2014/main" id="{60A5B95F-95C8-489C-A792-771F83DAD26A}"/>
              </a:ext>
            </a:extLst>
          </p:cNvPr>
          <p:cNvSpPr>
            <a:spLocks xmlns:a="http://schemas.openxmlformats.org/drawingml/2006/main" noGrp="1"/>
          </p:cNvSpPr>
          <p:nvPr/>
        </p:nvSpPr>
        <p:spPr>
          <a:xfrm xmlns:a="http://schemas.openxmlformats.org/drawingml/2006/main">
            <a:off x="3581400" y="19812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test halves</a:t>
            </a:r>
          </a:p>
        </p:txBody>
      </p:sp>
      <p:sp>
        <p:nvSpPr>
          <p:cNvPr id="16" name="">
            <a:extLst xmlns:a="http://schemas.openxmlformats.org/drawingml/2006/main">
              <a:ext uri="{FF2B5EF4-FFF2-40B4-BE49-F238E27FC236}">
                <a16:creationId xmlns:a16="http://schemas.microsoft.com/office/drawing/2014/main" id="{E297FD7A-B872-475A-9ECE-0227FADCCB9A}"/>
              </a:ext>
            </a:extLst>
          </p:cNvPr>
          <p:cNvSpPr>
            <a:spLocks xmlns:a="http://schemas.openxmlformats.org/drawingml/2006/main" noGrp="1"/>
          </p:cNvSpPr>
          <p:nvPr/>
        </p:nvSpPr>
        <p:spPr>
          <a:xfrm xmlns:a="http://schemas.openxmlformats.org/drawingml/2006/main">
            <a:off x="3581400" y="225742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early and late holdout</a:t>
            </a:r>
          </a:p>
        </p:txBody>
      </p:sp>
      <p:sp>
        <p:nvSpPr>
          <p:cNvPr id="17" name="">
            <a:extLst xmlns:a="http://schemas.openxmlformats.org/drawingml/2006/main">
              <a:ext uri="{FF2B5EF4-FFF2-40B4-BE49-F238E27FC236}">
                <a16:creationId xmlns:a16="http://schemas.microsoft.com/office/drawing/2014/main" id="{BAF3AEBA-D7ED-4027-B6A1-74B269002410}"/>
              </a:ext>
            </a:extLst>
          </p:cNvPr>
          <p:cNvSpPr>
            <a:spLocks xmlns:a="http://schemas.openxmlformats.org/drawingml/2006/main" noGrp="1"/>
          </p:cNvSpPr>
          <p:nvPr/>
        </p:nvSpPr>
        <p:spPr>
          <a:xfrm xmlns:a="http://schemas.openxmlformats.org/drawingml/2006/main">
            <a:off x="6134100" y="1381125"/>
            <a:ext cx="2571750" cy="15049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8E3EC"/>
            </a:solidFill>
          </a:ln>
        </p:spPr>
      </p:sp>
      <p:sp>
        <p:nvSpPr>
          <p:cNvPr id="18" name="">
            <a:extLst xmlns:a="http://schemas.openxmlformats.org/drawingml/2006/main">
              <a:ext uri="{FF2B5EF4-FFF2-40B4-BE49-F238E27FC236}">
                <a16:creationId xmlns:a16="http://schemas.microsoft.com/office/drawing/2014/main" id="{F26F5B82-5AAD-499B-88D8-BDA5B6A5E6A6}"/>
              </a:ext>
            </a:extLst>
          </p:cNvPr>
          <p:cNvSpPr>
            <a:spLocks xmlns:a="http://schemas.openxmlformats.org/drawingml/2006/main" noGrp="1"/>
          </p:cNvSpPr>
          <p:nvPr/>
        </p:nvSpPr>
        <p:spPr>
          <a:xfrm xmlns:a="http://schemas.openxmlformats.org/drawingml/2006/main">
            <a:off x="6134100" y="1381125"/>
            <a:ext cx="66675" cy="15049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19" name="">
            <a:extLst xmlns:a="http://schemas.openxmlformats.org/drawingml/2006/main">
              <a:ext uri="{FF2B5EF4-FFF2-40B4-BE49-F238E27FC236}">
                <a16:creationId xmlns:a16="http://schemas.microsoft.com/office/drawing/2014/main" id="{0DFF731A-844D-49D2-AA2D-FA1028D874DE}"/>
              </a:ext>
            </a:extLst>
          </p:cNvPr>
          <p:cNvSpPr>
            <a:spLocks xmlns:a="http://schemas.openxmlformats.org/drawingml/2006/main" noGrp="1"/>
          </p:cNvSpPr>
          <p:nvPr/>
        </p:nvSpPr>
        <p:spPr>
          <a:xfrm xmlns:a="http://schemas.openxmlformats.org/drawingml/2006/main">
            <a:off x="6343650" y="155257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159A70"/>
                </a:solidFill>
                <a:latin typeface="Arial"/>
                <a:ea typeface="Arial"/>
                <a:cs typeface="Arial"/>
              </a:defRPr>
            </a:pPr>
            <a:r>
              <a:rPr sz="2175" b="1" i="0">
                <a:solidFill>
                  <a:srgbClr val="159A70"/>
                </a:solidFill>
                <a:latin typeface="Arial"/>
                <a:ea typeface="Arial"/>
                <a:cs typeface="Arial"/>
              </a:rPr>
              <a:t>4 / 4</a:t>
            </a:r>
          </a:p>
        </p:txBody>
      </p:sp>
      <p:sp>
        <p:nvSpPr>
          <p:cNvPr id="20" name="">
            <a:extLst xmlns:a="http://schemas.openxmlformats.org/drawingml/2006/main">
              <a:ext uri="{FF2B5EF4-FFF2-40B4-BE49-F238E27FC236}">
                <a16:creationId xmlns:a16="http://schemas.microsoft.com/office/drawing/2014/main" id="{10376B3A-8396-4EE1-B1D0-E60226A96BD0}"/>
              </a:ext>
            </a:extLst>
          </p:cNvPr>
          <p:cNvSpPr>
            <a:spLocks xmlns:a="http://schemas.openxmlformats.org/drawingml/2006/main" noGrp="1"/>
          </p:cNvSpPr>
          <p:nvPr/>
        </p:nvSpPr>
        <p:spPr>
          <a:xfrm xmlns:a="http://schemas.openxmlformats.org/drawingml/2006/main">
            <a:off x="6343650" y="19812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walk-forward folds</a:t>
            </a:r>
          </a:p>
        </p:txBody>
      </p:sp>
      <p:sp>
        <p:nvSpPr>
          <p:cNvPr id="21" name="">
            <a:extLst xmlns:a="http://schemas.openxmlformats.org/drawingml/2006/main">
              <a:ext uri="{FF2B5EF4-FFF2-40B4-BE49-F238E27FC236}">
                <a16:creationId xmlns:a16="http://schemas.microsoft.com/office/drawing/2014/main" id="{C9531AA5-C26D-4774-8524-612A34573198}"/>
              </a:ext>
            </a:extLst>
          </p:cNvPr>
          <p:cNvSpPr>
            <a:spLocks xmlns:a="http://schemas.openxmlformats.org/drawingml/2006/main" noGrp="1"/>
          </p:cNvSpPr>
          <p:nvPr/>
        </p:nvSpPr>
        <p:spPr>
          <a:xfrm xmlns:a="http://schemas.openxmlformats.org/drawingml/2006/main">
            <a:off x="6343650" y="225742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69 observations each</a:t>
            </a:r>
          </a:p>
        </p:txBody>
      </p:sp>
      <p:sp>
        <p:nvSpPr>
          <p:cNvPr id="22" name="">
            <a:extLst xmlns:a="http://schemas.openxmlformats.org/drawingml/2006/main">
              <a:ext uri="{FF2B5EF4-FFF2-40B4-BE49-F238E27FC236}">
                <a16:creationId xmlns:a16="http://schemas.microsoft.com/office/drawing/2014/main" id="{324FE56C-F1C4-45B7-B557-DD8D53C0CFA5}"/>
              </a:ext>
            </a:extLst>
          </p:cNvPr>
          <p:cNvSpPr>
            <a:spLocks xmlns:a="http://schemas.openxmlformats.org/drawingml/2006/main" noGrp="1"/>
          </p:cNvSpPr>
          <p:nvPr/>
        </p:nvSpPr>
        <p:spPr>
          <a:xfrm xmlns:a="http://schemas.openxmlformats.org/drawingml/2006/main">
            <a:off x="8896350" y="1381125"/>
            <a:ext cx="2571750" cy="150495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9525">
            <a:solidFill>
              <a:srgbClr val="D8E3EC"/>
            </a:solidFill>
          </a:ln>
        </p:spPr>
      </p:sp>
      <p:sp>
        <p:nvSpPr>
          <p:cNvPr id="23" name="">
            <a:extLst xmlns:a="http://schemas.openxmlformats.org/drawingml/2006/main">
              <a:ext uri="{FF2B5EF4-FFF2-40B4-BE49-F238E27FC236}">
                <a16:creationId xmlns:a16="http://schemas.microsoft.com/office/drawing/2014/main" id="{2AB2F4DA-996B-4F35-A796-5FD522C38B43}"/>
              </a:ext>
            </a:extLst>
          </p:cNvPr>
          <p:cNvSpPr>
            <a:spLocks xmlns:a="http://schemas.openxmlformats.org/drawingml/2006/main" noGrp="1"/>
          </p:cNvSpPr>
          <p:nvPr/>
        </p:nvSpPr>
        <p:spPr>
          <a:xfrm xmlns:a="http://schemas.openxmlformats.org/drawingml/2006/main">
            <a:off x="8896350" y="1381125"/>
            <a:ext cx="66675" cy="15049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solidFill>
              <a:srgbClr val="F4B942"/>
            </a:solidFill>
          </a:ln>
        </p:spPr>
      </p:sp>
      <p:sp>
        <p:nvSpPr>
          <p:cNvPr id="24" name="">
            <a:extLst xmlns:a="http://schemas.openxmlformats.org/drawingml/2006/main">
              <a:ext uri="{FF2B5EF4-FFF2-40B4-BE49-F238E27FC236}">
                <a16:creationId xmlns:a16="http://schemas.microsoft.com/office/drawing/2014/main" id="{4807F503-9668-404F-9156-7DC6813A5916}"/>
              </a:ext>
            </a:extLst>
          </p:cNvPr>
          <p:cNvSpPr>
            <a:spLocks xmlns:a="http://schemas.openxmlformats.org/drawingml/2006/main" noGrp="1"/>
          </p:cNvSpPr>
          <p:nvPr/>
        </p:nvSpPr>
        <p:spPr>
          <a:xfrm xmlns:a="http://schemas.openxmlformats.org/drawingml/2006/main">
            <a:off x="9105900" y="155257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F4B942"/>
                </a:solidFill>
                <a:latin typeface="Arial"/>
                <a:ea typeface="Arial"/>
                <a:cs typeface="Arial"/>
              </a:defRPr>
            </a:pPr>
            <a:r>
              <a:rPr sz="2175" b="1" i="0">
                <a:solidFill>
                  <a:srgbClr val="F4B942"/>
                </a:solidFill>
                <a:latin typeface="Arial"/>
                <a:ea typeface="Arial"/>
                <a:cs typeface="Arial"/>
              </a:rPr>
              <a:t>3 / 3</a:t>
            </a:r>
          </a:p>
        </p:txBody>
      </p:sp>
      <p:sp>
        <p:nvSpPr>
          <p:cNvPr id="25" name="">
            <a:extLst xmlns:a="http://schemas.openxmlformats.org/drawingml/2006/main">
              <a:ext uri="{FF2B5EF4-FFF2-40B4-BE49-F238E27FC236}">
                <a16:creationId xmlns:a16="http://schemas.microsoft.com/office/drawing/2014/main" id="{4A37EB77-E719-4A0E-9785-49EB390A12FB}"/>
              </a:ext>
            </a:extLst>
          </p:cNvPr>
          <p:cNvSpPr>
            <a:spLocks xmlns:a="http://schemas.openxmlformats.org/drawingml/2006/main" noGrp="1"/>
          </p:cNvSpPr>
          <p:nvPr/>
        </p:nvSpPr>
        <p:spPr>
          <a:xfrm xmlns:a="http://schemas.openxmlformats.org/drawingml/2006/main">
            <a:off x="9105900" y="19812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volatility regimes</a:t>
            </a:r>
          </a:p>
        </p:txBody>
      </p:sp>
      <p:sp>
        <p:nvSpPr>
          <p:cNvPr id="26" name="">
            <a:extLst xmlns:a="http://schemas.openxmlformats.org/drawingml/2006/main">
              <a:ext uri="{FF2B5EF4-FFF2-40B4-BE49-F238E27FC236}">
                <a16:creationId xmlns:a16="http://schemas.microsoft.com/office/drawing/2014/main" id="{3EBD61E7-DF7A-4D3E-8AA3-F016799D2702}"/>
              </a:ext>
            </a:extLst>
          </p:cNvPr>
          <p:cNvSpPr>
            <a:spLocks xmlns:a="http://schemas.openxmlformats.org/drawingml/2006/main" noGrp="1"/>
          </p:cNvSpPr>
          <p:nvPr/>
        </p:nvSpPr>
        <p:spPr>
          <a:xfrm xmlns:a="http://schemas.openxmlformats.org/drawingml/2006/main">
            <a:off x="9105900" y="225742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i="0">
                <a:solidFill>
                  <a:srgbClr val="5B6B7C"/>
                </a:solidFill>
                <a:latin typeface="Arial"/>
                <a:ea typeface="Arial"/>
                <a:cs typeface="Arial"/>
              </a:defRPr>
            </a:pPr>
            <a:r>
              <a:rPr sz="975" b="0" i="0">
                <a:solidFill>
                  <a:srgbClr val="5B6B7C"/>
                </a:solidFill>
                <a:latin typeface="Arial"/>
                <a:ea typeface="Arial"/>
                <a:cs typeface="Arial"/>
              </a:rPr>
              <a:t>low, medium and high</a:t>
            </a:r>
          </a:p>
        </p:txBody>
      </p:sp>
      <p:sp>
        <p:nvSpPr>
          <p:cNvPr id="27" name="">
            <a:extLst xmlns:a="http://schemas.openxmlformats.org/drawingml/2006/main">
              <a:ext uri="{FF2B5EF4-FFF2-40B4-BE49-F238E27FC236}">
                <a16:creationId xmlns:a16="http://schemas.microsoft.com/office/drawing/2014/main" id="{2EF0CF7E-5926-40A5-8696-AC457874C7B7}"/>
              </a:ext>
            </a:extLst>
          </p:cNvPr>
          <p:cNvSpPr>
            <a:spLocks xmlns:a="http://schemas.openxmlformats.org/drawingml/2006/main" noGrp="1"/>
          </p:cNvSpPr>
          <p:nvPr/>
        </p:nvSpPr>
        <p:spPr>
          <a:xfrm xmlns:a="http://schemas.openxmlformats.org/drawingml/2006/main">
            <a:off x="609600" y="3219450"/>
            <a:ext cx="6953250" cy="2590800"/>
          </a:xfrm>
          <a:prstGeom xmlns:a="http://schemas.openxmlformats.org/drawingml/2006/main" prst="roundRect">
            <a:avLst>
              <a:gd name="adj" fmla="val 2941"/>
            </a:avLst>
          </a:prstGeom>
          <a:solidFill xmlns:a="http://schemas.openxmlformats.org/drawingml/2006/main">
            <a:srgbClr val="071C2C"/>
          </a:solidFill>
          <a:ln xmlns:a="http://schemas.openxmlformats.org/drawingml/2006/main" w="9525">
            <a:solidFill>
              <a:srgbClr val="071C2C"/>
            </a:solidFill>
          </a:ln>
        </p:spPr>
      </p:sp>
      <p:sp>
        <p:nvSpPr>
          <p:cNvPr id="28" name="">
            <a:extLst xmlns:a="http://schemas.openxmlformats.org/drawingml/2006/main">
              <a:ext uri="{FF2B5EF4-FFF2-40B4-BE49-F238E27FC236}">
                <a16:creationId xmlns:a16="http://schemas.microsoft.com/office/drawing/2014/main" id="{23884CB5-6E3B-4903-9C00-5F524907A1E8}"/>
              </a:ext>
            </a:extLst>
          </p:cNvPr>
          <p:cNvSpPr>
            <a:spLocks xmlns:a="http://schemas.openxmlformats.org/drawingml/2006/main" noGrp="1"/>
          </p:cNvSpPr>
          <p:nvPr/>
        </p:nvSpPr>
        <p:spPr>
          <a:xfrm xmlns:a="http://schemas.openxmlformats.org/drawingml/2006/main">
            <a:off x="876300" y="3448050"/>
            <a:ext cx="5857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24C1D6"/>
                </a:solidFill>
                <a:latin typeface="Arial"/>
                <a:ea typeface="Arial"/>
                <a:cs typeface="Arial"/>
              </a:defRPr>
            </a:pPr>
            <a:r>
              <a:rPr sz="900" b="1" i="0">
                <a:solidFill>
                  <a:srgbClr val="24C1D6"/>
                </a:solidFill>
                <a:latin typeface="Arial"/>
                <a:ea typeface="Arial"/>
                <a:cs typeface="Arial"/>
              </a:rPr>
              <a:t>BLOCK BOOTSTRAP · MODEL RMSE − ROLLING RMSE</a:t>
            </a:r>
          </a:p>
        </p:txBody>
      </p:sp>
      <p:sp>
        <p:nvSpPr>
          <p:cNvPr id="29" name="">
            <a:extLst xmlns:a="http://schemas.openxmlformats.org/drawingml/2006/main">
              <a:ext uri="{FF2B5EF4-FFF2-40B4-BE49-F238E27FC236}">
                <a16:creationId xmlns:a16="http://schemas.microsoft.com/office/drawing/2014/main" id="{FED40AE9-4C1F-4681-AE75-76C70A74F7E3}"/>
              </a:ext>
            </a:extLst>
          </p:cNvPr>
          <p:cNvSpPr>
            <a:spLocks xmlns:a="http://schemas.openxmlformats.org/drawingml/2006/main" noGrp="1"/>
          </p:cNvSpPr>
          <p:nvPr/>
        </p:nvSpPr>
        <p:spPr>
          <a:xfrm xmlns:a="http://schemas.openxmlformats.org/drawingml/2006/main">
            <a:off x="876300" y="38576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FFFFFF"/>
                </a:solidFill>
                <a:latin typeface="Arial"/>
                <a:ea typeface="Arial"/>
                <a:cs typeface="Arial"/>
              </a:defRPr>
            </a:pPr>
            <a:r>
              <a:rPr sz="1350" b="1" i="0">
                <a:solidFill>
                  <a:srgbClr val="FFFFFF"/>
                </a:solidFill>
                <a:latin typeface="Arial"/>
                <a:ea typeface="Arial"/>
                <a:cs typeface="Arial"/>
              </a:rPr>
              <a:t>GARCH 95% interval</a:t>
            </a:r>
          </a:p>
        </p:txBody>
      </p:sp>
      <p:sp>
        <p:nvSpPr>
          <p:cNvPr id="30" name="">
            <a:extLst xmlns:a="http://schemas.openxmlformats.org/drawingml/2006/main">
              <a:ext uri="{FF2B5EF4-FFF2-40B4-BE49-F238E27FC236}">
                <a16:creationId xmlns:a16="http://schemas.microsoft.com/office/drawing/2014/main" id="{9ACFA2DE-A154-42AB-948B-5E2E88E28C62}"/>
              </a:ext>
            </a:extLst>
          </p:cNvPr>
          <p:cNvSpPr>
            <a:spLocks xmlns:a="http://schemas.openxmlformats.org/drawingml/2006/main" noGrp="1"/>
          </p:cNvSpPr>
          <p:nvPr/>
        </p:nvSpPr>
        <p:spPr>
          <a:xfrm xmlns:a="http://schemas.openxmlformats.org/drawingml/2006/main">
            <a:off x="3333750" y="4048125"/>
            <a:ext cx="3429000" cy="38100"/>
          </a:xfrm>
          <a:prstGeom xmlns:a="http://schemas.openxmlformats.org/drawingml/2006/main" prst="rect">
            <a:avLst/>
          </a:prstGeom>
          <a:solidFill xmlns:a="http://schemas.openxmlformats.org/drawingml/2006/main">
            <a:srgbClr val="3A566C"/>
          </a:solidFill>
          <a:ln xmlns:a="http://schemas.openxmlformats.org/drawingml/2006/main" w="0">
            <a:solidFill>
              <a:srgbClr val="3A566C"/>
            </a:solidFill>
          </a:ln>
        </p:spPr>
      </p:sp>
      <p:sp>
        <p:nvSpPr>
          <p:cNvPr id="31" name="">
            <a:extLst xmlns:a="http://schemas.openxmlformats.org/drawingml/2006/main">
              <a:ext uri="{FF2B5EF4-FFF2-40B4-BE49-F238E27FC236}">
                <a16:creationId xmlns:a16="http://schemas.microsoft.com/office/drawing/2014/main" id="{F2661506-EDB5-4B70-9055-C2F2AC4761FA}"/>
              </a:ext>
            </a:extLst>
          </p:cNvPr>
          <p:cNvSpPr>
            <a:spLocks xmlns:a="http://schemas.openxmlformats.org/drawingml/2006/main" noGrp="1"/>
          </p:cNvSpPr>
          <p:nvPr/>
        </p:nvSpPr>
        <p:spPr>
          <a:xfrm xmlns:a="http://schemas.openxmlformats.org/drawingml/2006/main">
            <a:off x="3924300" y="3971925"/>
            <a:ext cx="1981200" cy="190500"/>
          </a:xfrm>
          <a:prstGeom xmlns:a="http://schemas.openxmlformats.org/drawingml/2006/main" prst="roundRect">
            <a:avLst>
              <a:gd name="adj" fmla="val 40000"/>
            </a:avLst>
          </a:prstGeom>
          <a:solidFill xmlns:a="http://schemas.openxmlformats.org/drawingml/2006/main">
            <a:srgbClr val="159A70"/>
          </a:solidFill>
          <a:ln xmlns:a="http://schemas.openxmlformats.org/drawingml/2006/main" w="0">
            <a:solidFill>
              <a:srgbClr val="159A70"/>
            </a:solidFill>
          </a:ln>
        </p:spPr>
      </p:sp>
      <p:sp>
        <p:nvSpPr>
          <p:cNvPr id="32" name="">
            <a:extLst xmlns:a="http://schemas.openxmlformats.org/drawingml/2006/main">
              <a:ext uri="{FF2B5EF4-FFF2-40B4-BE49-F238E27FC236}">
                <a16:creationId xmlns:a16="http://schemas.microsoft.com/office/drawing/2014/main" id="{6CE8379B-3237-46CB-8D53-D67AB4D4AF05}"/>
              </a:ext>
            </a:extLst>
          </p:cNvPr>
          <p:cNvSpPr>
            <a:spLocks xmlns:a="http://schemas.openxmlformats.org/drawingml/2006/main" noGrp="1"/>
          </p:cNvSpPr>
          <p:nvPr/>
        </p:nvSpPr>
        <p:spPr>
          <a:xfrm xmlns:a="http://schemas.openxmlformats.org/drawingml/2006/main">
            <a:off x="5905500" y="3876675"/>
            <a:ext cx="28575" cy="381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3" name="">
            <a:extLst xmlns:a="http://schemas.openxmlformats.org/drawingml/2006/main">
              <a:ext uri="{FF2B5EF4-FFF2-40B4-BE49-F238E27FC236}">
                <a16:creationId xmlns:a16="http://schemas.microsoft.com/office/drawing/2014/main" id="{D288D1B6-BC45-4E11-ACFA-0F6AD20550C3}"/>
              </a:ext>
            </a:extLst>
          </p:cNvPr>
          <p:cNvSpPr>
            <a:spLocks xmlns:a="http://schemas.openxmlformats.org/drawingml/2006/main" noGrp="1"/>
          </p:cNvSpPr>
          <p:nvPr/>
        </p:nvSpPr>
        <p:spPr>
          <a:xfrm xmlns:a="http://schemas.openxmlformats.org/drawingml/2006/main">
            <a:off x="3638550" y="427672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i="0">
                <a:solidFill>
                  <a:srgbClr val="BDD1E0"/>
                </a:solidFill>
                <a:latin typeface="Arial"/>
                <a:ea typeface="Arial"/>
                <a:cs typeface="Arial"/>
              </a:defRPr>
            </a:pPr>
            <a:r>
              <a:rPr sz="900" b="0" i="0">
                <a:solidFill>
                  <a:srgbClr val="BDD1E0"/>
                </a:solidFill>
                <a:latin typeface="Arial"/>
                <a:ea typeface="Arial"/>
                <a:cs typeface="Arial"/>
              </a:rPr>
              <a:t>−0.000900</a:t>
            </a:r>
          </a:p>
        </p:txBody>
      </p:sp>
      <p:sp>
        <p:nvSpPr>
          <p:cNvPr id="34" name="">
            <a:extLst xmlns:a="http://schemas.openxmlformats.org/drawingml/2006/main">
              <a:ext uri="{FF2B5EF4-FFF2-40B4-BE49-F238E27FC236}">
                <a16:creationId xmlns:a16="http://schemas.microsoft.com/office/drawing/2014/main" id="{6200DE3F-BB8F-4FEC-8115-C6774343F1F8}"/>
              </a:ext>
            </a:extLst>
          </p:cNvPr>
          <p:cNvSpPr>
            <a:spLocks xmlns:a="http://schemas.openxmlformats.org/drawingml/2006/main" noGrp="1"/>
          </p:cNvSpPr>
          <p:nvPr/>
        </p:nvSpPr>
        <p:spPr>
          <a:xfrm xmlns:a="http://schemas.openxmlformats.org/drawingml/2006/main">
            <a:off x="5334000" y="427672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i="0">
                <a:solidFill>
                  <a:srgbClr val="BDD1E0"/>
                </a:solidFill>
                <a:latin typeface="Arial"/>
                <a:ea typeface="Arial"/>
                <a:cs typeface="Arial"/>
              </a:defRPr>
            </a:pPr>
            <a:r>
              <a:rPr sz="900" b="0" i="0">
                <a:solidFill>
                  <a:srgbClr val="BDD1E0"/>
                </a:solidFill>
                <a:latin typeface="Arial"/>
                <a:ea typeface="Arial"/>
                <a:cs typeface="Arial"/>
              </a:rPr>
              <a:t>−0.000169</a:t>
            </a:r>
          </a:p>
        </p:txBody>
      </p:sp>
      <p:sp>
        <p:nvSpPr>
          <p:cNvPr id="35" name="">
            <a:extLst xmlns:a="http://schemas.openxmlformats.org/drawingml/2006/main">
              <a:ext uri="{FF2B5EF4-FFF2-40B4-BE49-F238E27FC236}">
                <a16:creationId xmlns:a16="http://schemas.microsoft.com/office/drawing/2014/main" id="{111140C0-A5B8-4526-BE74-46382D6EFCF5}"/>
              </a:ext>
            </a:extLst>
          </p:cNvPr>
          <p:cNvSpPr>
            <a:spLocks xmlns:a="http://schemas.openxmlformats.org/drawingml/2006/main" noGrp="1"/>
          </p:cNvSpPr>
          <p:nvPr/>
        </p:nvSpPr>
        <p:spPr>
          <a:xfrm xmlns:a="http://schemas.openxmlformats.org/drawingml/2006/main">
            <a:off x="5810250" y="367665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i="0">
                <a:solidFill>
                  <a:srgbClr val="FFFFFF"/>
                </a:solidFill>
                <a:latin typeface="Arial"/>
                <a:ea typeface="Arial"/>
                <a:cs typeface="Arial"/>
              </a:defRPr>
            </a:pPr>
            <a:r>
              <a:rPr sz="900" b="1" i="0">
                <a:solidFill>
                  <a:srgbClr val="FFFFFF"/>
                </a:solidFill>
                <a:latin typeface="Arial"/>
                <a:ea typeface="Arial"/>
                <a:cs typeface="Arial"/>
              </a:rPr>
              <a:t>0</a:t>
            </a:r>
          </a:p>
        </p:txBody>
      </p:sp>
      <p:sp>
        <p:nvSpPr>
          <p:cNvPr id="36" name="">
            <a:extLst xmlns:a="http://schemas.openxmlformats.org/drawingml/2006/main">
              <a:ext uri="{FF2B5EF4-FFF2-40B4-BE49-F238E27FC236}">
                <a16:creationId xmlns:a16="http://schemas.microsoft.com/office/drawing/2014/main" id="{E15E7B8B-0714-40E5-8CA3-39CA679C5DBE}"/>
              </a:ext>
            </a:extLst>
          </p:cNvPr>
          <p:cNvSpPr>
            <a:spLocks xmlns:a="http://schemas.openxmlformats.org/drawingml/2006/main" noGrp="1"/>
          </p:cNvSpPr>
          <p:nvPr/>
        </p:nvSpPr>
        <p:spPr>
          <a:xfrm xmlns:a="http://schemas.openxmlformats.org/drawingml/2006/main">
            <a:off x="876300" y="471487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159A70"/>
                </a:solidFill>
                <a:latin typeface="Arial"/>
                <a:ea typeface="Arial"/>
                <a:cs typeface="Arial"/>
              </a:defRPr>
            </a:pPr>
            <a:r>
              <a:rPr sz="1350" b="1" i="0">
                <a:solidFill>
                  <a:srgbClr val="159A70"/>
                </a:solidFill>
                <a:latin typeface="Arial"/>
                <a:ea typeface="Arial"/>
                <a:cs typeface="Arial"/>
              </a:rPr>
              <a:t>Entire interval below zero → advantage over rolling</a:t>
            </a:r>
          </a:p>
        </p:txBody>
      </p:sp>
      <p:sp>
        <p:nvSpPr>
          <p:cNvPr id="37" name="">
            <a:extLst xmlns:a="http://schemas.openxmlformats.org/drawingml/2006/main">
              <a:ext uri="{FF2B5EF4-FFF2-40B4-BE49-F238E27FC236}">
                <a16:creationId xmlns:a16="http://schemas.microsoft.com/office/drawing/2014/main" id="{6B4FC5B0-D704-4DCD-AD3F-6F1C3374706A}"/>
              </a:ext>
            </a:extLst>
          </p:cNvPr>
          <p:cNvSpPr>
            <a:spLocks xmlns:a="http://schemas.openxmlformats.org/drawingml/2006/main" noGrp="1"/>
          </p:cNvSpPr>
          <p:nvPr/>
        </p:nvSpPr>
        <p:spPr>
          <a:xfrm xmlns:a="http://schemas.openxmlformats.org/drawingml/2006/main">
            <a:off x="876300" y="521970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0" i="0">
                <a:solidFill>
                  <a:srgbClr val="BDD1E0"/>
                </a:solidFill>
                <a:latin typeface="Arial"/>
                <a:ea typeface="Arial"/>
                <a:cs typeface="Arial"/>
              </a:defRPr>
            </a:pPr>
            <a:r>
              <a:rPr sz="975" b="0" i="0">
                <a:solidFill>
                  <a:srgbClr val="BDD1E0"/>
                </a:solidFill>
                <a:latin typeface="Arial"/>
                <a:ea typeface="Arial"/>
                <a:cs typeface="Arial"/>
              </a:rPr>
              <a:t>2,000 paired circular moving-block resamples · 30-day blocks</a:t>
            </a:r>
          </a:p>
        </p:txBody>
      </p:sp>
      <p:sp>
        <p:nvSpPr>
          <p:cNvPr id="38" name="">
            <a:extLst xmlns:a="http://schemas.openxmlformats.org/drawingml/2006/main">
              <a:ext uri="{FF2B5EF4-FFF2-40B4-BE49-F238E27FC236}">
                <a16:creationId xmlns:a16="http://schemas.microsoft.com/office/drawing/2014/main" id="{271B809B-B264-464D-860A-A438CBBE177D}"/>
              </a:ext>
            </a:extLst>
          </p:cNvPr>
          <p:cNvSpPr>
            <a:spLocks xmlns:a="http://schemas.openxmlformats.org/drawingml/2006/main" noGrp="1"/>
          </p:cNvSpPr>
          <p:nvPr/>
        </p:nvSpPr>
        <p:spPr>
          <a:xfrm xmlns:a="http://schemas.openxmlformats.org/drawingml/2006/main">
            <a:off x="7848600" y="3219450"/>
            <a:ext cx="3733800" cy="2590800"/>
          </a:xfrm>
          <a:prstGeom xmlns:a="http://schemas.openxmlformats.org/drawingml/2006/main" prst="roundRect">
            <a:avLst>
              <a:gd name="adj" fmla="val 2941"/>
            </a:avLst>
          </a:prstGeom>
          <a:solidFill xmlns:a="http://schemas.openxmlformats.org/drawingml/2006/main">
            <a:srgbClr val="F5F8FB"/>
          </a:solidFill>
          <a:ln xmlns:a="http://schemas.openxmlformats.org/drawingml/2006/main" w="9525">
            <a:solidFill>
              <a:srgbClr val="D8E3EC"/>
            </a:solidFill>
          </a:ln>
        </p:spPr>
      </p:sp>
      <p:sp>
        <p:nvSpPr>
          <p:cNvPr id="39" name="">
            <a:extLst xmlns:a="http://schemas.openxmlformats.org/drawingml/2006/main">
              <a:ext uri="{FF2B5EF4-FFF2-40B4-BE49-F238E27FC236}">
                <a16:creationId xmlns:a16="http://schemas.microsoft.com/office/drawing/2014/main" id="{718B715F-1C84-497A-A87F-15BEF144A7DD}"/>
              </a:ext>
            </a:extLst>
          </p:cNvPr>
          <p:cNvSpPr>
            <a:spLocks xmlns:a="http://schemas.openxmlformats.org/drawingml/2006/main" noGrp="1"/>
          </p:cNvSpPr>
          <p:nvPr/>
        </p:nvSpPr>
        <p:spPr>
          <a:xfrm xmlns:a="http://schemas.openxmlformats.org/drawingml/2006/main">
            <a:off x="8096250" y="34480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1363DF"/>
                </a:solidFill>
                <a:latin typeface="Arial"/>
                <a:ea typeface="Arial"/>
                <a:cs typeface="Arial"/>
              </a:defRPr>
            </a:pPr>
            <a:r>
              <a:rPr sz="900" b="1" i="0">
                <a:solidFill>
                  <a:srgbClr val="1363DF"/>
                </a:solidFill>
                <a:latin typeface="Arial"/>
                <a:ea typeface="Arial"/>
                <a:cs typeface="Arial"/>
              </a:rPr>
              <a:t>FROZEN-CUTOFF REFRESH</a:t>
            </a:r>
          </a:p>
        </p:txBody>
      </p:sp>
      <p:sp>
        <p:nvSpPr>
          <p:cNvPr id="40" name="">
            <a:extLst xmlns:a="http://schemas.openxmlformats.org/drawingml/2006/main">
              <a:ext uri="{FF2B5EF4-FFF2-40B4-BE49-F238E27FC236}">
                <a16:creationId xmlns:a16="http://schemas.microsoft.com/office/drawing/2014/main" id="{EEB51E3A-196A-41F3-B443-20E0DAFB7D6E}"/>
              </a:ext>
            </a:extLst>
          </p:cNvPr>
          <p:cNvSpPr>
            <a:spLocks xmlns:a="http://schemas.openxmlformats.org/drawingml/2006/main" noGrp="1"/>
          </p:cNvSpPr>
          <p:nvPr/>
        </p:nvSpPr>
        <p:spPr>
          <a:xfrm xmlns:a="http://schemas.openxmlformats.org/drawingml/2006/main">
            <a:off x="8096250" y="3829050"/>
            <a:ext cx="133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150" b="1" i="0">
                <a:solidFill>
                  <a:srgbClr val="1363DF"/>
                </a:solidFill>
                <a:latin typeface="Arial"/>
                <a:ea typeface="Arial"/>
                <a:cs typeface="Arial"/>
              </a:defRPr>
            </a:pPr>
            <a:r>
              <a:rPr sz="3150" b="1" i="0">
                <a:solidFill>
                  <a:srgbClr val="1363DF"/>
                </a:solidFill>
                <a:latin typeface="Arial"/>
                <a:ea typeface="Arial"/>
                <a:cs typeface="Arial"/>
              </a:rPr>
              <a:t>+31</a:t>
            </a:r>
          </a:p>
        </p:txBody>
      </p:sp>
      <p:sp>
        <p:nvSpPr>
          <p:cNvPr id="41" name="">
            <a:extLst xmlns:a="http://schemas.openxmlformats.org/drawingml/2006/main">
              <a:ext uri="{FF2B5EF4-FFF2-40B4-BE49-F238E27FC236}">
                <a16:creationId xmlns:a16="http://schemas.microsoft.com/office/drawing/2014/main" id="{00FED897-299B-4EB4-BA11-1471BFE1E9CC}"/>
              </a:ext>
            </a:extLst>
          </p:cNvPr>
          <p:cNvSpPr>
            <a:spLocks xmlns:a="http://schemas.openxmlformats.org/drawingml/2006/main" noGrp="1"/>
          </p:cNvSpPr>
          <p:nvPr/>
        </p:nvSpPr>
        <p:spPr>
          <a:xfrm xmlns:a="http://schemas.openxmlformats.org/drawingml/2006/main">
            <a:off x="9363075" y="40100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new completed targets</a:t>
            </a:r>
          </a:p>
        </p:txBody>
      </p:sp>
      <p:sp>
        <p:nvSpPr>
          <p:cNvPr id="42" name="">
            <a:extLst xmlns:a="http://schemas.openxmlformats.org/drawingml/2006/main">
              <a:ext uri="{FF2B5EF4-FFF2-40B4-BE49-F238E27FC236}">
                <a16:creationId xmlns:a16="http://schemas.microsoft.com/office/drawing/2014/main" id="{FC92CF5F-6050-4498-AAB9-2895D4F5BA5E}"/>
              </a:ext>
            </a:extLst>
          </p:cNvPr>
          <p:cNvSpPr>
            <a:spLocks xmlns:a="http://schemas.openxmlformats.org/drawingml/2006/main" noGrp="1"/>
          </p:cNvSpPr>
          <p:nvPr/>
        </p:nvSpPr>
        <p:spPr>
          <a:xfrm xmlns:a="http://schemas.openxmlformats.org/drawingml/2006/main">
            <a:off x="8096250" y="457200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071C2C"/>
                </a:solidFill>
                <a:latin typeface="Arial"/>
                <a:ea typeface="Arial"/>
                <a:cs typeface="Arial"/>
              </a:defRPr>
            </a:pPr>
            <a:r>
              <a:rPr sz="1500" b="1" i="0">
                <a:solidFill>
                  <a:srgbClr val="071C2C"/>
                </a:solidFill>
                <a:latin typeface="Arial"/>
                <a:ea typeface="Arial"/>
                <a:cs typeface="Arial"/>
              </a:rPr>
              <a:t>Ranks held: 1 · 2 · 3 · 4 · 5</a:t>
            </a:r>
          </a:p>
        </p:txBody>
      </p:sp>
      <p:sp>
        <p:nvSpPr>
          <p:cNvPr id="43" name="">
            <a:extLst xmlns:a="http://schemas.openxmlformats.org/drawingml/2006/main">
              <a:ext uri="{FF2B5EF4-FFF2-40B4-BE49-F238E27FC236}">
                <a16:creationId xmlns:a16="http://schemas.microsoft.com/office/drawing/2014/main" id="{99FBBC20-5AF4-498E-9090-EFA7DD7CE422}"/>
              </a:ext>
            </a:extLst>
          </p:cNvPr>
          <p:cNvSpPr>
            <a:spLocks xmlns:a="http://schemas.openxmlformats.org/drawingml/2006/main" noGrp="1"/>
          </p:cNvSpPr>
          <p:nvPr/>
        </p:nvSpPr>
        <p:spPr>
          <a:xfrm xmlns:a="http://schemas.openxmlformats.org/drawingml/2006/main">
            <a:off x="8096250" y="505777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050" b="0" i="0">
                <a:solidFill>
                  <a:srgbClr val="5B6B7C"/>
                </a:solidFill>
                <a:latin typeface="Arial"/>
                <a:ea typeface="Arial"/>
                <a:cs typeface="Arial"/>
              </a:defRPr>
            </a:pPr>
            <a:r>
              <a:rPr sz="1050" b="0" i="0">
                <a:solidFill>
                  <a:srgbClr val="5B6B7C"/>
                </a:solidFill>
                <a:latin typeface="Arial"/>
                <a:ea typeface="Arial"/>
                <a:cs typeface="Arial"/>
              </a:rPr>
              <a:t>Evidence from one market history — not universal significance.</a:t>
            </a:r>
          </a:p>
        </p:txBody>
      </p:sp>
    </p:spTree>
    <p:extLst>
      <p:ext uri="{BB962C8B-B14F-4D97-AF65-F5344CB8AC3E}">
        <p14:creationId xmlns:p14="http://schemas.microsoft.com/office/powerpoint/2010/main" val="1802958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0ADC210-0B6A-408D-BB81-8E494BDA074D}"/>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D8F2E678-96ED-4243-8D0E-B4AF36A90E21}"/>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METHOD AUDIT</a:t>
            </a:r>
          </a:p>
        </p:txBody>
      </p:sp>
      <p:sp>
        <p:nvSpPr>
          <p:cNvPr id="3" name="">
            <a:extLst xmlns:a="http://schemas.openxmlformats.org/drawingml/2006/main">
              <a:ext uri="{FF2B5EF4-FFF2-40B4-BE49-F238E27FC236}">
                <a16:creationId xmlns:a16="http://schemas.microsoft.com/office/drawing/2014/main" id="{C7C962A8-7933-4839-96E2-687BAF340E1D}"/>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The ranking became trustworthy only after five corrections</a:t>
            </a:r>
          </a:p>
        </p:txBody>
      </p:sp>
      <p:sp>
        <p:nvSpPr>
          <p:cNvPr id="4" name="">
            <a:extLst xmlns:a="http://schemas.openxmlformats.org/drawingml/2006/main">
              <a:ext uri="{FF2B5EF4-FFF2-40B4-BE49-F238E27FC236}">
                <a16:creationId xmlns:a16="http://schemas.microsoft.com/office/drawing/2014/main" id="{E05D5CF2-751C-4C29-900F-4E3F92F4BD58}"/>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5" name="">
            <a:extLst xmlns:a="http://schemas.openxmlformats.org/drawingml/2006/main">
              <a:ext uri="{FF2B5EF4-FFF2-40B4-BE49-F238E27FC236}">
                <a16:creationId xmlns:a16="http://schemas.microsoft.com/office/drawing/2014/main" id="{1303BDD7-6775-463D-BCB1-EB8EBA4475D1}"/>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6" name="">
            <a:extLst xmlns:a="http://schemas.openxmlformats.org/drawingml/2006/main">
              <a:ext uri="{FF2B5EF4-FFF2-40B4-BE49-F238E27FC236}">
                <a16:creationId xmlns:a16="http://schemas.microsoft.com/office/drawing/2014/main" id="{DB3BD66E-54CA-4616-B6A4-CD4F9E74517B}"/>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08 / 10</a:t>
            </a:r>
          </a:p>
        </p:txBody>
      </p:sp>
      <p:sp>
        <p:nvSpPr>
          <p:cNvPr id="7" name="">
            <a:extLst xmlns:a="http://schemas.openxmlformats.org/drawingml/2006/main">
              <a:ext uri="{FF2B5EF4-FFF2-40B4-BE49-F238E27FC236}">
                <a16:creationId xmlns:a16="http://schemas.microsoft.com/office/drawing/2014/main" id="{0A8699FB-3079-4308-B539-BDEBD2A64B0E}"/>
              </a:ext>
            </a:extLst>
          </p:cNvPr>
          <p:cNvSpPr>
            <a:spLocks xmlns:a="http://schemas.openxmlformats.org/drawingml/2006/main" noGrp="1"/>
          </p:cNvSpPr>
          <p:nvPr/>
        </p:nvSpPr>
        <p:spPr>
          <a:xfrm xmlns:a="http://schemas.openxmlformats.org/drawingml/2006/main">
            <a:off x="609600" y="13811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E45756"/>
                </a:solidFill>
                <a:latin typeface="Arial"/>
                <a:ea typeface="Arial"/>
                <a:cs typeface="Arial"/>
              </a:defRPr>
            </a:pPr>
            <a:r>
              <a:rPr sz="975" b="1" i="0">
                <a:solidFill>
                  <a:srgbClr val="E45756"/>
                </a:solidFill>
                <a:latin typeface="Arial"/>
                <a:ea typeface="Arial"/>
                <a:cs typeface="Arial"/>
              </a:rPr>
              <a:t>RISK</a:t>
            </a:r>
          </a:p>
        </p:txBody>
      </p:sp>
      <p:sp>
        <p:nvSpPr>
          <p:cNvPr id="8" name="">
            <a:extLst xmlns:a="http://schemas.openxmlformats.org/drawingml/2006/main">
              <a:ext uri="{FF2B5EF4-FFF2-40B4-BE49-F238E27FC236}">
                <a16:creationId xmlns:a16="http://schemas.microsoft.com/office/drawing/2014/main" id="{771F93AF-D364-42B2-A4C4-78FBF5279F1A}"/>
              </a:ext>
            </a:extLst>
          </p:cNvPr>
          <p:cNvSpPr>
            <a:spLocks xmlns:a="http://schemas.openxmlformats.org/drawingml/2006/main" noGrp="1"/>
          </p:cNvSpPr>
          <p:nvPr/>
        </p:nvSpPr>
        <p:spPr>
          <a:xfrm xmlns:a="http://schemas.openxmlformats.org/drawingml/2006/main">
            <a:off x="6572250" y="138112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59A70"/>
                </a:solidFill>
                <a:latin typeface="Arial"/>
                <a:ea typeface="Arial"/>
                <a:cs typeface="Arial"/>
              </a:defRPr>
            </a:pPr>
            <a:r>
              <a:rPr sz="975" b="1" i="0">
                <a:solidFill>
                  <a:srgbClr val="159A70"/>
                </a:solidFill>
                <a:latin typeface="Arial"/>
                <a:ea typeface="Arial"/>
                <a:cs typeface="Arial"/>
              </a:rPr>
              <a:t>CONTROL ADDED</a:t>
            </a:r>
          </a:p>
        </p:txBody>
      </p:sp>
      <p:sp>
        <p:nvSpPr>
          <p:cNvPr id="9" name="">
            <a:extLst xmlns:a="http://schemas.openxmlformats.org/drawingml/2006/main">
              <a:ext uri="{FF2B5EF4-FFF2-40B4-BE49-F238E27FC236}">
                <a16:creationId xmlns:a16="http://schemas.microsoft.com/office/drawing/2014/main" id="{3540D319-5BD9-49B5-B9E0-EFC2488B3D35}"/>
              </a:ext>
            </a:extLst>
          </p:cNvPr>
          <p:cNvSpPr>
            <a:spLocks xmlns:a="http://schemas.openxmlformats.org/drawingml/2006/main" noGrp="1"/>
          </p:cNvSpPr>
          <p:nvPr/>
        </p:nvSpPr>
        <p:spPr>
          <a:xfrm xmlns:a="http://schemas.openxmlformats.org/drawingml/2006/main">
            <a:off x="609600" y="1752600"/>
            <a:ext cx="4857750" cy="666750"/>
          </a:xfrm>
          <a:prstGeom xmlns:a="http://schemas.openxmlformats.org/drawingml/2006/main" prst="roundRect">
            <a:avLst>
              <a:gd name="adj" fmla="val 11429"/>
            </a:avLst>
          </a:prstGeom>
          <a:solidFill xmlns:a="http://schemas.openxmlformats.org/drawingml/2006/main">
            <a:srgbClr val="FDECEC"/>
          </a:solidFill>
          <a:ln xmlns:a="http://schemas.openxmlformats.org/drawingml/2006/main" w="9525">
            <a:solidFill>
              <a:srgbClr val="F3C1C1"/>
            </a:solidFill>
          </a:ln>
        </p:spPr>
      </p:sp>
      <p:sp>
        <p:nvSpPr>
          <p:cNvPr id="10" name="">
            <a:extLst xmlns:a="http://schemas.openxmlformats.org/drawingml/2006/main">
              <a:ext uri="{FF2B5EF4-FFF2-40B4-BE49-F238E27FC236}">
                <a16:creationId xmlns:a16="http://schemas.microsoft.com/office/drawing/2014/main" id="{89EFEB56-C6C8-4504-AAD5-3CFBCF9EF516}"/>
              </a:ext>
            </a:extLst>
          </p:cNvPr>
          <p:cNvSpPr>
            <a:spLocks xmlns:a="http://schemas.openxmlformats.org/drawingml/2006/main" noGrp="1"/>
          </p:cNvSpPr>
          <p:nvPr/>
        </p:nvSpPr>
        <p:spPr>
          <a:xfrm xmlns:a="http://schemas.openxmlformats.org/drawingml/2006/main">
            <a:off x="609600" y="1752600"/>
            <a:ext cx="66675" cy="66675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11" name="">
            <a:extLst xmlns:a="http://schemas.openxmlformats.org/drawingml/2006/main">
              <a:ext uri="{FF2B5EF4-FFF2-40B4-BE49-F238E27FC236}">
                <a16:creationId xmlns:a16="http://schemas.microsoft.com/office/drawing/2014/main" id="{229A3826-00CE-4E6C-ABBF-518F88A40F54}"/>
              </a:ext>
            </a:extLst>
          </p:cNvPr>
          <p:cNvSpPr>
            <a:spLocks xmlns:a="http://schemas.openxmlformats.org/drawingml/2006/main" noGrp="1"/>
          </p:cNvSpPr>
          <p:nvPr/>
        </p:nvSpPr>
        <p:spPr>
          <a:xfrm xmlns:a="http://schemas.openxmlformats.org/drawingml/2006/main">
            <a:off x="866775" y="193357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Forecasts offset by a row</a:t>
            </a:r>
          </a:p>
        </p:txBody>
      </p:sp>
      <p:sp>
        <p:nvSpPr>
          <p:cNvPr id="12" name="">
            <a:extLst xmlns:a="http://schemas.openxmlformats.org/drawingml/2006/main">
              <a:ext uri="{FF2B5EF4-FFF2-40B4-BE49-F238E27FC236}">
                <a16:creationId xmlns:a16="http://schemas.microsoft.com/office/drawing/2014/main" id="{76AE1259-BA7A-4103-AE28-9753ABE7E08E}"/>
              </a:ext>
            </a:extLst>
          </p:cNvPr>
          <p:cNvSpPr>
            <a:spLocks xmlns:a="http://schemas.openxmlformats.org/drawingml/2006/main" noGrp="1"/>
          </p:cNvSpPr>
          <p:nvPr/>
        </p:nvSpPr>
        <p:spPr>
          <a:xfrm xmlns:a="http://schemas.openxmlformats.org/drawingml/2006/main">
            <a:off x="5734050" y="1981200"/>
            <a:ext cx="571500" cy="190500"/>
          </a:xfrm>
          <a:prstGeom xmlns:a="http://schemas.openxmlformats.org/drawingml/2006/main" prst="rightArrow">
            <a:avLst/>
          </a:prstGeom>
          <a:solidFill xmlns:a="http://schemas.openxmlformats.org/drawingml/2006/main">
            <a:srgbClr val="24C1D6"/>
          </a:solidFill>
          <a:ln xmlns:a="http://schemas.openxmlformats.org/drawingml/2006/main" w="0">
            <a:solidFill>
              <a:srgbClr val="24C1D6"/>
            </a:solidFill>
          </a:ln>
        </p:spPr>
      </p:sp>
      <p:sp>
        <p:nvSpPr>
          <p:cNvPr id="13" name="">
            <a:extLst xmlns:a="http://schemas.openxmlformats.org/drawingml/2006/main">
              <a:ext uri="{FF2B5EF4-FFF2-40B4-BE49-F238E27FC236}">
                <a16:creationId xmlns:a16="http://schemas.microsoft.com/office/drawing/2014/main" id="{C79DB84B-6A27-4E3F-A0A2-0C78CCAC3F81}"/>
              </a:ext>
            </a:extLst>
          </p:cNvPr>
          <p:cNvSpPr>
            <a:spLocks xmlns:a="http://schemas.openxmlformats.org/drawingml/2006/main" noGrp="1"/>
          </p:cNvSpPr>
          <p:nvPr/>
        </p:nvSpPr>
        <p:spPr>
          <a:xfrm xmlns:a="http://schemas.openxmlformats.org/drawingml/2006/main">
            <a:off x="6572250" y="1752600"/>
            <a:ext cx="5010150" cy="666750"/>
          </a:xfrm>
          <a:prstGeom xmlns:a="http://schemas.openxmlformats.org/drawingml/2006/main" prst="roundRect">
            <a:avLst>
              <a:gd name="adj" fmla="val 11429"/>
            </a:avLst>
          </a:prstGeom>
          <a:solidFill xmlns:a="http://schemas.openxmlformats.org/drawingml/2006/main">
            <a:srgbClr val="EAF8F3"/>
          </a:solidFill>
          <a:ln xmlns:a="http://schemas.openxmlformats.org/drawingml/2006/main" w="9525">
            <a:solidFill>
              <a:srgbClr val="B9E6D6"/>
            </a:solidFill>
          </a:ln>
        </p:spPr>
      </p:sp>
      <p:sp>
        <p:nvSpPr>
          <p:cNvPr id="14" name="">
            <a:extLst xmlns:a="http://schemas.openxmlformats.org/drawingml/2006/main">
              <a:ext uri="{FF2B5EF4-FFF2-40B4-BE49-F238E27FC236}">
                <a16:creationId xmlns:a16="http://schemas.microsoft.com/office/drawing/2014/main" id="{37201FA0-8F27-4CFD-9488-BF8A960FC2EF}"/>
              </a:ext>
            </a:extLst>
          </p:cNvPr>
          <p:cNvSpPr>
            <a:spLocks xmlns:a="http://schemas.openxmlformats.org/drawingml/2006/main" noGrp="1"/>
          </p:cNvSpPr>
          <p:nvPr/>
        </p:nvSpPr>
        <p:spPr>
          <a:xfrm xmlns:a="http://schemas.openxmlformats.org/drawingml/2006/main">
            <a:off x="6572250" y="1752600"/>
            <a:ext cx="66675" cy="666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15" name="">
            <a:extLst xmlns:a="http://schemas.openxmlformats.org/drawingml/2006/main">
              <a:ext uri="{FF2B5EF4-FFF2-40B4-BE49-F238E27FC236}">
                <a16:creationId xmlns:a16="http://schemas.microsoft.com/office/drawing/2014/main" id="{8A0CAED4-3AA2-4A2E-A15F-C0C213762A9D}"/>
              </a:ext>
            </a:extLst>
          </p:cNvPr>
          <p:cNvSpPr>
            <a:spLocks xmlns:a="http://schemas.openxmlformats.org/drawingml/2006/main" noGrp="1"/>
          </p:cNvSpPr>
          <p:nvPr/>
        </p:nvSpPr>
        <p:spPr>
          <a:xfrm xmlns:a="http://schemas.openxmlformats.org/drawingml/2006/main">
            <a:off x="6829425" y="190500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Map forecast and target dates explicitly</a:t>
            </a:r>
          </a:p>
        </p:txBody>
      </p:sp>
      <p:sp>
        <p:nvSpPr>
          <p:cNvPr id="16" name="">
            <a:extLst xmlns:a="http://schemas.openxmlformats.org/drawingml/2006/main">
              <a:ext uri="{FF2B5EF4-FFF2-40B4-BE49-F238E27FC236}">
                <a16:creationId xmlns:a16="http://schemas.microsoft.com/office/drawing/2014/main" id="{BFC5D132-CCE1-4F96-A675-7AB1D0128F61}"/>
              </a:ext>
            </a:extLst>
          </p:cNvPr>
          <p:cNvSpPr>
            <a:spLocks xmlns:a="http://schemas.openxmlformats.org/drawingml/2006/main" noGrp="1"/>
          </p:cNvSpPr>
          <p:nvPr/>
        </p:nvSpPr>
        <p:spPr>
          <a:xfrm xmlns:a="http://schemas.openxmlformats.org/drawingml/2006/main">
            <a:off x="609600" y="2600325"/>
            <a:ext cx="4857750" cy="666750"/>
          </a:xfrm>
          <a:prstGeom xmlns:a="http://schemas.openxmlformats.org/drawingml/2006/main" prst="roundRect">
            <a:avLst>
              <a:gd name="adj" fmla="val 11429"/>
            </a:avLst>
          </a:prstGeom>
          <a:solidFill xmlns:a="http://schemas.openxmlformats.org/drawingml/2006/main">
            <a:srgbClr val="FDECEC"/>
          </a:solidFill>
          <a:ln xmlns:a="http://schemas.openxmlformats.org/drawingml/2006/main" w="9525">
            <a:solidFill>
              <a:srgbClr val="F3C1C1"/>
            </a:solidFill>
          </a:ln>
        </p:spPr>
      </p:sp>
      <p:sp>
        <p:nvSpPr>
          <p:cNvPr id="17" name="">
            <a:extLst xmlns:a="http://schemas.openxmlformats.org/drawingml/2006/main">
              <a:ext uri="{FF2B5EF4-FFF2-40B4-BE49-F238E27FC236}">
                <a16:creationId xmlns:a16="http://schemas.microsoft.com/office/drawing/2014/main" id="{0A26FD76-70B7-482E-BB68-D8B29733EFFD}"/>
              </a:ext>
            </a:extLst>
          </p:cNvPr>
          <p:cNvSpPr>
            <a:spLocks xmlns:a="http://schemas.openxmlformats.org/drawingml/2006/main" noGrp="1"/>
          </p:cNvSpPr>
          <p:nvPr/>
        </p:nvSpPr>
        <p:spPr>
          <a:xfrm xmlns:a="http://schemas.openxmlformats.org/drawingml/2006/main">
            <a:off x="609600" y="2600325"/>
            <a:ext cx="66675" cy="66675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18" name="">
            <a:extLst xmlns:a="http://schemas.openxmlformats.org/drawingml/2006/main">
              <a:ext uri="{FF2B5EF4-FFF2-40B4-BE49-F238E27FC236}">
                <a16:creationId xmlns:a16="http://schemas.microsoft.com/office/drawing/2014/main" id="{AF6FE2B7-AE83-430B-A6E4-0736E66F5EE4}"/>
              </a:ext>
            </a:extLst>
          </p:cNvPr>
          <p:cNvSpPr>
            <a:spLocks xmlns:a="http://schemas.openxmlformats.org/drawingml/2006/main" noGrp="1"/>
          </p:cNvSpPr>
          <p:nvPr/>
        </p:nvSpPr>
        <p:spPr>
          <a:xfrm xmlns:a="http://schemas.openxmlformats.org/drawingml/2006/main">
            <a:off x="866775" y="2781300"/>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GARCH scored after update</a:t>
            </a:r>
          </a:p>
        </p:txBody>
      </p:sp>
      <p:sp>
        <p:nvSpPr>
          <p:cNvPr id="19" name="">
            <a:extLst xmlns:a="http://schemas.openxmlformats.org/drawingml/2006/main">
              <a:ext uri="{FF2B5EF4-FFF2-40B4-BE49-F238E27FC236}">
                <a16:creationId xmlns:a16="http://schemas.microsoft.com/office/drawing/2014/main" id="{48D9D8E4-22BB-45DF-9BB5-5AE788754F45}"/>
              </a:ext>
            </a:extLst>
          </p:cNvPr>
          <p:cNvSpPr>
            <a:spLocks xmlns:a="http://schemas.openxmlformats.org/drawingml/2006/main" noGrp="1"/>
          </p:cNvSpPr>
          <p:nvPr/>
        </p:nvSpPr>
        <p:spPr>
          <a:xfrm xmlns:a="http://schemas.openxmlformats.org/drawingml/2006/main">
            <a:off x="5734050" y="2828925"/>
            <a:ext cx="571500" cy="190500"/>
          </a:xfrm>
          <a:prstGeom xmlns:a="http://schemas.openxmlformats.org/drawingml/2006/main" prst="rightArrow">
            <a:avLst/>
          </a:prstGeom>
          <a:solidFill xmlns:a="http://schemas.openxmlformats.org/drawingml/2006/main">
            <a:srgbClr val="24C1D6"/>
          </a:solidFill>
          <a:ln xmlns:a="http://schemas.openxmlformats.org/drawingml/2006/main" w="0">
            <a:solidFill>
              <a:srgbClr val="24C1D6"/>
            </a:solidFill>
          </a:ln>
        </p:spPr>
      </p:sp>
      <p:sp>
        <p:nvSpPr>
          <p:cNvPr id="20" name="">
            <a:extLst xmlns:a="http://schemas.openxmlformats.org/drawingml/2006/main">
              <a:ext uri="{FF2B5EF4-FFF2-40B4-BE49-F238E27FC236}">
                <a16:creationId xmlns:a16="http://schemas.microsoft.com/office/drawing/2014/main" id="{4F865F86-08B9-44F4-891B-4287DE42182B}"/>
              </a:ext>
            </a:extLst>
          </p:cNvPr>
          <p:cNvSpPr>
            <a:spLocks xmlns:a="http://schemas.openxmlformats.org/drawingml/2006/main" noGrp="1"/>
          </p:cNvSpPr>
          <p:nvPr/>
        </p:nvSpPr>
        <p:spPr>
          <a:xfrm xmlns:a="http://schemas.openxmlformats.org/drawingml/2006/main">
            <a:off x="6572250" y="2600325"/>
            <a:ext cx="5010150" cy="666750"/>
          </a:xfrm>
          <a:prstGeom xmlns:a="http://schemas.openxmlformats.org/drawingml/2006/main" prst="roundRect">
            <a:avLst>
              <a:gd name="adj" fmla="val 11429"/>
            </a:avLst>
          </a:prstGeom>
          <a:solidFill xmlns:a="http://schemas.openxmlformats.org/drawingml/2006/main">
            <a:srgbClr val="EAF8F3"/>
          </a:solidFill>
          <a:ln xmlns:a="http://schemas.openxmlformats.org/drawingml/2006/main" w="9525">
            <a:solidFill>
              <a:srgbClr val="B9E6D6"/>
            </a:solidFill>
          </a:ln>
        </p:spPr>
      </p:sp>
      <p:sp>
        <p:nvSpPr>
          <p:cNvPr id="21" name="">
            <a:extLst xmlns:a="http://schemas.openxmlformats.org/drawingml/2006/main">
              <a:ext uri="{FF2B5EF4-FFF2-40B4-BE49-F238E27FC236}">
                <a16:creationId xmlns:a16="http://schemas.microsoft.com/office/drawing/2014/main" id="{6535E9DB-462D-4F9C-A947-53152F4FA8AD}"/>
              </a:ext>
            </a:extLst>
          </p:cNvPr>
          <p:cNvSpPr>
            <a:spLocks xmlns:a="http://schemas.openxmlformats.org/drawingml/2006/main" noGrp="1"/>
          </p:cNvSpPr>
          <p:nvPr/>
        </p:nvSpPr>
        <p:spPr>
          <a:xfrm xmlns:a="http://schemas.openxmlformats.org/drawingml/2006/main">
            <a:off x="6572250" y="2600325"/>
            <a:ext cx="66675" cy="666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22" name="">
            <a:extLst xmlns:a="http://schemas.openxmlformats.org/drawingml/2006/main">
              <a:ext uri="{FF2B5EF4-FFF2-40B4-BE49-F238E27FC236}">
                <a16:creationId xmlns:a16="http://schemas.microsoft.com/office/drawing/2014/main" id="{842CC649-A00D-483B-977F-072D4962BA49}"/>
              </a:ext>
            </a:extLst>
          </p:cNvPr>
          <p:cNvSpPr>
            <a:spLocks xmlns:a="http://schemas.openxmlformats.org/drawingml/2006/main" noGrp="1"/>
          </p:cNvSpPr>
          <p:nvPr/>
        </p:nvSpPr>
        <p:spPr>
          <a:xfrm xmlns:a="http://schemas.openxmlformats.org/drawingml/2006/main">
            <a:off x="6829425" y="2752725"/>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Score first, then update the recursion</a:t>
            </a:r>
          </a:p>
        </p:txBody>
      </p:sp>
      <p:sp>
        <p:nvSpPr>
          <p:cNvPr id="23" name="">
            <a:extLst xmlns:a="http://schemas.openxmlformats.org/drawingml/2006/main">
              <a:ext uri="{FF2B5EF4-FFF2-40B4-BE49-F238E27FC236}">
                <a16:creationId xmlns:a16="http://schemas.microsoft.com/office/drawing/2014/main" id="{D7ABD4BA-AE79-4198-919F-E710A5588014}"/>
              </a:ext>
            </a:extLst>
          </p:cNvPr>
          <p:cNvSpPr>
            <a:spLocks xmlns:a="http://schemas.openxmlformats.org/drawingml/2006/main" noGrp="1"/>
          </p:cNvSpPr>
          <p:nvPr/>
        </p:nvSpPr>
        <p:spPr>
          <a:xfrm xmlns:a="http://schemas.openxmlformats.org/drawingml/2006/main">
            <a:off x="609600" y="3448050"/>
            <a:ext cx="4857750" cy="666750"/>
          </a:xfrm>
          <a:prstGeom xmlns:a="http://schemas.openxmlformats.org/drawingml/2006/main" prst="roundRect">
            <a:avLst>
              <a:gd name="adj" fmla="val 11429"/>
            </a:avLst>
          </a:prstGeom>
          <a:solidFill xmlns:a="http://schemas.openxmlformats.org/drawingml/2006/main">
            <a:srgbClr val="FDECEC"/>
          </a:solidFill>
          <a:ln xmlns:a="http://schemas.openxmlformats.org/drawingml/2006/main" w="9525">
            <a:solidFill>
              <a:srgbClr val="F3C1C1"/>
            </a:solidFill>
          </a:ln>
        </p:spPr>
      </p:sp>
      <p:sp>
        <p:nvSpPr>
          <p:cNvPr id="24" name="">
            <a:extLst xmlns:a="http://schemas.openxmlformats.org/drawingml/2006/main">
              <a:ext uri="{FF2B5EF4-FFF2-40B4-BE49-F238E27FC236}">
                <a16:creationId xmlns:a16="http://schemas.microsoft.com/office/drawing/2014/main" id="{BEB8A530-08D6-4B55-9DA6-A70FAC06F450}"/>
              </a:ext>
            </a:extLst>
          </p:cNvPr>
          <p:cNvSpPr>
            <a:spLocks xmlns:a="http://schemas.openxmlformats.org/drawingml/2006/main" noGrp="1"/>
          </p:cNvSpPr>
          <p:nvPr/>
        </p:nvSpPr>
        <p:spPr>
          <a:xfrm xmlns:a="http://schemas.openxmlformats.org/drawingml/2006/main">
            <a:off x="609600" y="3448050"/>
            <a:ext cx="66675" cy="66675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25" name="">
            <a:extLst xmlns:a="http://schemas.openxmlformats.org/drawingml/2006/main">
              <a:ext uri="{FF2B5EF4-FFF2-40B4-BE49-F238E27FC236}">
                <a16:creationId xmlns:a16="http://schemas.microsoft.com/office/drawing/2014/main" id="{F835A642-A72F-42CF-86C0-DA39288FFFB9}"/>
              </a:ext>
            </a:extLst>
          </p:cNvPr>
          <p:cNvSpPr>
            <a:spLocks xmlns:a="http://schemas.openxmlformats.org/drawingml/2006/main" noGrp="1"/>
          </p:cNvSpPr>
          <p:nvPr/>
        </p:nvSpPr>
        <p:spPr>
          <a:xfrm xmlns:a="http://schemas.openxmlformats.org/drawingml/2006/main">
            <a:off x="866775" y="362902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Variance treated as SD</a:t>
            </a:r>
          </a:p>
        </p:txBody>
      </p:sp>
      <p:sp>
        <p:nvSpPr>
          <p:cNvPr id="26" name="">
            <a:extLst xmlns:a="http://schemas.openxmlformats.org/drawingml/2006/main">
              <a:ext uri="{FF2B5EF4-FFF2-40B4-BE49-F238E27FC236}">
                <a16:creationId xmlns:a16="http://schemas.microsoft.com/office/drawing/2014/main" id="{BD010328-102E-46EB-AFBA-5AC33A280014}"/>
              </a:ext>
            </a:extLst>
          </p:cNvPr>
          <p:cNvSpPr>
            <a:spLocks xmlns:a="http://schemas.openxmlformats.org/drawingml/2006/main" noGrp="1"/>
          </p:cNvSpPr>
          <p:nvPr/>
        </p:nvSpPr>
        <p:spPr>
          <a:xfrm xmlns:a="http://schemas.openxmlformats.org/drawingml/2006/main">
            <a:off x="5734050" y="3676650"/>
            <a:ext cx="571500" cy="190500"/>
          </a:xfrm>
          <a:prstGeom xmlns:a="http://schemas.openxmlformats.org/drawingml/2006/main" prst="rightArrow">
            <a:avLst/>
          </a:prstGeom>
          <a:solidFill xmlns:a="http://schemas.openxmlformats.org/drawingml/2006/main">
            <a:srgbClr val="24C1D6"/>
          </a:solidFill>
          <a:ln xmlns:a="http://schemas.openxmlformats.org/drawingml/2006/main" w="0">
            <a:solidFill>
              <a:srgbClr val="24C1D6"/>
            </a:solidFill>
          </a:ln>
        </p:spPr>
      </p:sp>
      <p:sp>
        <p:nvSpPr>
          <p:cNvPr id="27" name="">
            <a:extLst xmlns:a="http://schemas.openxmlformats.org/drawingml/2006/main">
              <a:ext uri="{FF2B5EF4-FFF2-40B4-BE49-F238E27FC236}">
                <a16:creationId xmlns:a16="http://schemas.microsoft.com/office/drawing/2014/main" id="{6EB96ADB-8081-497E-97A3-5382A1022AEB}"/>
              </a:ext>
            </a:extLst>
          </p:cNvPr>
          <p:cNvSpPr>
            <a:spLocks xmlns:a="http://schemas.openxmlformats.org/drawingml/2006/main" noGrp="1"/>
          </p:cNvSpPr>
          <p:nvPr/>
        </p:nvSpPr>
        <p:spPr>
          <a:xfrm xmlns:a="http://schemas.openxmlformats.org/drawingml/2006/main">
            <a:off x="6572250" y="3448050"/>
            <a:ext cx="5010150" cy="666750"/>
          </a:xfrm>
          <a:prstGeom xmlns:a="http://schemas.openxmlformats.org/drawingml/2006/main" prst="roundRect">
            <a:avLst>
              <a:gd name="adj" fmla="val 11429"/>
            </a:avLst>
          </a:prstGeom>
          <a:solidFill xmlns:a="http://schemas.openxmlformats.org/drawingml/2006/main">
            <a:srgbClr val="EAF8F3"/>
          </a:solidFill>
          <a:ln xmlns:a="http://schemas.openxmlformats.org/drawingml/2006/main" w="9525">
            <a:solidFill>
              <a:srgbClr val="B9E6D6"/>
            </a:solidFill>
          </a:ln>
        </p:spPr>
      </p:sp>
      <p:sp>
        <p:nvSpPr>
          <p:cNvPr id="28" name="">
            <a:extLst xmlns:a="http://schemas.openxmlformats.org/drawingml/2006/main">
              <a:ext uri="{FF2B5EF4-FFF2-40B4-BE49-F238E27FC236}">
                <a16:creationId xmlns:a16="http://schemas.microsoft.com/office/drawing/2014/main" id="{3B330D2D-7328-49F3-AF4B-805CFEF1EFFD}"/>
              </a:ext>
            </a:extLst>
          </p:cNvPr>
          <p:cNvSpPr>
            <a:spLocks xmlns:a="http://schemas.openxmlformats.org/drawingml/2006/main" noGrp="1"/>
          </p:cNvSpPr>
          <p:nvPr/>
        </p:nvSpPr>
        <p:spPr>
          <a:xfrm xmlns:a="http://schemas.openxmlformats.org/drawingml/2006/main">
            <a:off x="6572250" y="3448050"/>
            <a:ext cx="66675" cy="666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29" name="">
            <a:extLst xmlns:a="http://schemas.openxmlformats.org/drawingml/2006/main">
              <a:ext uri="{FF2B5EF4-FFF2-40B4-BE49-F238E27FC236}">
                <a16:creationId xmlns:a16="http://schemas.microsoft.com/office/drawing/2014/main" id="{DD1C636D-8831-4599-82FE-26D06553BBB6}"/>
              </a:ext>
            </a:extLst>
          </p:cNvPr>
          <p:cNvSpPr>
            <a:spLocks xmlns:a="http://schemas.openxmlformats.org/drawingml/2006/main" noGrp="1"/>
          </p:cNvSpPr>
          <p:nvPr/>
        </p:nvSpPr>
        <p:spPr>
          <a:xfrm xmlns:a="http://schemas.openxmlformats.org/drawingml/2006/main">
            <a:off x="6829425" y="36004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Use E[s] conversion and test sensitivity</a:t>
            </a:r>
          </a:p>
        </p:txBody>
      </p:sp>
      <p:sp>
        <p:nvSpPr>
          <p:cNvPr id="30" name="">
            <a:extLst xmlns:a="http://schemas.openxmlformats.org/drawingml/2006/main">
              <a:ext uri="{FF2B5EF4-FFF2-40B4-BE49-F238E27FC236}">
                <a16:creationId xmlns:a16="http://schemas.microsoft.com/office/drawing/2014/main" id="{EADA48A8-BFE0-46C9-9396-9E9BE253D6D6}"/>
              </a:ext>
            </a:extLst>
          </p:cNvPr>
          <p:cNvSpPr>
            <a:spLocks xmlns:a="http://schemas.openxmlformats.org/drawingml/2006/main" noGrp="1"/>
          </p:cNvSpPr>
          <p:nvPr/>
        </p:nvSpPr>
        <p:spPr>
          <a:xfrm xmlns:a="http://schemas.openxmlformats.org/drawingml/2006/main">
            <a:off x="609600" y="4295775"/>
            <a:ext cx="4857750" cy="666750"/>
          </a:xfrm>
          <a:prstGeom xmlns:a="http://schemas.openxmlformats.org/drawingml/2006/main" prst="roundRect">
            <a:avLst>
              <a:gd name="adj" fmla="val 11429"/>
            </a:avLst>
          </a:prstGeom>
          <a:solidFill xmlns:a="http://schemas.openxmlformats.org/drawingml/2006/main">
            <a:srgbClr val="FDECEC"/>
          </a:solidFill>
          <a:ln xmlns:a="http://schemas.openxmlformats.org/drawingml/2006/main" w="9525">
            <a:solidFill>
              <a:srgbClr val="F3C1C1"/>
            </a:solidFill>
          </a:ln>
        </p:spPr>
      </p:sp>
      <p:sp>
        <p:nvSpPr>
          <p:cNvPr id="31" name="">
            <a:extLst xmlns:a="http://schemas.openxmlformats.org/drawingml/2006/main">
              <a:ext uri="{FF2B5EF4-FFF2-40B4-BE49-F238E27FC236}">
                <a16:creationId xmlns:a16="http://schemas.microsoft.com/office/drawing/2014/main" id="{A997DB26-3483-4021-B923-5A3431C70775}"/>
              </a:ext>
            </a:extLst>
          </p:cNvPr>
          <p:cNvSpPr>
            <a:spLocks xmlns:a="http://schemas.openxmlformats.org/drawingml/2006/main" noGrp="1"/>
          </p:cNvSpPr>
          <p:nvPr/>
        </p:nvSpPr>
        <p:spPr>
          <a:xfrm xmlns:a="http://schemas.openxmlformats.org/drawingml/2006/main">
            <a:off x="609600" y="4295775"/>
            <a:ext cx="66675" cy="66675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32" name="">
            <a:extLst xmlns:a="http://schemas.openxmlformats.org/drawingml/2006/main">
              <a:ext uri="{FF2B5EF4-FFF2-40B4-BE49-F238E27FC236}">
                <a16:creationId xmlns:a16="http://schemas.microsoft.com/office/drawing/2014/main" id="{6412DBC2-515E-4C4B-886A-80DAE7DB4FAD}"/>
              </a:ext>
            </a:extLst>
          </p:cNvPr>
          <p:cNvSpPr>
            <a:spLocks xmlns:a="http://schemas.openxmlformats.org/drawingml/2006/main" noGrp="1"/>
          </p:cNvSpPr>
          <p:nvPr/>
        </p:nvSpPr>
        <p:spPr>
          <a:xfrm xmlns:a="http://schemas.openxmlformats.org/drawingml/2006/main">
            <a:off x="866775" y="4476750"/>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Duplicate rolling feature</a:t>
            </a:r>
          </a:p>
        </p:txBody>
      </p:sp>
      <p:sp>
        <p:nvSpPr>
          <p:cNvPr id="33" name="">
            <a:extLst xmlns:a="http://schemas.openxmlformats.org/drawingml/2006/main">
              <a:ext uri="{FF2B5EF4-FFF2-40B4-BE49-F238E27FC236}">
                <a16:creationId xmlns:a16="http://schemas.microsoft.com/office/drawing/2014/main" id="{66B4EBAB-97E6-4D75-AE0A-5B16F5A90DAE}"/>
              </a:ext>
            </a:extLst>
          </p:cNvPr>
          <p:cNvSpPr>
            <a:spLocks xmlns:a="http://schemas.openxmlformats.org/drawingml/2006/main" noGrp="1"/>
          </p:cNvSpPr>
          <p:nvPr/>
        </p:nvSpPr>
        <p:spPr>
          <a:xfrm xmlns:a="http://schemas.openxmlformats.org/drawingml/2006/main">
            <a:off x="5734050" y="4524375"/>
            <a:ext cx="571500" cy="190500"/>
          </a:xfrm>
          <a:prstGeom xmlns:a="http://schemas.openxmlformats.org/drawingml/2006/main" prst="rightArrow">
            <a:avLst/>
          </a:prstGeom>
          <a:solidFill xmlns:a="http://schemas.openxmlformats.org/drawingml/2006/main">
            <a:srgbClr val="24C1D6"/>
          </a:solidFill>
          <a:ln xmlns:a="http://schemas.openxmlformats.org/drawingml/2006/main" w="0">
            <a:solidFill>
              <a:srgbClr val="24C1D6"/>
            </a:solidFill>
          </a:ln>
        </p:spPr>
      </p:sp>
      <p:sp>
        <p:nvSpPr>
          <p:cNvPr id="34" name="">
            <a:extLst xmlns:a="http://schemas.openxmlformats.org/drawingml/2006/main">
              <a:ext uri="{FF2B5EF4-FFF2-40B4-BE49-F238E27FC236}">
                <a16:creationId xmlns:a16="http://schemas.microsoft.com/office/drawing/2014/main" id="{35C359EA-37CC-4926-B913-AA4778E3DCE2}"/>
              </a:ext>
            </a:extLst>
          </p:cNvPr>
          <p:cNvSpPr>
            <a:spLocks xmlns:a="http://schemas.openxmlformats.org/drawingml/2006/main" noGrp="1"/>
          </p:cNvSpPr>
          <p:nvPr/>
        </p:nvSpPr>
        <p:spPr>
          <a:xfrm xmlns:a="http://schemas.openxmlformats.org/drawingml/2006/main">
            <a:off x="6572250" y="4295775"/>
            <a:ext cx="5010150" cy="666750"/>
          </a:xfrm>
          <a:prstGeom xmlns:a="http://schemas.openxmlformats.org/drawingml/2006/main" prst="roundRect">
            <a:avLst>
              <a:gd name="adj" fmla="val 11429"/>
            </a:avLst>
          </a:prstGeom>
          <a:solidFill xmlns:a="http://schemas.openxmlformats.org/drawingml/2006/main">
            <a:srgbClr val="EAF8F3"/>
          </a:solidFill>
          <a:ln xmlns:a="http://schemas.openxmlformats.org/drawingml/2006/main" w="9525">
            <a:solidFill>
              <a:srgbClr val="B9E6D6"/>
            </a:solidFill>
          </a:ln>
        </p:spPr>
      </p:sp>
      <p:sp>
        <p:nvSpPr>
          <p:cNvPr id="35" name="">
            <a:extLst xmlns:a="http://schemas.openxmlformats.org/drawingml/2006/main">
              <a:ext uri="{FF2B5EF4-FFF2-40B4-BE49-F238E27FC236}">
                <a16:creationId xmlns:a16="http://schemas.microsoft.com/office/drawing/2014/main" id="{4A7EA269-E209-436D-B4CE-1A5BA6A7E83B}"/>
              </a:ext>
            </a:extLst>
          </p:cNvPr>
          <p:cNvSpPr>
            <a:spLocks xmlns:a="http://schemas.openxmlformats.org/drawingml/2006/main" noGrp="1"/>
          </p:cNvSpPr>
          <p:nvPr/>
        </p:nvSpPr>
        <p:spPr>
          <a:xfrm xmlns:a="http://schemas.openxmlformats.org/drawingml/2006/main">
            <a:off x="6572250" y="4295775"/>
            <a:ext cx="66675" cy="666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36" name="">
            <a:extLst xmlns:a="http://schemas.openxmlformats.org/drawingml/2006/main">
              <a:ext uri="{FF2B5EF4-FFF2-40B4-BE49-F238E27FC236}">
                <a16:creationId xmlns:a16="http://schemas.microsoft.com/office/drawing/2014/main" id="{8814C49F-04C3-4A0A-9591-A309CFED5A92}"/>
              </a:ext>
            </a:extLst>
          </p:cNvPr>
          <p:cNvSpPr>
            <a:spLocks xmlns:a="http://schemas.openxmlformats.org/drawingml/2006/main" noGrp="1"/>
          </p:cNvSpPr>
          <p:nvPr/>
        </p:nvSpPr>
        <p:spPr>
          <a:xfrm xmlns:a="http://schemas.openxmlformats.org/drawingml/2006/main">
            <a:off x="6829425" y="4448175"/>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Remove duplicate input before interpretation</a:t>
            </a:r>
          </a:p>
        </p:txBody>
      </p:sp>
      <p:sp>
        <p:nvSpPr>
          <p:cNvPr id="37" name="">
            <a:extLst xmlns:a="http://schemas.openxmlformats.org/drawingml/2006/main">
              <a:ext uri="{FF2B5EF4-FFF2-40B4-BE49-F238E27FC236}">
                <a16:creationId xmlns:a16="http://schemas.microsoft.com/office/drawing/2014/main" id="{F2125A1A-F945-4C38-9E6E-CCB50C1B2DD7}"/>
              </a:ext>
            </a:extLst>
          </p:cNvPr>
          <p:cNvSpPr>
            <a:spLocks xmlns:a="http://schemas.openxmlformats.org/drawingml/2006/main" noGrp="1"/>
          </p:cNvSpPr>
          <p:nvPr/>
        </p:nvSpPr>
        <p:spPr>
          <a:xfrm xmlns:a="http://schemas.openxmlformats.org/drawingml/2006/main">
            <a:off x="609600" y="5143500"/>
            <a:ext cx="4857750" cy="666750"/>
          </a:xfrm>
          <a:prstGeom xmlns:a="http://schemas.openxmlformats.org/drawingml/2006/main" prst="roundRect">
            <a:avLst>
              <a:gd name="adj" fmla="val 11429"/>
            </a:avLst>
          </a:prstGeom>
          <a:solidFill xmlns:a="http://schemas.openxmlformats.org/drawingml/2006/main">
            <a:srgbClr val="FDECEC"/>
          </a:solidFill>
          <a:ln xmlns:a="http://schemas.openxmlformats.org/drawingml/2006/main" w="9525">
            <a:solidFill>
              <a:srgbClr val="F3C1C1"/>
            </a:solidFill>
          </a:ln>
        </p:spPr>
      </p:sp>
      <p:sp>
        <p:nvSpPr>
          <p:cNvPr id="38" name="">
            <a:extLst xmlns:a="http://schemas.openxmlformats.org/drawingml/2006/main">
              <a:ext uri="{FF2B5EF4-FFF2-40B4-BE49-F238E27FC236}">
                <a16:creationId xmlns:a16="http://schemas.microsoft.com/office/drawing/2014/main" id="{59B7E0CB-414B-4DB5-AC40-F408CAC7FB7C}"/>
              </a:ext>
            </a:extLst>
          </p:cNvPr>
          <p:cNvSpPr>
            <a:spLocks xmlns:a="http://schemas.openxmlformats.org/drawingml/2006/main" noGrp="1"/>
          </p:cNvSpPr>
          <p:nvPr/>
        </p:nvSpPr>
        <p:spPr>
          <a:xfrm xmlns:a="http://schemas.openxmlformats.org/drawingml/2006/main">
            <a:off x="609600" y="5143500"/>
            <a:ext cx="66675" cy="666750"/>
          </a:xfrm>
          <a:prstGeom xmlns:a="http://schemas.openxmlformats.org/drawingml/2006/main" prst="roundRect">
            <a:avLst>
              <a:gd name="adj" fmla="val 50000"/>
            </a:avLst>
          </a:prstGeom>
          <a:solidFill xmlns:a="http://schemas.openxmlformats.org/drawingml/2006/main">
            <a:srgbClr val="E45756"/>
          </a:solidFill>
          <a:ln xmlns:a="http://schemas.openxmlformats.org/drawingml/2006/main" w="0">
            <a:solidFill>
              <a:srgbClr val="E45756"/>
            </a:solidFill>
          </a:ln>
        </p:spPr>
      </p:sp>
      <p:sp>
        <p:nvSpPr>
          <p:cNvPr id="39" name="">
            <a:extLst xmlns:a="http://schemas.openxmlformats.org/drawingml/2006/main">
              <a:ext uri="{FF2B5EF4-FFF2-40B4-BE49-F238E27FC236}">
                <a16:creationId xmlns:a16="http://schemas.microsoft.com/office/drawing/2014/main" id="{D50BA475-6F86-418C-8C55-DC1F1A34D61C}"/>
              </a:ext>
            </a:extLst>
          </p:cNvPr>
          <p:cNvSpPr>
            <a:spLocks xmlns:a="http://schemas.openxmlformats.org/drawingml/2006/main" noGrp="1"/>
          </p:cNvSpPr>
          <p:nvPr/>
        </p:nvSpPr>
        <p:spPr>
          <a:xfrm xmlns:a="http://schemas.openxmlformats.org/drawingml/2006/main">
            <a:off x="866775" y="532447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Open candle / moving split</a:t>
            </a:r>
          </a:p>
        </p:txBody>
      </p:sp>
      <p:sp>
        <p:nvSpPr>
          <p:cNvPr id="40" name="">
            <a:extLst xmlns:a="http://schemas.openxmlformats.org/drawingml/2006/main">
              <a:ext uri="{FF2B5EF4-FFF2-40B4-BE49-F238E27FC236}">
                <a16:creationId xmlns:a16="http://schemas.microsoft.com/office/drawing/2014/main" id="{DED14E68-702C-4373-8487-E71C09983E93}"/>
              </a:ext>
            </a:extLst>
          </p:cNvPr>
          <p:cNvSpPr>
            <a:spLocks xmlns:a="http://schemas.openxmlformats.org/drawingml/2006/main" noGrp="1"/>
          </p:cNvSpPr>
          <p:nvPr/>
        </p:nvSpPr>
        <p:spPr>
          <a:xfrm xmlns:a="http://schemas.openxmlformats.org/drawingml/2006/main">
            <a:off x="5734050" y="5372100"/>
            <a:ext cx="571500" cy="190500"/>
          </a:xfrm>
          <a:prstGeom xmlns:a="http://schemas.openxmlformats.org/drawingml/2006/main" prst="rightArrow">
            <a:avLst/>
          </a:prstGeom>
          <a:solidFill xmlns:a="http://schemas.openxmlformats.org/drawingml/2006/main">
            <a:srgbClr val="24C1D6"/>
          </a:solidFill>
          <a:ln xmlns:a="http://schemas.openxmlformats.org/drawingml/2006/main" w="0">
            <a:solidFill>
              <a:srgbClr val="24C1D6"/>
            </a:solidFill>
          </a:ln>
        </p:spPr>
      </p:sp>
      <p:sp>
        <p:nvSpPr>
          <p:cNvPr id="41" name="">
            <a:extLst xmlns:a="http://schemas.openxmlformats.org/drawingml/2006/main">
              <a:ext uri="{FF2B5EF4-FFF2-40B4-BE49-F238E27FC236}">
                <a16:creationId xmlns:a16="http://schemas.microsoft.com/office/drawing/2014/main" id="{254BE141-715C-407B-89CE-85F0DFEEF45F}"/>
              </a:ext>
            </a:extLst>
          </p:cNvPr>
          <p:cNvSpPr>
            <a:spLocks xmlns:a="http://schemas.openxmlformats.org/drawingml/2006/main" noGrp="1"/>
          </p:cNvSpPr>
          <p:nvPr/>
        </p:nvSpPr>
        <p:spPr>
          <a:xfrm xmlns:a="http://schemas.openxmlformats.org/drawingml/2006/main">
            <a:off x="6572250" y="5143500"/>
            <a:ext cx="5010150" cy="666750"/>
          </a:xfrm>
          <a:prstGeom xmlns:a="http://schemas.openxmlformats.org/drawingml/2006/main" prst="roundRect">
            <a:avLst>
              <a:gd name="adj" fmla="val 11429"/>
            </a:avLst>
          </a:prstGeom>
          <a:solidFill xmlns:a="http://schemas.openxmlformats.org/drawingml/2006/main">
            <a:srgbClr val="EAF8F3"/>
          </a:solidFill>
          <a:ln xmlns:a="http://schemas.openxmlformats.org/drawingml/2006/main" w="9525">
            <a:solidFill>
              <a:srgbClr val="B9E6D6"/>
            </a:solidFill>
          </a:ln>
        </p:spPr>
      </p:sp>
      <p:sp>
        <p:nvSpPr>
          <p:cNvPr id="42" name="">
            <a:extLst xmlns:a="http://schemas.openxmlformats.org/drawingml/2006/main">
              <a:ext uri="{FF2B5EF4-FFF2-40B4-BE49-F238E27FC236}">
                <a16:creationId xmlns:a16="http://schemas.microsoft.com/office/drawing/2014/main" id="{A4C8F679-9AB5-4049-A437-C556C134092E}"/>
              </a:ext>
            </a:extLst>
          </p:cNvPr>
          <p:cNvSpPr>
            <a:spLocks xmlns:a="http://schemas.openxmlformats.org/drawingml/2006/main" noGrp="1"/>
          </p:cNvSpPr>
          <p:nvPr/>
        </p:nvSpPr>
        <p:spPr>
          <a:xfrm xmlns:a="http://schemas.openxmlformats.org/drawingml/2006/main">
            <a:off x="6572250" y="5143500"/>
            <a:ext cx="66675" cy="66675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43" name="">
            <a:extLst xmlns:a="http://schemas.openxmlformats.org/drawingml/2006/main">
              <a:ext uri="{FF2B5EF4-FFF2-40B4-BE49-F238E27FC236}">
                <a16:creationId xmlns:a16="http://schemas.microsoft.com/office/drawing/2014/main" id="{D5C4371C-C342-4650-9807-6BF0DD07A6F6}"/>
              </a:ext>
            </a:extLst>
          </p:cNvPr>
          <p:cNvSpPr>
            <a:spLocks xmlns:a="http://schemas.openxmlformats.org/drawingml/2006/main" noGrp="1"/>
          </p:cNvSpPr>
          <p:nvPr/>
        </p:nvSpPr>
        <p:spPr>
          <a:xfrm xmlns:a="http://schemas.openxmlformats.org/drawingml/2006/main">
            <a:off x="6829425" y="529590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i="0">
                <a:solidFill>
                  <a:srgbClr val="102A43"/>
                </a:solidFill>
                <a:latin typeface="Arial"/>
                <a:ea typeface="Arial"/>
                <a:cs typeface="Arial"/>
              </a:defRPr>
            </a:pPr>
            <a:r>
              <a:rPr sz="1275" b="1" i="0">
                <a:solidFill>
                  <a:srgbClr val="102A43"/>
                </a:solidFill>
                <a:latin typeface="Arial"/>
                <a:ea typeface="Arial"/>
                <a:cs typeface="Arial"/>
              </a:rPr>
              <a:t>Filter incomplete rows; freeze cutoff</a:t>
            </a:r>
          </a:p>
        </p:txBody>
      </p:sp>
      <p:sp>
        <p:nvSpPr>
          <p:cNvPr id="44" name="">
            <a:extLst xmlns:a="http://schemas.openxmlformats.org/drawingml/2006/main">
              <a:ext uri="{FF2B5EF4-FFF2-40B4-BE49-F238E27FC236}">
                <a16:creationId xmlns:a16="http://schemas.microsoft.com/office/drawing/2014/main" id="{3C0BB68A-0877-4B82-9CB7-C844ABEE6C70}"/>
              </a:ext>
            </a:extLst>
          </p:cNvPr>
          <p:cNvSpPr>
            <a:spLocks xmlns:a="http://schemas.openxmlformats.org/drawingml/2006/main" noGrp="1"/>
          </p:cNvSpPr>
          <p:nvPr/>
        </p:nvSpPr>
        <p:spPr>
          <a:xfrm xmlns:a="http://schemas.openxmlformats.org/drawingml/2006/main">
            <a:off x="2286000" y="6038850"/>
            <a:ext cx="7620000" cy="323850"/>
          </a:xfrm>
          <a:prstGeom xmlns:a="http://schemas.openxmlformats.org/drawingml/2006/main" prst="roundRect">
            <a:avLst>
              <a:gd name="adj" fmla="val 23529"/>
            </a:avLst>
          </a:prstGeom>
          <a:solidFill xmlns:a="http://schemas.openxmlformats.org/drawingml/2006/main">
            <a:srgbClr val="071C2C"/>
          </a:solidFill>
          <a:ln xmlns:a="http://schemas.openxmlformats.org/drawingml/2006/main" w="0">
            <a:solidFill>
              <a:srgbClr val="071C2C"/>
            </a:solidFill>
          </a:ln>
        </p:spPr>
      </p:sp>
      <p:sp>
        <p:nvSpPr>
          <p:cNvPr id="45" name="">
            <a:extLst xmlns:a="http://schemas.openxmlformats.org/drawingml/2006/main">
              <a:ext uri="{FF2B5EF4-FFF2-40B4-BE49-F238E27FC236}">
                <a16:creationId xmlns:a16="http://schemas.microsoft.com/office/drawing/2014/main" id="{71D4F576-B3EE-4A72-A3A5-B0812239207D}"/>
              </a:ext>
            </a:extLst>
          </p:cNvPr>
          <p:cNvSpPr>
            <a:spLocks xmlns:a="http://schemas.openxmlformats.org/drawingml/2006/main" noGrp="1"/>
          </p:cNvSpPr>
          <p:nvPr/>
        </p:nvSpPr>
        <p:spPr>
          <a:xfrm xmlns:a="http://schemas.openxmlformats.org/drawingml/2006/main">
            <a:off x="2286000" y="604837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75" b="1" i="0">
                <a:solidFill>
                  <a:srgbClr val="FFFFFF"/>
                </a:solidFill>
                <a:latin typeface="Arial"/>
                <a:ea typeface="Arial"/>
                <a:cs typeface="Arial"/>
              </a:defRPr>
            </a:pPr>
            <a:r>
              <a:rPr sz="975" b="1" i="0">
                <a:solidFill>
                  <a:srgbClr val="FFFFFF"/>
                </a:solidFill>
                <a:latin typeface="Arial"/>
                <a:ea typeface="Arial"/>
                <a:cs typeface="Arial"/>
              </a:rPr>
              <a:t>43 PASSING TESTS · STANDARD SCIKIT-LEARN RF · TRAINING-ONLY SELECTION</a:t>
            </a:r>
          </a:p>
        </p:txBody>
      </p:sp>
    </p:spTree>
    <p:extLst>
      <p:ext uri="{BB962C8B-B14F-4D97-AF65-F5344CB8AC3E}">
        <p14:creationId xmlns:p14="http://schemas.microsoft.com/office/powerpoint/2010/main" val="1214309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4A5A9AC2-3A96-4A2A-B66C-B1B5A8935091}"/>
              </a:ext>
            </a:extLst>
          </p:cNvPr>
          <p:cNvSpPr>
            <a:spLocks xmlns:a="http://schemas.openxmlformats.org/drawingml/2006/main" noGrp="1"/>
          </p:cNvSpPr>
          <p:nvPr/>
        </p:nvSpPr>
        <p:spPr>
          <a:xfrm xmlns:a="http://schemas.openxmlformats.org/drawingml/2006/main">
            <a:off x="609600" y="257175"/>
            <a:ext cx="419100" cy="47625"/>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1FF7E1AB-8B56-41C2-9225-9788D21B99FC}"/>
              </a:ext>
            </a:extLst>
          </p:cNvPr>
          <p:cNvSpPr>
            <a:spLocks xmlns:a="http://schemas.openxmlformats.org/drawingml/2006/main" noGrp="1"/>
          </p:cNvSpPr>
          <p:nvPr/>
        </p:nvSpPr>
        <p:spPr>
          <a:xfrm xmlns:a="http://schemas.openxmlformats.org/drawingml/2006/main">
            <a:off x="1181100" y="161925"/>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1363DF"/>
                </a:solidFill>
                <a:latin typeface="Arial"/>
                <a:ea typeface="Arial"/>
                <a:cs typeface="Arial"/>
              </a:defRPr>
            </a:pPr>
            <a:r>
              <a:rPr sz="975" b="1" i="0">
                <a:solidFill>
                  <a:srgbClr val="1363DF"/>
                </a:solidFill>
                <a:latin typeface="Arial"/>
                <a:ea typeface="Arial"/>
                <a:cs typeface="Arial"/>
              </a:rPr>
              <a:t>INTERPRETABILITY &amp; PRACTICALITY</a:t>
            </a:r>
          </a:p>
        </p:txBody>
      </p:sp>
      <p:sp>
        <p:nvSpPr>
          <p:cNvPr id="3" name="">
            <a:extLst xmlns:a="http://schemas.openxmlformats.org/drawingml/2006/main">
              <a:ext uri="{FF2B5EF4-FFF2-40B4-BE49-F238E27FC236}">
                <a16:creationId xmlns:a16="http://schemas.microsoft.com/office/drawing/2014/main" id="{7C8ACA92-E7C2-475A-BD8E-90E62FCDA36A}"/>
              </a:ext>
            </a:extLst>
          </p:cNvPr>
          <p:cNvSpPr>
            <a:spLocks xmlns:a="http://schemas.openxmlformats.org/drawingml/2006/main" noGrp="1"/>
          </p:cNvSpPr>
          <p:nvPr/>
        </p:nvSpPr>
        <p:spPr>
          <a:xfrm xmlns:a="http://schemas.openxmlformats.org/drawingml/2006/main">
            <a:off x="609600" y="476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071C2C"/>
                </a:solidFill>
                <a:latin typeface="Arial"/>
                <a:ea typeface="Arial"/>
                <a:cs typeface="Arial"/>
              </a:defRPr>
            </a:pPr>
            <a:r>
              <a:rPr sz="2400" b="1" i="0">
                <a:solidFill>
                  <a:srgbClr val="071C2C"/>
                </a:solidFill>
                <a:latin typeface="Arial"/>
                <a:ea typeface="Arial"/>
                <a:cs typeface="Arial"/>
              </a:rPr>
              <a:t>More machinery did not buy a better forecast</a:t>
            </a:r>
          </a:p>
        </p:txBody>
      </p:sp>
      <p:sp>
        <p:nvSpPr>
          <p:cNvPr id="4" name="">
            <a:extLst xmlns:a="http://schemas.openxmlformats.org/drawingml/2006/main">
              <a:ext uri="{FF2B5EF4-FFF2-40B4-BE49-F238E27FC236}">
                <a16:creationId xmlns:a16="http://schemas.microsoft.com/office/drawing/2014/main" id="{6A4AB40A-5334-4586-A0AB-A0C69741D5DA}"/>
              </a:ext>
            </a:extLst>
          </p:cNvPr>
          <p:cNvSpPr>
            <a:spLocks xmlns:a="http://schemas.openxmlformats.org/drawingml/2006/main" noGrp="1"/>
          </p:cNvSpPr>
          <p:nvPr/>
        </p:nvSpPr>
        <p:spPr>
          <a:xfrm xmlns:a="http://schemas.openxmlformats.org/drawingml/2006/main">
            <a:off x="609600" y="1000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i="0">
                <a:solidFill>
                  <a:srgbClr val="5B6B7C"/>
                </a:solidFill>
                <a:latin typeface="Arial"/>
                <a:ea typeface="Arial"/>
                <a:cs typeface="Arial"/>
              </a:defRPr>
            </a:pPr>
            <a:r>
              <a:rPr sz="1200" b="0" i="0">
                <a:solidFill>
                  <a:srgbClr val="5B6B7C"/>
                </a:solidFill>
                <a:latin typeface="Arial"/>
                <a:ea typeface="Arial"/>
                <a:cs typeface="Arial"/>
              </a:rPr>
              <a:t>Local CPU timings describe these implementations only.</a:t>
            </a:r>
          </a:p>
        </p:txBody>
      </p:sp>
      <p:sp>
        <p:nvSpPr>
          <p:cNvPr id="5" name="">
            <a:extLst xmlns:a="http://schemas.openxmlformats.org/drawingml/2006/main">
              <a:ext uri="{FF2B5EF4-FFF2-40B4-BE49-F238E27FC236}">
                <a16:creationId xmlns:a16="http://schemas.microsoft.com/office/drawing/2014/main" id="{AE1E5B69-1AFE-48B9-871D-296A3E9918E2}"/>
              </a:ext>
            </a:extLst>
          </p:cNvPr>
          <p:cNvSpPr>
            <a:spLocks xmlns:a="http://schemas.openxmlformats.org/drawingml/2006/main" noGrp="1"/>
          </p:cNvSpPr>
          <p:nvPr/>
        </p:nvSpPr>
        <p:spPr>
          <a:xfrm xmlns:a="http://schemas.openxmlformats.org/drawingml/2006/main">
            <a:off x="609600" y="6515100"/>
            <a:ext cx="10363200" cy="14288"/>
          </a:xfrm>
          <a:prstGeom xmlns:a="http://schemas.openxmlformats.org/drawingml/2006/main" prst="rect">
            <a:avLst/>
          </a:prstGeom>
          <a:solidFill xmlns:a="http://schemas.openxmlformats.org/drawingml/2006/main">
            <a:srgbClr val="D8E3EC"/>
          </a:solidFill>
          <a:ln xmlns:a="http://schemas.openxmlformats.org/drawingml/2006/main" w="0">
            <a:solidFill>
              <a:srgbClr val="D8E3EC"/>
            </a:solidFill>
          </a:ln>
        </p:spPr>
      </p:sp>
      <p:sp>
        <p:nvSpPr>
          <p:cNvPr id="6" name="">
            <a:extLst xmlns:a="http://schemas.openxmlformats.org/drawingml/2006/main">
              <a:ext uri="{FF2B5EF4-FFF2-40B4-BE49-F238E27FC236}">
                <a16:creationId xmlns:a16="http://schemas.microsoft.com/office/drawing/2014/main" id="{5CAA6CB6-ACAD-403C-AD8B-ED8E483CCEE7}"/>
              </a:ext>
            </a:extLst>
          </p:cNvPr>
          <p:cNvSpPr>
            <a:spLocks xmlns:a="http://schemas.openxmlformats.org/drawingml/2006/main" noGrp="1"/>
          </p:cNvSpPr>
          <p:nvPr/>
        </p:nvSpPr>
        <p:spPr>
          <a:xfrm xmlns:a="http://schemas.openxmlformats.org/drawingml/2006/main">
            <a:off x="609600" y="65913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750" b="0" i="0">
                <a:solidFill>
                  <a:srgbClr val="5B6B7C"/>
                </a:solidFill>
                <a:latin typeface="Arial"/>
                <a:ea typeface="Arial"/>
                <a:cs typeface="Arial"/>
              </a:defRPr>
            </a:pPr>
            <a:r>
              <a:rPr sz="750" b="0" i="0">
                <a:solidFill>
                  <a:srgbClr val="5B6B7C"/>
                </a:solidFill>
                <a:latin typeface="Arial"/>
                <a:ea typeface="Arial"/>
                <a:cs typeface="Arial"/>
              </a:rPr>
              <a:t>OxfordAQA International EPQ · BTC volatility forecasting</a:t>
            </a:r>
          </a:p>
        </p:txBody>
      </p:sp>
      <p:sp>
        <p:nvSpPr>
          <p:cNvPr id="7" name="">
            <a:extLst xmlns:a="http://schemas.openxmlformats.org/drawingml/2006/main">
              <a:ext uri="{FF2B5EF4-FFF2-40B4-BE49-F238E27FC236}">
                <a16:creationId xmlns:a16="http://schemas.microsoft.com/office/drawing/2014/main" id="{F8543BF1-F89E-42F9-83A1-174A8ED592A6}"/>
              </a:ext>
            </a:extLst>
          </p:cNvPr>
          <p:cNvSpPr>
            <a:spLocks xmlns:a="http://schemas.openxmlformats.org/drawingml/2006/main" noGrp="1"/>
          </p:cNvSpPr>
          <p:nvPr/>
        </p:nvSpPr>
        <p:spPr>
          <a:xfrm xmlns:a="http://schemas.openxmlformats.org/drawingml/2006/main">
            <a:off x="10763250" y="657225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5B6B7C"/>
                </a:solidFill>
                <a:latin typeface="Arial"/>
                <a:ea typeface="Arial"/>
                <a:cs typeface="Arial"/>
              </a:defRPr>
            </a:pPr>
            <a:r>
              <a:rPr sz="750" b="1" i="0">
                <a:solidFill>
                  <a:srgbClr val="5B6B7C"/>
                </a:solidFill>
                <a:latin typeface="Arial"/>
                <a:ea typeface="Arial"/>
                <a:cs typeface="Arial"/>
              </a:rPr>
              <a:t>09 / 10</a:t>
            </a:r>
          </a:p>
        </p:txBody>
      </p:sp>
      <p:sp>
        <p:nvSpPr>
          <p:cNvPr id="8" name="">
            <a:extLst xmlns:a="http://schemas.openxmlformats.org/drawingml/2006/main">
              <a:ext uri="{FF2B5EF4-FFF2-40B4-BE49-F238E27FC236}">
                <a16:creationId xmlns:a16="http://schemas.microsoft.com/office/drawing/2014/main" id="{E41BCD75-8F7C-4461-901B-CE569900D001}"/>
              </a:ext>
            </a:extLst>
          </p:cNvPr>
          <p:cNvSpPr>
            <a:spLocks xmlns:a="http://schemas.openxmlformats.org/drawingml/2006/main" noGrp="1"/>
          </p:cNvSpPr>
          <p:nvPr/>
        </p:nvSpPr>
        <p:spPr>
          <a:xfrm xmlns:a="http://schemas.openxmlformats.org/drawingml/2006/main">
            <a:off x="609600" y="1504950"/>
            <a:ext cx="3295650" cy="4057650"/>
          </a:xfrm>
          <a:prstGeom xmlns:a="http://schemas.openxmlformats.org/drawingml/2006/main" prst="roundRect">
            <a:avLst>
              <a:gd name="adj" fmla="val 2312"/>
            </a:avLst>
          </a:prstGeom>
          <a:solidFill xmlns:a="http://schemas.openxmlformats.org/drawingml/2006/main">
            <a:srgbClr val="EAF8F3"/>
          </a:solidFill>
          <a:ln xmlns:a="http://schemas.openxmlformats.org/drawingml/2006/main" w="9525">
            <a:solidFill>
              <a:srgbClr val="159A70"/>
            </a:solidFill>
          </a:ln>
        </p:spPr>
      </p:sp>
      <p:sp>
        <p:nvSpPr>
          <p:cNvPr id="9" name="">
            <a:extLst xmlns:a="http://schemas.openxmlformats.org/drawingml/2006/main">
              <a:ext uri="{FF2B5EF4-FFF2-40B4-BE49-F238E27FC236}">
                <a16:creationId xmlns:a16="http://schemas.microsoft.com/office/drawing/2014/main" id="{2688E979-7E0C-4E11-83E2-09E7C008847A}"/>
              </a:ext>
            </a:extLst>
          </p:cNvPr>
          <p:cNvSpPr>
            <a:spLocks xmlns:a="http://schemas.openxmlformats.org/drawingml/2006/main" noGrp="1"/>
          </p:cNvSpPr>
          <p:nvPr/>
        </p:nvSpPr>
        <p:spPr>
          <a:xfrm xmlns:a="http://schemas.openxmlformats.org/drawingml/2006/main">
            <a:off x="847725" y="1724025"/>
            <a:ext cx="1771650" cy="323850"/>
          </a:xfrm>
          <a:prstGeom xmlns:a="http://schemas.openxmlformats.org/drawingml/2006/main" prst="roundRect">
            <a:avLst>
              <a:gd name="adj" fmla="val 23529"/>
            </a:avLst>
          </a:prstGeom>
          <a:solidFill xmlns:a="http://schemas.openxmlformats.org/drawingml/2006/main">
            <a:srgbClr val="159A70"/>
          </a:solidFill>
          <a:ln xmlns:a="http://schemas.openxmlformats.org/drawingml/2006/main" w="0">
            <a:solidFill>
              <a:srgbClr val="159A70"/>
            </a:solidFill>
          </a:ln>
        </p:spPr>
      </p:sp>
      <p:sp>
        <p:nvSpPr>
          <p:cNvPr id="10" name="">
            <a:extLst xmlns:a="http://schemas.openxmlformats.org/drawingml/2006/main">
              <a:ext uri="{FF2B5EF4-FFF2-40B4-BE49-F238E27FC236}">
                <a16:creationId xmlns:a16="http://schemas.microsoft.com/office/drawing/2014/main" id="{8068A782-FB52-4FD0-B7FE-EB60DDC27129}"/>
              </a:ext>
            </a:extLst>
          </p:cNvPr>
          <p:cNvSpPr>
            <a:spLocks xmlns:a="http://schemas.openxmlformats.org/drawingml/2006/main" noGrp="1"/>
          </p:cNvSpPr>
          <p:nvPr/>
        </p:nvSpPr>
        <p:spPr>
          <a:xfrm xmlns:a="http://schemas.openxmlformats.org/drawingml/2006/main">
            <a:off x="847725" y="1733550"/>
            <a:ext cx="1771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00" b="1" i="0">
                <a:solidFill>
                  <a:srgbClr val="FFFFFF"/>
                </a:solidFill>
                <a:latin typeface="Arial"/>
                <a:ea typeface="Arial"/>
                <a:cs typeface="Arial"/>
              </a:defRPr>
            </a:pPr>
            <a:r>
              <a:rPr sz="900" b="1" i="0">
                <a:solidFill>
                  <a:srgbClr val="FFFFFF"/>
                </a:solidFill>
                <a:latin typeface="Arial"/>
                <a:ea typeface="Arial"/>
                <a:cs typeface="Arial"/>
              </a:rPr>
              <a:t>BEST TRADE-OFF</a:t>
            </a:r>
          </a:p>
        </p:txBody>
      </p:sp>
      <p:sp>
        <p:nvSpPr>
          <p:cNvPr id="11" name="">
            <a:extLst xmlns:a="http://schemas.openxmlformats.org/drawingml/2006/main">
              <a:ext uri="{FF2B5EF4-FFF2-40B4-BE49-F238E27FC236}">
                <a16:creationId xmlns:a16="http://schemas.microsoft.com/office/drawing/2014/main" id="{BC4C6C8C-1FFB-4A28-802F-4BB867CCF959}"/>
              </a:ext>
            </a:extLst>
          </p:cNvPr>
          <p:cNvSpPr>
            <a:spLocks xmlns:a="http://schemas.openxmlformats.org/drawingml/2006/main" noGrp="1"/>
          </p:cNvSpPr>
          <p:nvPr/>
        </p:nvSpPr>
        <p:spPr>
          <a:xfrm xmlns:a="http://schemas.openxmlformats.org/drawingml/2006/main">
            <a:off x="847725" y="220027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071C2C"/>
                </a:solidFill>
                <a:latin typeface="Arial"/>
                <a:ea typeface="Arial"/>
                <a:cs typeface="Arial"/>
              </a:defRPr>
            </a:pPr>
            <a:r>
              <a:rPr sz="1950" b="1" i="0">
                <a:solidFill>
                  <a:srgbClr val="071C2C"/>
                </a:solidFill>
                <a:latin typeface="Arial"/>
                <a:ea typeface="Arial"/>
                <a:cs typeface="Arial"/>
              </a:rPr>
              <a:t>GARCH(1,1)</a:t>
            </a:r>
          </a:p>
        </p:txBody>
      </p:sp>
      <p:sp>
        <p:nvSpPr>
          <p:cNvPr id="12" name="">
            <a:extLst xmlns:a="http://schemas.openxmlformats.org/drawingml/2006/main">
              <a:ext uri="{FF2B5EF4-FFF2-40B4-BE49-F238E27FC236}">
                <a16:creationId xmlns:a16="http://schemas.microsoft.com/office/drawing/2014/main" id="{2BA10D1E-D46F-43B8-AE9E-F64A95782495}"/>
              </a:ext>
            </a:extLst>
          </p:cNvPr>
          <p:cNvSpPr>
            <a:spLocks xmlns:a="http://schemas.openxmlformats.org/drawingml/2006/main" noGrp="1"/>
          </p:cNvSpPr>
          <p:nvPr/>
        </p:nvSpPr>
        <p:spPr>
          <a:xfrm xmlns:a="http://schemas.openxmlformats.org/drawingml/2006/main">
            <a:off x="847725" y="278130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300" b="1" i="0">
                <a:solidFill>
                  <a:srgbClr val="159A70"/>
                </a:solidFill>
                <a:latin typeface="Arial"/>
                <a:ea typeface="Arial"/>
                <a:cs typeface="Arial"/>
              </a:defRPr>
            </a:pPr>
            <a:r>
              <a:rPr sz="3300" b="1" i="0">
                <a:solidFill>
                  <a:srgbClr val="159A70"/>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A8FA2AAF-9545-4AED-AC98-F4CDB7BEC782}"/>
              </a:ext>
            </a:extLst>
          </p:cNvPr>
          <p:cNvSpPr>
            <a:spLocks xmlns:a="http://schemas.openxmlformats.org/drawingml/2006/main" noGrp="1"/>
          </p:cNvSpPr>
          <p:nvPr/>
        </p:nvSpPr>
        <p:spPr>
          <a:xfrm xmlns:a="http://schemas.openxmlformats.org/drawingml/2006/main">
            <a:off x="847725" y="3314700"/>
            <a:ext cx="2819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parameters</a:t>
            </a:r>
          </a:p>
        </p:txBody>
      </p:sp>
      <p:sp>
        <p:nvSpPr>
          <p:cNvPr id="14" name="">
            <a:extLst xmlns:a="http://schemas.openxmlformats.org/drawingml/2006/main">
              <a:ext uri="{FF2B5EF4-FFF2-40B4-BE49-F238E27FC236}">
                <a16:creationId xmlns:a16="http://schemas.microsoft.com/office/drawing/2014/main" id="{B93C32F0-BEF4-4FD0-846B-12BF032DFF15}"/>
              </a:ext>
            </a:extLst>
          </p:cNvPr>
          <p:cNvSpPr>
            <a:spLocks xmlns:a="http://schemas.openxmlformats.org/drawingml/2006/main" noGrp="1"/>
          </p:cNvSpPr>
          <p:nvPr/>
        </p:nvSpPr>
        <p:spPr>
          <a:xfrm xmlns:a="http://schemas.openxmlformats.org/drawingml/2006/main">
            <a:off x="847725" y="3743325"/>
            <a:ext cx="2819400" cy="14288"/>
          </a:xfrm>
          <a:prstGeom xmlns:a="http://schemas.openxmlformats.org/drawingml/2006/main" prst="rect">
            <a:avLst/>
          </a:prstGeom>
          <a:solidFill xmlns:a="http://schemas.openxmlformats.org/drawingml/2006/main">
            <a:srgbClr val="159A70"/>
          </a:solidFill>
          <a:ln xmlns:a="http://schemas.openxmlformats.org/drawingml/2006/main" w="0">
            <a:solidFill>
              <a:srgbClr val="159A70"/>
            </a:solidFill>
          </a:ln>
        </p:spPr>
      </p:sp>
      <p:sp>
        <p:nvSpPr>
          <p:cNvPr id="15" name="">
            <a:extLst xmlns:a="http://schemas.openxmlformats.org/drawingml/2006/main">
              <a:ext uri="{FF2B5EF4-FFF2-40B4-BE49-F238E27FC236}">
                <a16:creationId xmlns:a16="http://schemas.microsoft.com/office/drawing/2014/main" id="{80F7D4B6-70B1-45DA-ADF7-B6BC4A27D088}"/>
              </a:ext>
            </a:extLst>
          </p:cNvPr>
          <p:cNvSpPr>
            <a:spLocks xmlns:a="http://schemas.openxmlformats.org/drawingml/2006/main" noGrp="1"/>
          </p:cNvSpPr>
          <p:nvPr/>
        </p:nvSpPr>
        <p:spPr>
          <a:xfrm xmlns:a="http://schemas.openxmlformats.org/drawingml/2006/main">
            <a:off x="847725" y="39719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FIT</a:t>
            </a:r>
          </a:p>
        </p:txBody>
      </p:sp>
      <p:sp>
        <p:nvSpPr>
          <p:cNvPr id="16" name="">
            <a:extLst xmlns:a="http://schemas.openxmlformats.org/drawingml/2006/main">
              <a:ext uri="{FF2B5EF4-FFF2-40B4-BE49-F238E27FC236}">
                <a16:creationId xmlns:a16="http://schemas.microsoft.com/office/drawing/2014/main" id="{269D494F-8C5B-44A2-AC07-D29ED53176E3}"/>
              </a:ext>
            </a:extLst>
          </p:cNvPr>
          <p:cNvSpPr>
            <a:spLocks xmlns:a="http://schemas.openxmlformats.org/drawingml/2006/main" noGrp="1"/>
          </p:cNvSpPr>
          <p:nvPr/>
        </p:nvSpPr>
        <p:spPr>
          <a:xfrm xmlns:a="http://schemas.openxmlformats.org/drawingml/2006/main">
            <a:off x="1638300" y="3914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500" b="1" i="0">
                <a:solidFill>
                  <a:srgbClr val="102A43"/>
                </a:solidFill>
                <a:latin typeface="Arial"/>
                <a:ea typeface="Arial"/>
                <a:cs typeface="Arial"/>
              </a:defRPr>
            </a:pPr>
            <a:r>
              <a:rPr sz="1500" b="1" i="0">
                <a:solidFill>
                  <a:srgbClr val="102A43"/>
                </a:solidFill>
                <a:latin typeface="Arial"/>
                <a:ea typeface="Arial"/>
                <a:cs typeface="Arial"/>
              </a:rPr>
              <a:t>0.54 s</a:t>
            </a:r>
          </a:p>
        </p:txBody>
      </p:sp>
      <p:sp>
        <p:nvSpPr>
          <p:cNvPr id="17" name="">
            <a:extLst xmlns:a="http://schemas.openxmlformats.org/drawingml/2006/main">
              <a:ext uri="{FF2B5EF4-FFF2-40B4-BE49-F238E27FC236}">
                <a16:creationId xmlns:a16="http://schemas.microsoft.com/office/drawing/2014/main" id="{E6EC8F5C-AB4C-4EEF-B37A-9B81C5C0AAB9}"/>
              </a:ext>
            </a:extLst>
          </p:cNvPr>
          <p:cNvSpPr>
            <a:spLocks xmlns:a="http://schemas.openxmlformats.org/drawingml/2006/main" noGrp="1"/>
          </p:cNvSpPr>
          <p:nvPr/>
        </p:nvSpPr>
        <p:spPr>
          <a:xfrm xmlns:a="http://schemas.openxmlformats.org/drawingml/2006/main">
            <a:off x="847725" y="4362450"/>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EXPLAIN</a:t>
            </a:r>
          </a:p>
        </p:txBody>
      </p:sp>
      <p:sp>
        <p:nvSpPr>
          <p:cNvPr id="18" name="">
            <a:extLst xmlns:a="http://schemas.openxmlformats.org/drawingml/2006/main">
              <a:ext uri="{FF2B5EF4-FFF2-40B4-BE49-F238E27FC236}">
                <a16:creationId xmlns:a16="http://schemas.microsoft.com/office/drawing/2014/main" id="{18ABD971-0179-463B-9A84-F60533EBBAD3}"/>
              </a:ext>
            </a:extLst>
          </p:cNvPr>
          <p:cNvSpPr>
            <a:spLocks xmlns:a="http://schemas.openxmlformats.org/drawingml/2006/main" noGrp="1"/>
          </p:cNvSpPr>
          <p:nvPr/>
        </p:nvSpPr>
        <p:spPr>
          <a:xfrm xmlns:a="http://schemas.openxmlformats.org/drawingml/2006/main">
            <a:off x="847725" y="4591050"/>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102A43"/>
                </a:solidFill>
                <a:latin typeface="Arial"/>
                <a:ea typeface="Arial"/>
                <a:cs typeface="Arial"/>
              </a:defRPr>
            </a:pPr>
            <a:r>
              <a:rPr sz="1050" b="0" i="0">
                <a:solidFill>
                  <a:srgbClr val="102A43"/>
                </a:solidFill>
                <a:latin typeface="Arial"/>
                <a:ea typeface="Arial"/>
                <a:cs typeface="Arial"/>
              </a:rPr>
              <a:t>shock response + persistence</a:t>
            </a:r>
          </a:p>
        </p:txBody>
      </p:sp>
      <p:sp>
        <p:nvSpPr>
          <p:cNvPr id="19" name="">
            <a:extLst xmlns:a="http://schemas.openxmlformats.org/drawingml/2006/main">
              <a:ext uri="{FF2B5EF4-FFF2-40B4-BE49-F238E27FC236}">
                <a16:creationId xmlns:a16="http://schemas.microsoft.com/office/drawing/2014/main" id="{2548147D-1A39-4F03-9EB0-7989A209B70B}"/>
              </a:ext>
            </a:extLst>
          </p:cNvPr>
          <p:cNvSpPr>
            <a:spLocks xmlns:a="http://schemas.openxmlformats.org/drawingml/2006/main" noGrp="1"/>
          </p:cNvSpPr>
          <p:nvPr/>
        </p:nvSpPr>
        <p:spPr>
          <a:xfrm xmlns:a="http://schemas.openxmlformats.org/drawingml/2006/main">
            <a:off x="847725" y="515302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159A70"/>
                </a:solidFill>
                <a:latin typeface="Arial"/>
                <a:ea typeface="Arial"/>
                <a:cs typeface="Arial"/>
              </a:defRPr>
            </a:pPr>
            <a:r>
              <a:rPr sz="1125" b="1" i="0">
                <a:solidFill>
                  <a:srgbClr val="159A70"/>
                </a:solidFill>
                <a:latin typeface="Arial"/>
                <a:ea typeface="Arial"/>
                <a:cs typeface="Arial"/>
              </a:rPr>
              <a:t>lowest loss · stable #1</a:t>
            </a:r>
          </a:p>
        </p:txBody>
      </p:sp>
      <p:sp>
        <p:nvSpPr>
          <p:cNvPr id="20" name="">
            <a:extLst xmlns:a="http://schemas.openxmlformats.org/drawingml/2006/main">
              <a:ext uri="{FF2B5EF4-FFF2-40B4-BE49-F238E27FC236}">
                <a16:creationId xmlns:a16="http://schemas.microsoft.com/office/drawing/2014/main" id="{288C383D-9420-442F-86F5-ED0E9B158E22}"/>
              </a:ext>
            </a:extLst>
          </p:cNvPr>
          <p:cNvSpPr>
            <a:spLocks xmlns:a="http://schemas.openxmlformats.org/drawingml/2006/main" noGrp="1"/>
          </p:cNvSpPr>
          <p:nvPr/>
        </p:nvSpPr>
        <p:spPr>
          <a:xfrm xmlns:a="http://schemas.openxmlformats.org/drawingml/2006/main">
            <a:off x="4276725" y="1504950"/>
            <a:ext cx="3295650" cy="4057650"/>
          </a:xfrm>
          <a:prstGeom xmlns:a="http://schemas.openxmlformats.org/drawingml/2006/main" prst="roundRect">
            <a:avLst>
              <a:gd name="adj" fmla="val 2312"/>
            </a:avLst>
          </a:prstGeom>
          <a:solidFill xmlns:a="http://schemas.openxmlformats.org/drawingml/2006/main">
            <a:srgbClr val="FFF6DF"/>
          </a:solidFill>
          <a:ln xmlns:a="http://schemas.openxmlformats.org/drawingml/2006/main" w="9525">
            <a:solidFill>
              <a:srgbClr val="F4B942"/>
            </a:solidFill>
          </a:ln>
        </p:spPr>
      </p:sp>
      <p:sp>
        <p:nvSpPr>
          <p:cNvPr id="21" name="">
            <a:extLst xmlns:a="http://schemas.openxmlformats.org/drawingml/2006/main">
              <a:ext uri="{FF2B5EF4-FFF2-40B4-BE49-F238E27FC236}">
                <a16:creationId xmlns:a16="http://schemas.microsoft.com/office/drawing/2014/main" id="{9FD22610-617A-4C63-BBC2-3976FE6BD13B}"/>
              </a:ext>
            </a:extLst>
          </p:cNvPr>
          <p:cNvSpPr>
            <a:spLocks xmlns:a="http://schemas.openxmlformats.org/drawingml/2006/main" noGrp="1"/>
          </p:cNvSpPr>
          <p:nvPr/>
        </p:nvSpPr>
        <p:spPr>
          <a:xfrm xmlns:a="http://schemas.openxmlformats.org/drawingml/2006/main">
            <a:off x="4514850" y="1724025"/>
            <a:ext cx="1771650" cy="323850"/>
          </a:xfrm>
          <a:prstGeom xmlns:a="http://schemas.openxmlformats.org/drawingml/2006/main" prst="roundRect">
            <a:avLst>
              <a:gd name="adj" fmla="val 23529"/>
            </a:avLst>
          </a:prstGeom>
          <a:solidFill xmlns:a="http://schemas.openxmlformats.org/drawingml/2006/main">
            <a:srgbClr val="F4B942"/>
          </a:solidFill>
          <a:ln xmlns:a="http://schemas.openxmlformats.org/drawingml/2006/main" w="0">
            <a:solidFill>
              <a:srgbClr val="F4B942"/>
            </a:solidFill>
          </a:ln>
        </p:spPr>
      </p:sp>
      <p:sp>
        <p:nvSpPr>
          <p:cNvPr id="22" name="">
            <a:extLst xmlns:a="http://schemas.openxmlformats.org/drawingml/2006/main">
              <a:ext uri="{FF2B5EF4-FFF2-40B4-BE49-F238E27FC236}">
                <a16:creationId xmlns:a16="http://schemas.microsoft.com/office/drawing/2014/main" id="{7B344FC7-E0B0-4FFC-AD04-4A92696D444E}"/>
              </a:ext>
            </a:extLst>
          </p:cNvPr>
          <p:cNvSpPr>
            <a:spLocks xmlns:a="http://schemas.openxmlformats.org/drawingml/2006/main" noGrp="1"/>
          </p:cNvSpPr>
          <p:nvPr/>
        </p:nvSpPr>
        <p:spPr>
          <a:xfrm xmlns:a="http://schemas.openxmlformats.org/drawingml/2006/main">
            <a:off x="4514850" y="1733550"/>
            <a:ext cx="1771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00" b="1" i="0">
                <a:solidFill>
                  <a:srgbClr val="FFFFFF"/>
                </a:solidFill>
                <a:latin typeface="Arial"/>
                <a:ea typeface="Arial"/>
                <a:cs typeface="Arial"/>
              </a:defRPr>
            </a:pPr>
            <a:r>
              <a:rPr sz="900" b="1" i="0">
                <a:solidFill>
                  <a:srgbClr val="FFFFFF"/>
                </a:solidFill>
                <a:latin typeface="Arial"/>
                <a:ea typeface="Arial"/>
                <a:cs typeface="Arial"/>
              </a:rPr>
              <a:t>EXTRA BURDEN</a:t>
            </a:r>
          </a:p>
        </p:txBody>
      </p:sp>
      <p:sp>
        <p:nvSpPr>
          <p:cNvPr id="23" name="">
            <a:extLst xmlns:a="http://schemas.openxmlformats.org/drawingml/2006/main">
              <a:ext uri="{FF2B5EF4-FFF2-40B4-BE49-F238E27FC236}">
                <a16:creationId xmlns:a16="http://schemas.microsoft.com/office/drawing/2014/main" id="{2561A3B8-3BD6-45C3-B797-ACF18C9B995A}"/>
              </a:ext>
            </a:extLst>
          </p:cNvPr>
          <p:cNvSpPr>
            <a:spLocks xmlns:a="http://schemas.openxmlformats.org/drawingml/2006/main" noGrp="1"/>
          </p:cNvSpPr>
          <p:nvPr/>
        </p:nvSpPr>
        <p:spPr>
          <a:xfrm xmlns:a="http://schemas.openxmlformats.org/drawingml/2006/main">
            <a:off x="4514850" y="220027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071C2C"/>
                </a:solidFill>
                <a:latin typeface="Arial"/>
                <a:ea typeface="Arial"/>
                <a:cs typeface="Arial"/>
              </a:defRPr>
            </a:pPr>
            <a:r>
              <a:rPr sz="1950" b="1" i="0">
                <a:solidFill>
                  <a:srgbClr val="071C2C"/>
                </a:solidFill>
                <a:latin typeface="Arial"/>
                <a:ea typeface="Arial"/>
                <a:cs typeface="Arial"/>
              </a:rPr>
              <a:t>Random Forest</a:t>
            </a:r>
          </a:p>
        </p:txBody>
      </p:sp>
      <p:sp>
        <p:nvSpPr>
          <p:cNvPr id="24" name="">
            <a:extLst xmlns:a="http://schemas.openxmlformats.org/drawingml/2006/main">
              <a:ext uri="{FF2B5EF4-FFF2-40B4-BE49-F238E27FC236}">
                <a16:creationId xmlns:a16="http://schemas.microsoft.com/office/drawing/2014/main" id="{EEC1FDB2-9A36-4525-907D-4F707C0C01F8}"/>
              </a:ext>
            </a:extLst>
          </p:cNvPr>
          <p:cNvSpPr>
            <a:spLocks xmlns:a="http://schemas.openxmlformats.org/drawingml/2006/main" noGrp="1"/>
          </p:cNvSpPr>
          <p:nvPr/>
        </p:nvSpPr>
        <p:spPr>
          <a:xfrm xmlns:a="http://schemas.openxmlformats.org/drawingml/2006/main">
            <a:off x="4514850" y="278130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850" b="1" i="0">
                <a:solidFill>
                  <a:srgbClr val="F4B942"/>
                </a:solidFill>
                <a:latin typeface="Arial"/>
                <a:ea typeface="Arial"/>
                <a:cs typeface="Arial"/>
              </a:defRPr>
            </a:pPr>
            <a:r>
              <a:rPr sz="2850" b="1" i="0">
                <a:solidFill>
                  <a:srgbClr val="F4B942"/>
                </a:solidFill>
                <a:latin typeface="Arial"/>
                <a:ea typeface="Arial"/>
                <a:cs typeface="Arial"/>
              </a:rPr>
              <a:t>57,970</a:t>
            </a:r>
          </a:p>
        </p:txBody>
      </p:sp>
      <p:sp>
        <p:nvSpPr>
          <p:cNvPr id="25" name="">
            <a:extLst xmlns:a="http://schemas.openxmlformats.org/drawingml/2006/main">
              <a:ext uri="{FF2B5EF4-FFF2-40B4-BE49-F238E27FC236}">
                <a16:creationId xmlns:a16="http://schemas.microsoft.com/office/drawing/2014/main" id="{688BDFEB-A8A4-4AF5-88CC-018AB0CD831B}"/>
              </a:ext>
            </a:extLst>
          </p:cNvPr>
          <p:cNvSpPr>
            <a:spLocks xmlns:a="http://schemas.openxmlformats.org/drawingml/2006/main" noGrp="1"/>
          </p:cNvSpPr>
          <p:nvPr/>
        </p:nvSpPr>
        <p:spPr>
          <a:xfrm xmlns:a="http://schemas.openxmlformats.org/drawingml/2006/main">
            <a:off x="4514850" y="3314700"/>
            <a:ext cx="2819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tree nodes</a:t>
            </a:r>
          </a:p>
        </p:txBody>
      </p:sp>
      <p:sp>
        <p:nvSpPr>
          <p:cNvPr id="26" name="">
            <a:extLst xmlns:a="http://schemas.openxmlformats.org/drawingml/2006/main">
              <a:ext uri="{FF2B5EF4-FFF2-40B4-BE49-F238E27FC236}">
                <a16:creationId xmlns:a16="http://schemas.microsoft.com/office/drawing/2014/main" id="{0ACB6627-AE37-4584-A817-EBDC261196EC}"/>
              </a:ext>
            </a:extLst>
          </p:cNvPr>
          <p:cNvSpPr>
            <a:spLocks xmlns:a="http://schemas.openxmlformats.org/drawingml/2006/main" noGrp="1"/>
          </p:cNvSpPr>
          <p:nvPr/>
        </p:nvSpPr>
        <p:spPr>
          <a:xfrm xmlns:a="http://schemas.openxmlformats.org/drawingml/2006/main">
            <a:off x="4514850" y="3743325"/>
            <a:ext cx="2819400" cy="14288"/>
          </a:xfrm>
          <a:prstGeom xmlns:a="http://schemas.openxmlformats.org/drawingml/2006/main" prst="rect">
            <a:avLst/>
          </a:prstGeom>
          <a:solidFill xmlns:a="http://schemas.openxmlformats.org/drawingml/2006/main">
            <a:srgbClr val="F4B942"/>
          </a:solidFill>
          <a:ln xmlns:a="http://schemas.openxmlformats.org/drawingml/2006/main" w="0">
            <a:solidFill>
              <a:srgbClr val="F4B942"/>
            </a:solidFill>
          </a:ln>
        </p:spPr>
      </p:sp>
      <p:sp>
        <p:nvSpPr>
          <p:cNvPr id="27" name="">
            <a:extLst xmlns:a="http://schemas.openxmlformats.org/drawingml/2006/main">
              <a:ext uri="{FF2B5EF4-FFF2-40B4-BE49-F238E27FC236}">
                <a16:creationId xmlns:a16="http://schemas.microsoft.com/office/drawing/2014/main" id="{0BD9ABA9-6B02-4F35-9DCD-5B49085C7CE0}"/>
              </a:ext>
            </a:extLst>
          </p:cNvPr>
          <p:cNvSpPr>
            <a:spLocks xmlns:a="http://schemas.openxmlformats.org/drawingml/2006/main" noGrp="1"/>
          </p:cNvSpPr>
          <p:nvPr/>
        </p:nvSpPr>
        <p:spPr>
          <a:xfrm xmlns:a="http://schemas.openxmlformats.org/drawingml/2006/main">
            <a:off x="4514850" y="39719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FIT</a:t>
            </a:r>
          </a:p>
        </p:txBody>
      </p:sp>
      <p:sp>
        <p:nvSpPr>
          <p:cNvPr id="28" name="">
            <a:extLst xmlns:a="http://schemas.openxmlformats.org/drawingml/2006/main">
              <a:ext uri="{FF2B5EF4-FFF2-40B4-BE49-F238E27FC236}">
                <a16:creationId xmlns:a16="http://schemas.microsoft.com/office/drawing/2014/main" id="{9CC33ED7-BE73-4DB9-A00E-C6380A38F6AD}"/>
              </a:ext>
            </a:extLst>
          </p:cNvPr>
          <p:cNvSpPr>
            <a:spLocks xmlns:a="http://schemas.openxmlformats.org/drawingml/2006/main" noGrp="1"/>
          </p:cNvSpPr>
          <p:nvPr/>
        </p:nvSpPr>
        <p:spPr>
          <a:xfrm xmlns:a="http://schemas.openxmlformats.org/drawingml/2006/main">
            <a:off x="5305425" y="3914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500" b="1" i="0">
                <a:solidFill>
                  <a:srgbClr val="102A43"/>
                </a:solidFill>
                <a:latin typeface="Arial"/>
                <a:ea typeface="Arial"/>
                <a:cs typeface="Arial"/>
              </a:defRPr>
            </a:pPr>
            <a:r>
              <a:rPr sz="1500" b="1" i="0">
                <a:solidFill>
                  <a:srgbClr val="102A43"/>
                </a:solidFill>
                <a:latin typeface="Arial"/>
                <a:ea typeface="Arial"/>
                <a:cs typeface="Arial"/>
              </a:rPr>
              <a:t>1.39 s</a:t>
            </a:r>
          </a:p>
        </p:txBody>
      </p:sp>
      <p:sp>
        <p:nvSpPr>
          <p:cNvPr id="29" name="">
            <a:extLst xmlns:a="http://schemas.openxmlformats.org/drawingml/2006/main">
              <a:ext uri="{FF2B5EF4-FFF2-40B4-BE49-F238E27FC236}">
                <a16:creationId xmlns:a16="http://schemas.microsoft.com/office/drawing/2014/main" id="{9152B77A-EED5-49EF-B9DB-8FF6CECF1C21}"/>
              </a:ext>
            </a:extLst>
          </p:cNvPr>
          <p:cNvSpPr>
            <a:spLocks xmlns:a="http://schemas.openxmlformats.org/drawingml/2006/main" noGrp="1"/>
          </p:cNvSpPr>
          <p:nvPr/>
        </p:nvSpPr>
        <p:spPr>
          <a:xfrm xmlns:a="http://schemas.openxmlformats.org/drawingml/2006/main">
            <a:off x="4514850" y="4362450"/>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EXPLAIN</a:t>
            </a:r>
          </a:p>
        </p:txBody>
      </p:sp>
      <p:sp>
        <p:nvSpPr>
          <p:cNvPr id="30" name="">
            <a:extLst xmlns:a="http://schemas.openxmlformats.org/drawingml/2006/main">
              <a:ext uri="{FF2B5EF4-FFF2-40B4-BE49-F238E27FC236}">
                <a16:creationId xmlns:a16="http://schemas.microsoft.com/office/drawing/2014/main" id="{034A6563-A648-4061-9CAF-5A14D305AF0D}"/>
              </a:ext>
            </a:extLst>
          </p:cNvPr>
          <p:cNvSpPr>
            <a:spLocks xmlns:a="http://schemas.openxmlformats.org/drawingml/2006/main" noGrp="1"/>
          </p:cNvSpPr>
          <p:nvPr/>
        </p:nvSpPr>
        <p:spPr>
          <a:xfrm xmlns:a="http://schemas.openxmlformats.org/drawingml/2006/main">
            <a:off x="4514850" y="4591050"/>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102A43"/>
                </a:solidFill>
                <a:latin typeface="Arial"/>
                <a:ea typeface="Arial"/>
                <a:cs typeface="Arial"/>
              </a:defRPr>
            </a:pPr>
            <a:r>
              <a:rPr sz="1050" b="0" i="0">
                <a:solidFill>
                  <a:srgbClr val="102A43"/>
                </a:solidFill>
                <a:latin typeface="Arial"/>
                <a:ea typeface="Arial"/>
                <a:cs typeface="Arial"/>
              </a:rPr>
              <a:t>global feature importance</a:t>
            </a:r>
          </a:p>
        </p:txBody>
      </p:sp>
      <p:sp>
        <p:nvSpPr>
          <p:cNvPr id="31" name="">
            <a:extLst xmlns:a="http://schemas.openxmlformats.org/drawingml/2006/main">
              <a:ext uri="{FF2B5EF4-FFF2-40B4-BE49-F238E27FC236}">
                <a16:creationId xmlns:a16="http://schemas.microsoft.com/office/drawing/2014/main" id="{A0805DA2-EDDE-432A-AA26-159F3B7546FC}"/>
              </a:ext>
            </a:extLst>
          </p:cNvPr>
          <p:cNvSpPr>
            <a:spLocks xmlns:a="http://schemas.openxmlformats.org/drawingml/2006/main" noGrp="1"/>
          </p:cNvSpPr>
          <p:nvPr/>
        </p:nvSpPr>
        <p:spPr>
          <a:xfrm xmlns:a="http://schemas.openxmlformats.org/drawingml/2006/main">
            <a:off x="4514850" y="515302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4B942"/>
                </a:solidFill>
                <a:latin typeface="Arial"/>
                <a:ea typeface="Arial"/>
                <a:cs typeface="Arial"/>
              </a:defRPr>
            </a:pPr>
            <a:r>
              <a:rPr sz="1125" b="1" i="0">
                <a:solidFill>
                  <a:srgbClr val="F4B942"/>
                </a:solidFill>
                <a:latin typeface="Arial"/>
                <a:ea typeface="Arial"/>
                <a:cs typeface="Arial"/>
              </a:rPr>
              <a:t>highest RMSE</a:t>
            </a:r>
          </a:p>
        </p:txBody>
      </p:sp>
      <p:sp>
        <p:nvSpPr>
          <p:cNvPr id="32" name="">
            <a:extLst xmlns:a="http://schemas.openxmlformats.org/drawingml/2006/main">
              <a:ext uri="{FF2B5EF4-FFF2-40B4-BE49-F238E27FC236}">
                <a16:creationId xmlns:a16="http://schemas.microsoft.com/office/drawing/2014/main" id="{B82F9B9F-3761-485D-9386-2B41791D339B}"/>
              </a:ext>
            </a:extLst>
          </p:cNvPr>
          <p:cNvSpPr>
            <a:spLocks xmlns:a="http://schemas.openxmlformats.org/drawingml/2006/main" noGrp="1"/>
          </p:cNvSpPr>
          <p:nvPr/>
        </p:nvSpPr>
        <p:spPr>
          <a:xfrm xmlns:a="http://schemas.openxmlformats.org/drawingml/2006/main">
            <a:off x="7943850" y="1504950"/>
            <a:ext cx="3295650" cy="4057650"/>
          </a:xfrm>
          <a:prstGeom xmlns:a="http://schemas.openxmlformats.org/drawingml/2006/main" prst="roundRect">
            <a:avLst>
              <a:gd name="adj" fmla="val 2312"/>
            </a:avLst>
          </a:prstGeom>
          <a:solidFill xmlns:a="http://schemas.openxmlformats.org/drawingml/2006/main">
            <a:srgbClr val="FDECEC"/>
          </a:solidFill>
          <a:ln xmlns:a="http://schemas.openxmlformats.org/drawingml/2006/main" w="9525">
            <a:solidFill>
              <a:srgbClr val="E45756"/>
            </a:solidFill>
          </a:ln>
        </p:spPr>
      </p:sp>
      <p:sp>
        <p:nvSpPr>
          <p:cNvPr id="33" name="">
            <a:extLst xmlns:a="http://schemas.openxmlformats.org/drawingml/2006/main">
              <a:ext uri="{FF2B5EF4-FFF2-40B4-BE49-F238E27FC236}">
                <a16:creationId xmlns:a16="http://schemas.microsoft.com/office/drawing/2014/main" id="{00776F2A-0B39-43EB-A4E4-8C5DC8EFC59A}"/>
              </a:ext>
            </a:extLst>
          </p:cNvPr>
          <p:cNvSpPr>
            <a:spLocks xmlns:a="http://schemas.openxmlformats.org/drawingml/2006/main" noGrp="1"/>
          </p:cNvSpPr>
          <p:nvPr/>
        </p:nvSpPr>
        <p:spPr>
          <a:xfrm xmlns:a="http://schemas.openxmlformats.org/drawingml/2006/main">
            <a:off x="8181975" y="1724025"/>
            <a:ext cx="1771650" cy="323850"/>
          </a:xfrm>
          <a:prstGeom xmlns:a="http://schemas.openxmlformats.org/drawingml/2006/main" prst="roundRect">
            <a:avLst>
              <a:gd name="adj" fmla="val 23529"/>
            </a:avLst>
          </a:prstGeom>
          <a:solidFill xmlns:a="http://schemas.openxmlformats.org/drawingml/2006/main">
            <a:srgbClr val="E45756"/>
          </a:solidFill>
          <a:ln xmlns:a="http://schemas.openxmlformats.org/drawingml/2006/main" w="0">
            <a:solidFill>
              <a:srgbClr val="E45756"/>
            </a:solidFill>
          </a:ln>
        </p:spPr>
      </p:sp>
      <p:sp>
        <p:nvSpPr>
          <p:cNvPr id="34" name="">
            <a:extLst xmlns:a="http://schemas.openxmlformats.org/drawingml/2006/main">
              <a:ext uri="{FF2B5EF4-FFF2-40B4-BE49-F238E27FC236}">
                <a16:creationId xmlns:a16="http://schemas.microsoft.com/office/drawing/2014/main" id="{146FD78B-809F-4F3B-9D29-AA11ADF2191E}"/>
              </a:ext>
            </a:extLst>
          </p:cNvPr>
          <p:cNvSpPr>
            <a:spLocks xmlns:a="http://schemas.openxmlformats.org/drawingml/2006/main" noGrp="1"/>
          </p:cNvSpPr>
          <p:nvPr/>
        </p:nvSpPr>
        <p:spPr>
          <a:xfrm xmlns:a="http://schemas.openxmlformats.org/drawingml/2006/main">
            <a:off x="8181975" y="1733550"/>
            <a:ext cx="1771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900" b="1" i="0">
                <a:solidFill>
                  <a:srgbClr val="FFFFFF"/>
                </a:solidFill>
                <a:latin typeface="Arial"/>
                <a:ea typeface="Arial"/>
                <a:cs typeface="Arial"/>
              </a:defRPr>
            </a:pPr>
            <a:r>
              <a:rPr sz="900" b="1" i="0">
                <a:solidFill>
                  <a:srgbClr val="FFFFFF"/>
                </a:solidFill>
                <a:latin typeface="Arial"/>
                <a:ea typeface="Arial"/>
                <a:cs typeface="Arial"/>
              </a:rPr>
              <a:t>EXTRA BURDEN</a:t>
            </a:r>
          </a:p>
        </p:txBody>
      </p:sp>
      <p:sp>
        <p:nvSpPr>
          <p:cNvPr id="35" name="">
            <a:extLst xmlns:a="http://schemas.openxmlformats.org/drawingml/2006/main">
              <a:ext uri="{FF2B5EF4-FFF2-40B4-BE49-F238E27FC236}">
                <a16:creationId xmlns:a16="http://schemas.microsoft.com/office/drawing/2014/main" id="{0B4F3DA2-8249-4B49-8041-C5EE9CAFA43B}"/>
              </a:ext>
            </a:extLst>
          </p:cNvPr>
          <p:cNvSpPr>
            <a:spLocks xmlns:a="http://schemas.openxmlformats.org/drawingml/2006/main" noGrp="1"/>
          </p:cNvSpPr>
          <p:nvPr/>
        </p:nvSpPr>
        <p:spPr>
          <a:xfrm xmlns:a="http://schemas.openxmlformats.org/drawingml/2006/main">
            <a:off x="8181975" y="220027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071C2C"/>
                </a:solidFill>
                <a:latin typeface="Arial"/>
                <a:ea typeface="Arial"/>
                <a:cs typeface="Arial"/>
              </a:defRPr>
            </a:pPr>
            <a:r>
              <a:rPr sz="1950" b="1" i="0">
                <a:solidFill>
                  <a:srgbClr val="071C2C"/>
                </a:solidFill>
                <a:latin typeface="Arial"/>
                <a:ea typeface="Arial"/>
                <a:cs typeface="Arial"/>
              </a:rPr>
              <a:t>LSTM</a:t>
            </a:r>
          </a:p>
        </p:txBody>
      </p:sp>
      <p:sp>
        <p:nvSpPr>
          <p:cNvPr id="36" name="">
            <a:extLst xmlns:a="http://schemas.openxmlformats.org/drawingml/2006/main">
              <a:ext uri="{FF2B5EF4-FFF2-40B4-BE49-F238E27FC236}">
                <a16:creationId xmlns:a16="http://schemas.microsoft.com/office/drawing/2014/main" id="{23667E83-D416-4760-B132-74216391CC1E}"/>
              </a:ext>
            </a:extLst>
          </p:cNvPr>
          <p:cNvSpPr>
            <a:spLocks xmlns:a="http://schemas.openxmlformats.org/drawingml/2006/main" noGrp="1"/>
          </p:cNvSpPr>
          <p:nvPr/>
        </p:nvSpPr>
        <p:spPr>
          <a:xfrm xmlns:a="http://schemas.openxmlformats.org/drawingml/2006/main">
            <a:off x="8181975" y="278130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300" b="1" i="0">
                <a:solidFill>
                  <a:srgbClr val="E45756"/>
                </a:solidFill>
                <a:latin typeface="Arial"/>
                <a:ea typeface="Arial"/>
                <a:cs typeface="Arial"/>
              </a:defRPr>
            </a:pPr>
            <a:r>
              <a:rPr sz="3300" b="1" i="0">
                <a:solidFill>
                  <a:srgbClr val="E45756"/>
                </a:solidFill>
                <a:latin typeface="Arial"/>
                <a:ea typeface="Arial"/>
                <a:cs typeface="Arial"/>
              </a:rPr>
              <a:t>5,921</a:t>
            </a:r>
          </a:p>
        </p:txBody>
      </p:sp>
      <p:sp>
        <p:nvSpPr>
          <p:cNvPr id="37" name="">
            <a:extLst xmlns:a="http://schemas.openxmlformats.org/drawingml/2006/main">
              <a:ext uri="{FF2B5EF4-FFF2-40B4-BE49-F238E27FC236}">
                <a16:creationId xmlns:a16="http://schemas.microsoft.com/office/drawing/2014/main" id="{C219C856-2540-4740-94BE-5ACEB9C7DFEB}"/>
              </a:ext>
            </a:extLst>
          </p:cNvPr>
          <p:cNvSpPr>
            <a:spLocks xmlns:a="http://schemas.openxmlformats.org/drawingml/2006/main" noGrp="1"/>
          </p:cNvSpPr>
          <p:nvPr/>
        </p:nvSpPr>
        <p:spPr>
          <a:xfrm xmlns:a="http://schemas.openxmlformats.org/drawingml/2006/main">
            <a:off x="8181975" y="3314700"/>
            <a:ext cx="2819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i="0">
                <a:solidFill>
                  <a:srgbClr val="102A43"/>
                </a:solidFill>
                <a:latin typeface="Arial"/>
                <a:ea typeface="Arial"/>
                <a:cs typeface="Arial"/>
              </a:defRPr>
            </a:pPr>
            <a:r>
              <a:rPr sz="1200" b="1" i="0">
                <a:solidFill>
                  <a:srgbClr val="102A43"/>
                </a:solidFill>
                <a:latin typeface="Arial"/>
                <a:ea typeface="Arial"/>
                <a:cs typeface="Arial"/>
              </a:rPr>
              <a:t>trainable weights</a:t>
            </a:r>
          </a:p>
        </p:txBody>
      </p:sp>
      <p:sp>
        <p:nvSpPr>
          <p:cNvPr id="38" name="">
            <a:extLst xmlns:a="http://schemas.openxmlformats.org/drawingml/2006/main">
              <a:ext uri="{FF2B5EF4-FFF2-40B4-BE49-F238E27FC236}">
                <a16:creationId xmlns:a16="http://schemas.microsoft.com/office/drawing/2014/main" id="{8FE0E7E5-7DCC-4B88-831D-EEC41338C47B}"/>
              </a:ext>
            </a:extLst>
          </p:cNvPr>
          <p:cNvSpPr>
            <a:spLocks xmlns:a="http://schemas.openxmlformats.org/drawingml/2006/main" noGrp="1"/>
          </p:cNvSpPr>
          <p:nvPr/>
        </p:nvSpPr>
        <p:spPr>
          <a:xfrm xmlns:a="http://schemas.openxmlformats.org/drawingml/2006/main">
            <a:off x="8181975" y="3743325"/>
            <a:ext cx="2819400" cy="14288"/>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ln>
        </p:spPr>
      </p:sp>
      <p:sp>
        <p:nvSpPr>
          <p:cNvPr id="39" name="">
            <a:extLst xmlns:a="http://schemas.openxmlformats.org/drawingml/2006/main">
              <a:ext uri="{FF2B5EF4-FFF2-40B4-BE49-F238E27FC236}">
                <a16:creationId xmlns:a16="http://schemas.microsoft.com/office/drawing/2014/main" id="{13D442D6-8A95-48B2-AFC3-C0E3DF015987}"/>
              </a:ext>
            </a:extLst>
          </p:cNvPr>
          <p:cNvSpPr>
            <a:spLocks xmlns:a="http://schemas.openxmlformats.org/drawingml/2006/main" noGrp="1"/>
          </p:cNvSpPr>
          <p:nvPr/>
        </p:nvSpPr>
        <p:spPr>
          <a:xfrm xmlns:a="http://schemas.openxmlformats.org/drawingml/2006/main">
            <a:off x="8181975" y="39719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FIT</a:t>
            </a:r>
          </a:p>
        </p:txBody>
      </p:sp>
      <p:sp>
        <p:nvSpPr>
          <p:cNvPr id="40" name="">
            <a:extLst xmlns:a="http://schemas.openxmlformats.org/drawingml/2006/main">
              <a:ext uri="{FF2B5EF4-FFF2-40B4-BE49-F238E27FC236}">
                <a16:creationId xmlns:a16="http://schemas.microsoft.com/office/drawing/2014/main" id="{2A6B7E60-B2B0-4AFC-9726-D8F7E98C0B3A}"/>
              </a:ext>
            </a:extLst>
          </p:cNvPr>
          <p:cNvSpPr>
            <a:spLocks xmlns:a="http://schemas.openxmlformats.org/drawingml/2006/main" noGrp="1"/>
          </p:cNvSpPr>
          <p:nvPr/>
        </p:nvSpPr>
        <p:spPr>
          <a:xfrm xmlns:a="http://schemas.openxmlformats.org/drawingml/2006/main">
            <a:off x="8972550" y="3914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1500" b="1" i="0">
                <a:solidFill>
                  <a:srgbClr val="102A43"/>
                </a:solidFill>
                <a:latin typeface="Arial"/>
                <a:ea typeface="Arial"/>
                <a:cs typeface="Arial"/>
              </a:defRPr>
            </a:pPr>
            <a:r>
              <a:rPr sz="1500" b="1" i="0">
                <a:solidFill>
                  <a:srgbClr val="102A43"/>
                </a:solidFill>
                <a:latin typeface="Arial"/>
                <a:ea typeface="Arial"/>
                <a:cs typeface="Arial"/>
              </a:rPr>
              <a:t>9.74 s</a:t>
            </a:r>
          </a:p>
        </p:txBody>
      </p:sp>
      <p:sp>
        <p:nvSpPr>
          <p:cNvPr id="41" name="">
            <a:extLst xmlns:a="http://schemas.openxmlformats.org/drawingml/2006/main">
              <a:ext uri="{FF2B5EF4-FFF2-40B4-BE49-F238E27FC236}">
                <a16:creationId xmlns:a16="http://schemas.microsoft.com/office/drawing/2014/main" id="{BECFB992-32F0-4C1D-A15B-7DFFB9A0D47D}"/>
              </a:ext>
            </a:extLst>
          </p:cNvPr>
          <p:cNvSpPr>
            <a:spLocks xmlns:a="http://schemas.openxmlformats.org/drawingml/2006/main" noGrp="1"/>
          </p:cNvSpPr>
          <p:nvPr/>
        </p:nvSpPr>
        <p:spPr>
          <a:xfrm xmlns:a="http://schemas.openxmlformats.org/drawingml/2006/main">
            <a:off x="8181975" y="4362450"/>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1" i="0">
                <a:solidFill>
                  <a:srgbClr val="5B6B7C"/>
                </a:solidFill>
                <a:latin typeface="Arial"/>
                <a:ea typeface="Arial"/>
                <a:cs typeface="Arial"/>
              </a:defRPr>
            </a:pPr>
            <a:r>
              <a:rPr sz="825" b="1" i="0">
                <a:solidFill>
                  <a:srgbClr val="5B6B7C"/>
                </a:solidFill>
                <a:latin typeface="Arial"/>
                <a:ea typeface="Arial"/>
                <a:cs typeface="Arial"/>
              </a:rPr>
              <a:t>EXPLAIN</a:t>
            </a:r>
          </a:p>
        </p:txBody>
      </p:sp>
      <p:sp>
        <p:nvSpPr>
          <p:cNvPr id="42" name="">
            <a:extLst xmlns:a="http://schemas.openxmlformats.org/drawingml/2006/main">
              <a:ext uri="{FF2B5EF4-FFF2-40B4-BE49-F238E27FC236}">
                <a16:creationId xmlns:a16="http://schemas.microsoft.com/office/drawing/2014/main" id="{A9689714-207F-4217-906D-7710E15A2C73}"/>
              </a:ext>
            </a:extLst>
          </p:cNvPr>
          <p:cNvSpPr>
            <a:spLocks xmlns:a="http://schemas.openxmlformats.org/drawingml/2006/main" noGrp="1"/>
          </p:cNvSpPr>
          <p:nvPr/>
        </p:nvSpPr>
        <p:spPr>
          <a:xfrm xmlns:a="http://schemas.openxmlformats.org/drawingml/2006/main">
            <a:off x="8181975" y="4591050"/>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102A43"/>
                </a:solidFill>
                <a:latin typeface="Arial"/>
                <a:ea typeface="Arial"/>
                <a:cs typeface="Arial"/>
              </a:defRPr>
            </a:pPr>
            <a:r>
              <a:rPr sz="1050" b="0" i="0">
                <a:solidFill>
                  <a:srgbClr val="102A43"/>
                </a:solidFill>
                <a:latin typeface="Arial"/>
                <a:ea typeface="Arial"/>
                <a:cs typeface="Arial"/>
              </a:rPr>
              <a:t>ablation, not causal mechanism</a:t>
            </a:r>
          </a:p>
        </p:txBody>
      </p:sp>
      <p:sp>
        <p:nvSpPr>
          <p:cNvPr id="43" name="">
            <a:extLst xmlns:a="http://schemas.openxmlformats.org/drawingml/2006/main">
              <a:ext uri="{FF2B5EF4-FFF2-40B4-BE49-F238E27FC236}">
                <a16:creationId xmlns:a16="http://schemas.microsoft.com/office/drawing/2014/main" id="{E8EC68CB-2C8D-475B-8E4C-E1A3FF0F69FB}"/>
              </a:ext>
            </a:extLst>
          </p:cNvPr>
          <p:cNvSpPr>
            <a:spLocks xmlns:a="http://schemas.openxmlformats.org/drawingml/2006/main" noGrp="1"/>
          </p:cNvSpPr>
          <p:nvPr/>
        </p:nvSpPr>
        <p:spPr>
          <a:xfrm xmlns:a="http://schemas.openxmlformats.org/drawingml/2006/main">
            <a:off x="8181975" y="515302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E45756"/>
                </a:solidFill>
                <a:latin typeface="Arial"/>
                <a:ea typeface="Arial"/>
                <a:cs typeface="Arial"/>
              </a:defRPr>
            </a:pPr>
            <a:r>
              <a:rPr sz="1125" b="1" i="0">
                <a:solidFill>
                  <a:srgbClr val="E45756"/>
                </a:solidFill>
                <a:latin typeface="Arial"/>
                <a:ea typeface="Arial"/>
                <a:cs typeface="Arial"/>
              </a:rPr>
              <a:t>worse than rolling</a:t>
            </a:r>
          </a:p>
        </p:txBody>
      </p:sp>
      <p:sp>
        <p:nvSpPr>
          <p:cNvPr id="44" name="">
            <a:extLst xmlns:a="http://schemas.openxmlformats.org/drawingml/2006/main">
              <a:ext uri="{FF2B5EF4-FFF2-40B4-BE49-F238E27FC236}">
                <a16:creationId xmlns:a16="http://schemas.microsoft.com/office/drawing/2014/main" id="{DCABDD29-DCB3-4504-86BC-484F1546A273}"/>
              </a:ext>
            </a:extLst>
          </p:cNvPr>
          <p:cNvSpPr>
            <a:spLocks xmlns:a="http://schemas.openxmlformats.org/drawingml/2006/main" noGrp="1"/>
          </p:cNvSpPr>
          <p:nvPr/>
        </p:nvSpPr>
        <p:spPr>
          <a:xfrm xmlns:a="http://schemas.openxmlformats.org/drawingml/2006/main">
            <a:off x="609600" y="5781675"/>
            <a:ext cx="10629900" cy="457200"/>
          </a:xfrm>
          <a:prstGeom xmlns:a="http://schemas.openxmlformats.org/drawingml/2006/main" prst="roundRect">
            <a:avLst>
              <a:gd name="adj" fmla="val 16667"/>
            </a:avLst>
          </a:prstGeom>
          <a:solidFill xmlns:a="http://schemas.openxmlformats.org/drawingml/2006/main">
            <a:srgbClr val="071C2C"/>
          </a:solidFill>
          <a:ln xmlns:a="http://schemas.openxmlformats.org/drawingml/2006/main" w="9525">
            <a:solidFill>
              <a:srgbClr val="071C2C"/>
            </a:solidFill>
          </a:ln>
        </p:spPr>
      </p:sp>
      <p:sp>
        <p:nvSpPr>
          <p:cNvPr id="45" name="">
            <a:extLst xmlns:a="http://schemas.openxmlformats.org/drawingml/2006/main">
              <a:ext uri="{FF2B5EF4-FFF2-40B4-BE49-F238E27FC236}">
                <a16:creationId xmlns:a16="http://schemas.microsoft.com/office/drawing/2014/main" id="{ED9E5990-7F94-40D4-B3A4-169197EB2BD7}"/>
              </a:ext>
            </a:extLst>
          </p:cNvPr>
          <p:cNvSpPr>
            <a:spLocks xmlns:a="http://schemas.openxmlformats.org/drawingml/2006/main" noGrp="1"/>
          </p:cNvSpPr>
          <p:nvPr/>
        </p:nvSpPr>
        <p:spPr>
          <a:xfrm xmlns:a="http://schemas.openxmlformats.org/drawingml/2006/main">
            <a:off x="876300" y="588645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200" b="1" i="0">
                <a:solidFill>
                  <a:srgbClr val="FFFFFF"/>
                </a:solidFill>
                <a:latin typeface="Arial"/>
                <a:ea typeface="Arial"/>
                <a:cs typeface="Arial"/>
              </a:defRPr>
            </a:pPr>
            <a:r>
              <a:rPr sz="1200" b="1" i="0">
                <a:solidFill>
                  <a:srgbClr val="FFFFFF"/>
                </a:solidFill>
                <a:latin typeface="Arial"/>
                <a:ea typeface="Arial"/>
                <a:cs typeface="Arial"/>
              </a:rPr>
              <a:t>Rolling remains the zero-parameter fallback; accuracy comes first, then stability and burden.</a:t>
            </a:r>
          </a:p>
        </p:txBody>
      </p:sp>
    </p:spTree>
    <p:extLst>
      <p:ext uri="{BB962C8B-B14F-4D97-AF65-F5344CB8AC3E}">
        <p14:creationId xmlns:p14="http://schemas.microsoft.com/office/powerpoint/2010/main" val="1644359297"/>
      </p:ext>
    </p:extLst>
  </p:cSld>
</p:sld>
</file>

<file path=ppt/slides/slide10.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DC7925E-F683-4B6B-9F81-9AD0C0D11E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4C1D6"/>
          </a:solidFill>
          <a:ln xmlns:a="http://schemas.openxmlformats.org/drawingml/2006/main" w="0">
            <a:solidFill>
              <a:srgbClr val="24C1D6"/>
            </a:solidFill>
          </a:ln>
        </p:spPr>
      </p:sp>
      <p:sp>
        <p:nvSpPr>
          <p:cNvPr id="2" name="">
            <a:extLst xmlns:a="http://schemas.openxmlformats.org/drawingml/2006/main">
              <a:ext uri="{FF2B5EF4-FFF2-40B4-BE49-F238E27FC236}">
                <a16:creationId xmlns:a16="http://schemas.microsoft.com/office/drawing/2014/main" id="{8ED79889-F06D-4A4D-B1A0-D3D48392CB36}"/>
              </a:ext>
            </a:extLst>
          </p:cNvPr>
          <p:cNvSpPr>
            <a:spLocks xmlns:a="http://schemas.openxmlformats.org/drawingml/2006/main" noGrp="1"/>
          </p:cNvSpPr>
          <p:nvPr/>
        </p:nvSpPr>
        <p:spPr>
          <a:xfrm xmlns:a="http://schemas.openxmlformats.org/drawingml/2006/main">
            <a:off x="647700" y="4191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75" b="1" i="0">
                <a:solidFill>
                  <a:srgbClr val="24C1D6"/>
                </a:solidFill>
                <a:latin typeface="Arial"/>
                <a:ea typeface="Arial"/>
                <a:cs typeface="Arial"/>
              </a:defRPr>
            </a:pPr>
            <a:r>
              <a:rPr sz="975" b="1" i="0">
                <a:solidFill>
                  <a:srgbClr val="24C1D6"/>
                </a:solidFill>
                <a:latin typeface="Arial"/>
                <a:ea typeface="Arial"/>
                <a:cs typeface="Arial"/>
              </a:rPr>
              <a:t>ANSWER</a:t>
            </a:r>
          </a:p>
        </p:txBody>
      </p:sp>
      <p:sp>
        <p:nvSpPr>
          <p:cNvPr id="3" name="">
            <a:extLst xmlns:a="http://schemas.openxmlformats.org/drawingml/2006/main">
              <a:ext uri="{FF2B5EF4-FFF2-40B4-BE49-F238E27FC236}">
                <a16:creationId xmlns:a16="http://schemas.microsoft.com/office/drawing/2014/main" id="{EA2434D2-E4A3-4955-A56C-7B757084850D}"/>
              </a:ext>
            </a:extLst>
          </p:cNvPr>
          <p:cNvSpPr>
            <a:spLocks xmlns:a="http://schemas.openxmlformats.org/drawingml/2006/main" noGrp="1"/>
          </p:cNvSpPr>
          <p:nvPr/>
        </p:nvSpPr>
        <p:spPr>
          <a:xfrm xmlns:a="http://schemas.openxmlformats.org/drawingml/2006/main">
            <a:off x="647700" y="800100"/>
            <a:ext cx="781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600" b="1" i="0">
                <a:solidFill>
                  <a:srgbClr val="FFFFFF"/>
                </a:solidFill>
                <a:latin typeface="Arial"/>
                <a:ea typeface="Arial"/>
                <a:cs typeface="Arial"/>
              </a:defRPr>
            </a:pPr>
            <a:r>
              <a:rPr sz="3600" b="1" i="0">
                <a:solidFill>
                  <a:srgbClr val="FFFFFF"/>
                </a:solidFill>
                <a:latin typeface="Arial"/>
                <a:ea typeface="Arial"/>
                <a:cs typeface="Arial"/>
              </a:rPr>
              <a:t>No — under this design.</a:t>
            </a:r>
          </a:p>
        </p:txBody>
      </p:sp>
      <p:sp>
        <p:nvSpPr>
          <p:cNvPr id="4" name="">
            <a:extLst xmlns:a="http://schemas.openxmlformats.org/drawingml/2006/main">
              <a:ext uri="{FF2B5EF4-FFF2-40B4-BE49-F238E27FC236}">
                <a16:creationId xmlns:a16="http://schemas.microsoft.com/office/drawing/2014/main" id="{1DD8C510-E874-45CE-BEF1-3618C448067B}"/>
              </a:ext>
            </a:extLst>
          </p:cNvPr>
          <p:cNvSpPr>
            <a:spLocks xmlns:a="http://schemas.openxmlformats.org/drawingml/2006/main" noGrp="1"/>
          </p:cNvSpPr>
          <p:nvPr/>
        </p:nvSpPr>
        <p:spPr>
          <a:xfrm xmlns:a="http://schemas.openxmlformats.org/drawingml/2006/main">
            <a:off x="647700" y="147637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C4D7E6"/>
                </a:solidFill>
                <a:latin typeface="Arial"/>
                <a:ea typeface="Arial"/>
                <a:cs typeface="Arial"/>
              </a:defRPr>
            </a:pPr>
            <a:r>
              <a:rPr sz="1800" b="0" i="0">
                <a:solidFill>
                  <a:srgbClr val="C4D7E6"/>
                </a:solidFill>
                <a:latin typeface="Arial"/>
                <a:ea typeface="Arial"/>
                <a:cs typeface="Arial"/>
              </a:rPr>
              <a:t>Random Forest and LSTM did not justify their additional complexity.</a:t>
            </a:r>
          </a:p>
        </p:txBody>
      </p:sp>
      <p:sp>
        <p:nvSpPr>
          <p:cNvPr id="5" name="">
            <a:extLst xmlns:a="http://schemas.openxmlformats.org/drawingml/2006/main">
              <a:ext uri="{FF2B5EF4-FFF2-40B4-BE49-F238E27FC236}">
                <a16:creationId xmlns:a16="http://schemas.microsoft.com/office/drawing/2014/main" id="{09A4BBB0-721F-46F3-8AA5-455B959B87AB}"/>
              </a:ext>
            </a:extLst>
          </p:cNvPr>
          <p:cNvSpPr>
            <a:spLocks xmlns:a="http://schemas.openxmlformats.org/drawingml/2006/main" noGrp="1"/>
          </p:cNvSpPr>
          <p:nvPr/>
        </p:nvSpPr>
        <p:spPr>
          <a:xfrm xmlns:a="http://schemas.openxmlformats.org/drawingml/2006/main">
            <a:off x="647700" y="2266950"/>
            <a:ext cx="3305175" cy="1409700"/>
          </a:xfrm>
          <a:prstGeom xmlns:a="http://schemas.openxmlformats.org/drawingml/2006/main" prst="roundRect">
            <a:avLst>
              <a:gd name="adj" fmla="val 5405"/>
            </a:avLst>
          </a:prstGeom>
          <a:solidFill xmlns:a="http://schemas.openxmlformats.org/drawingml/2006/main">
            <a:srgbClr val="0C2A41"/>
          </a:solidFill>
          <a:ln xmlns:a="http://schemas.openxmlformats.org/drawingml/2006/main" w="9525">
            <a:solidFill>
              <a:srgbClr val="24465F"/>
            </a:solidFill>
          </a:ln>
        </p:spPr>
      </p:sp>
      <p:sp>
        <p:nvSpPr>
          <p:cNvPr id="6" name="">
            <a:extLst xmlns:a="http://schemas.openxmlformats.org/drawingml/2006/main">
              <a:ext uri="{FF2B5EF4-FFF2-40B4-BE49-F238E27FC236}">
                <a16:creationId xmlns:a16="http://schemas.microsoft.com/office/drawing/2014/main" id="{3DBC7776-AF22-4FB8-BB7A-7AB42E302827}"/>
              </a:ext>
            </a:extLst>
          </p:cNvPr>
          <p:cNvSpPr>
            <a:spLocks xmlns:a="http://schemas.openxmlformats.org/drawingml/2006/main" noGrp="1"/>
          </p:cNvSpPr>
          <p:nvPr/>
        </p:nvSpPr>
        <p:spPr>
          <a:xfrm xmlns:a="http://schemas.openxmlformats.org/drawingml/2006/main">
            <a:off x="647700" y="2266950"/>
            <a:ext cx="66675" cy="1409700"/>
          </a:xfrm>
          <a:prstGeom xmlns:a="http://schemas.openxmlformats.org/drawingml/2006/main" prst="roundRect">
            <a:avLst>
              <a:gd name="adj" fmla="val 50000"/>
            </a:avLst>
          </a:prstGeom>
          <a:solidFill xmlns:a="http://schemas.openxmlformats.org/drawingml/2006/main">
            <a:srgbClr val="1363DF"/>
          </a:solidFill>
          <a:ln xmlns:a="http://schemas.openxmlformats.org/drawingml/2006/main" w="0">
            <a:solidFill>
              <a:srgbClr val="1363DF"/>
            </a:solidFill>
          </a:ln>
        </p:spPr>
      </p:sp>
      <p:sp>
        <p:nvSpPr>
          <p:cNvPr id="7" name="">
            <a:extLst xmlns:a="http://schemas.openxmlformats.org/drawingml/2006/main">
              <a:ext uri="{FF2B5EF4-FFF2-40B4-BE49-F238E27FC236}">
                <a16:creationId xmlns:a16="http://schemas.microsoft.com/office/drawing/2014/main" id="{09406DFB-C6A9-40AD-B5F7-A288685E4732}"/>
              </a:ext>
            </a:extLst>
          </p:cNvPr>
          <p:cNvSpPr>
            <a:spLocks xmlns:a="http://schemas.openxmlformats.org/drawingml/2006/main" noGrp="1"/>
          </p:cNvSpPr>
          <p:nvPr/>
        </p:nvSpPr>
        <p:spPr>
          <a:xfrm xmlns:a="http://schemas.openxmlformats.org/drawingml/2006/main">
            <a:off x="876300" y="24765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i="0">
                <a:solidFill>
                  <a:srgbClr val="1363DF"/>
                </a:solidFill>
                <a:latin typeface="Arial"/>
                <a:ea typeface="Arial"/>
                <a:cs typeface="Arial"/>
              </a:defRPr>
            </a:pPr>
            <a:r>
              <a:rPr sz="1725" b="1" i="0">
                <a:solidFill>
                  <a:srgbClr val="1363D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296646E-7D3D-4A47-A80B-C92B864D700B}"/>
              </a:ext>
            </a:extLst>
          </p:cNvPr>
          <p:cNvSpPr>
            <a:spLocks xmlns:a="http://schemas.openxmlformats.org/drawingml/2006/main" noGrp="1"/>
          </p:cNvSpPr>
          <p:nvPr/>
        </p:nvSpPr>
        <p:spPr>
          <a:xfrm xmlns:a="http://schemas.openxmlformats.org/drawingml/2006/main">
            <a:off x="1457325" y="250507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FFFFFF"/>
                </a:solidFill>
                <a:latin typeface="Arial"/>
                <a:ea typeface="Arial"/>
                <a:cs typeface="Arial"/>
              </a:defRPr>
            </a:pPr>
            <a:r>
              <a:rPr sz="1500" b="1" i="0">
                <a:solidFill>
                  <a:srgbClr val="FFFFFF"/>
                </a:solidFill>
                <a:latin typeface="Arial"/>
                <a:ea typeface="Arial"/>
                <a:cs typeface="Arial"/>
              </a:rPr>
              <a:t>Accuracy</a:t>
            </a:r>
          </a:p>
        </p:txBody>
      </p:sp>
      <p:sp>
        <p:nvSpPr>
          <p:cNvPr id="9" name="">
            <a:extLst xmlns:a="http://schemas.openxmlformats.org/drawingml/2006/main">
              <a:ext uri="{FF2B5EF4-FFF2-40B4-BE49-F238E27FC236}">
                <a16:creationId xmlns:a16="http://schemas.microsoft.com/office/drawing/2014/main" id="{FB25F384-11ED-4D30-A47B-BB8645B058EA}"/>
              </a:ext>
            </a:extLst>
          </p:cNvPr>
          <p:cNvSpPr>
            <a:spLocks xmlns:a="http://schemas.openxmlformats.org/drawingml/2006/main" noGrp="1"/>
          </p:cNvSpPr>
          <p:nvPr/>
        </p:nvSpPr>
        <p:spPr>
          <a:xfrm xmlns:a="http://schemas.openxmlformats.org/drawingml/2006/main">
            <a:off x="876300" y="3009900"/>
            <a:ext cx="2819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i="0">
                <a:solidFill>
                  <a:srgbClr val="C4D7E6"/>
                </a:solidFill>
                <a:latin typeface="Arial"/>
                <a:ea typeface="Arial"/>
                <a:cs typeface="Arial"/>
              </a:defRPr>
            </a:pPr>
            <a:r>
              <a:rPr sz="1200" b="0" i="0">
                <a:solidFill>
                  <a:srgbClr val="C4D7E6"/>
                </a:solidFill>
                <a:latin typeface="Arial"/>
                <a:ea typeface="Arial"/>
                <a:cs typeface="Arial"/>
              </a:rPr>
              <a:t>GARCH lowest RMSE and QLIKE</a:t>
            </a:r>
          </a:p>
        </p:txBody>
      </p:sp>
      <p:sp>
        <p:nvSpPr>
          <p:cNvPr id="10" name="">
            <a:extLst xmlns:a="http://schemas.openxmlformats.org/drawingml/2006/main">
              <a:ext uri="{FF2B5EF4-FFF2-40B4-BE49-F238E27FC236}">
                <a16:creationId xmlns:a16="http://schemas.microsoft.com/office/drawing/2014/main" id="{22FE954F-DA1F-44C8-9AA1-48A2DEF2EF8A}"/>
              </a:ext>
            </a:extLst>
          </p:cNvPr>
          <p:cNvSpPr>
            <a:spLocks xmlns:a="http://schemas.openxmlformats.org/drawingml/2006/main" noGrp="1"/>
          </p:cNvSpPr>
          <p:nvPr/>
        </p:nvSpPr>
        <p:spPr>
          <a:xfrm xmlns:a="http://schemas.openxmlformats.org/drawingml/2006/main">
            <a:off x="4257675" y="2266950"/>
            <a:ext cx="3305175" cy="1409700"/>
          </a:xfrm>
          <a:prstGeom xmlns:a="http://schemas.openxmlformats.org/drawingml/2006/main" prst="roundRect">
            <a:avLst>
              <a:gd name="adj" fmla="val 5405"/>
            </a:avLst>
          </a:prstGeom>
          <a:solidFill xmlns:a="http://schemas.openxmlformats.org/drawingml/2006/main">
            <a:srgbClr val="0C2A41"/>
          </a:solidFill>
          <a:ln xmlns:a="http://schemas.openxmlformats.org/drawingml/2006/main" w="9525">
            <a:solidFill>
              <a:srgbClr val="24465F"/>
            </a:solidFill>
          </a:ln>
        </p:spPr>
      </p:sp>
      <p:sp>
        <p:nvSpPr>
          <p:cNvPr id="11" name="">
            <a:extLst xmlns:a="http://schemas.openxmlformats.org/drawingml/2006/main">
              <a:ext uri="{FF2B5EF4-FFF2-40B4-BE49-F238E27FC236}">
                <a16:creationId xmlns:a16="http://schemas.microsoft.com/office/drawing/2014/main" id="{58C8DFA9-8CB6-4905-98E7-C09D358469DA}"/>
              </a:ext>
            </a:extLst>
          </p:cNvPr>
          <p:cNvSpPr>
            <a:spLocks xmlns:a="http://schemas.openxmlformats.org/drawingml/2006/main" noGrp="1"/>
          </p:cNvSpPr>
          <p:nvPr/>
        </p:nvSpPr>
        <p:spPr>
          <a:xfrm xmlns:a="http://schemas.openxmlformats.org/drawingml/2006/main">
            <a:off x="4257675" y="2266950"/>
            <a:ext cx="66675" cy="1409700"/>
          </a:xfrm>
          <a:prstGeom xmlns:a="http://schemas.openxmlformats.org/drawingml/2006/main" prst="roundRect">
            <a:avLst>
              <a:gd name="adj" fmla="val 50000"/>
            </a:avLst>
          </a:prstGeom>
          <a:solidFill xmlns:a="http://schemas.openxmlformats.org/drawingml/2006/main">
            <a:srgbClr val="159A70"/>
          </a:solidFill>
          <a:ln xmlns:a="http://schemas.openxmlformats.org/drawingml/2006/main" w="0">
            <a:solidFill>
              <a:srgbClr val="159A70"/>
            </a:solidFill>
          </a:ln>
        </p:spPr>
      </p:sp>
      <p:sp>
        <p:nvSpPr>
          <p:cNvPr id="12" name="">
            <a:extLst xmlns:a="http://schemas.openxmlformats.org/drawingml/2006/main">
              <a:ext uri="{FF2B5EF4-FFF2-40B4-BE49-F238E27FC236}">
                <a16:creationId xmlns:a16="http://schemas.microsoft.com/office/drawing/2014/main" id="{0DF009A0-2EB6-428D-8D29-13EF394007C6}"/>
              </a:ext>
            </a:extLst>
          </p:cNvPr>
          <p:cNvSpPr>
            <a:spLocks xmlns:a="http://schemas.openxmlformats.org/drawingml/2006/main" noGrp="1"/>
          </p:cNvSpPr>
          <p:nvPr/>
        </p:nvSpPr>
        <p:spPr>
          <a:xfrm xmlns:a="http://schemas.openxmlformats.org/drawingml/2006/main">
            <a:off x="4486275" y="24765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i="0">
                <a:solidFill>
                  <a:srgbClr val="159A70"/>
                </a:solidFill>
                <a:latin typeface="Arial"/>
                <a:ea typeface="Arial"/>
                <a:cs typeface="Arial"/>
              </a:defRPr>
            </a:pPr>
            <a:r>
              <a:rPr sz="1725" b="1" i="0">
                <a:solidFill>
                  <a:srgbClr val="159A70"/>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93EE3E3F-CA60-4326-A43E-C7D59FFCFA23}"/>
              </a:ext>
            </a:extLst>
          </p:cNvPr>
          <p:cNvSpPr>
            <a:spLocks xmlns:a="http://schemas.openxmlformats.org/drawingml/2006/main" noGrp="1"/>
          </p:cNvSpPr>
          <p:nvPr/>
        </p:nvSpPr>
        <p:spPr>
          <a:xfrm xmlns:a="http://schemas.openxmlformats.org/drawingml/2006/main">
            <a:off x="5067300" y="250507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FFFFFF"/>
                </a:solidFill>
                <a:latin typeface="Arial"/>
                <a:ea typeface="Arial"/>
                <a:cs typeface="Arial"/>
              </a:defRPr>
            </a:pPr>
            <a:r>
              <a:rPr sz="1500" b="1" i="0">
                <a:solidFill>
                  <a:srgbClr val="FFFFFF"/>
                </a:solidFill>
                <a:latin typeface="Arial"/>
                <a:ea typeface="Arial"/>
                <a:cs typeface="Arial"/>
              </a:rPr>
              <a:t>Robustness</a:t>
            </a:r>
          </a:p>
        </p:txBody>
      </p:sp>
      <p:sp>
        <p:nvSpPr>
          <p:cNvPr id="14" name="">
            <a:extLst xmlns:a="http://schemas.openxmlformats.org/drawingml/2006/main">
              <a:ext uri="{FF2B5EF4-FFF2-40B4-BE49-F238E27FC236}">
                <a16:creationId xmlns:a16="http://schemas.microsoft.com/office/drawing/2014/main" id="{47E4844A-FD6F-4E56-9DC3-917C486AD263}"/>
              </a:ext>
            </a:extLst>
          </p:cNvPr>
          <p:cNvSpPr>
            <a:spLocks xmlns:a="http://schemas.openxmlformats.org/drawingml/2006/main" noGrp="1"/>
          </p:cNvSpPr>
          <p:nvPr/>
        </p:nvSpPr>
        <p:spPr>
          <a:xfrm xmlns:a="http://schemas.openxmlformats.org/drawingml/2006/main">
            <a:off x="4486275" y="3009900"/>
            <a:ext cx="2819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i="0">
                <a:solidFill>
                  <a:srgbClr val="C4D7E6"/>
                </a:solidFill>
                <a:latin typeface="Arial"/>
                <a:ea typeface="Arial"/>
                <a:cs typeface="Arial"/>
              </a:defRPr>
            </a:pPr>
            <a:r>
              <a:rPr sz="1200" b="0" i="0">
                <a:solidFill>
                  <a:srgbClr val="C4D7E6"/>
                </a:solidFill>
                <a:latin typeface="Arial"/>
                <a:ea typeface="Arial"/>
                <a:cs typeface="Arial"/>
              </a:rPr>
              <a:t>GARCH #1 across every planned check</a:t>
            </a:r>
          </a:p>
        </p:txBody>
      </p:sp>
      <p:sp>
        <p:nvSpPr>
          <p:cNvPr id="15" name="">
            <a:extLst xmlns:a="http://schemas.openxmlformats.org/drawingml/2006/main">
              <a:ext uri="{FF2B5EF4-FFF2-40B4-BE49-F238E27FC236}">
                <a16:creationId xmlns:a16="http://schemas.microsoft.com/office/drawing/2014/main" id="{6E4CB178-D0CC-4E05-9DDB-81F592827A82}"/>
              </a:ext>
            </a:extLst>
          </p:cNvPr>
          <p:cNvSpPr>
            <a:spLocks xmlns:a="http://schemas.openxmlformats.org/drawingml/2006/main" noGrp="1"/>
          </p:cNvSpPr>
          <p:nvPr/>
        </p:nvSpPr>
        <p:spPr>
          <a:xfrm xmlns:a="http://schemas.openxmlformats.org/drawingml/2006/main">
            <a:off x="7867650" y="2266950"/>
            <a:ext cx="3305175" cy="1409700"/>
          </a:xfrm>
          <a:prstGeom xmlns:a="http://schemas.openxmlformats.org/drawingml/2006/main" prst="roundRect">
            <a:avLst>
              <a:gd name="adj" fmla="val 5405"/>
            </a:avLst>
          </a:prstGeom>
          <a:solidFill xmlns:a="http://schemas.openxmlformats.org/drawingml/2006/main">
            <a:srgbClr val="0C2A41"/>
          </a:solidFill>
          <a:ln xmlns:a="http://schemas.openxmlformats.org/drawingml/2006/main" w="9525">
            <a:solidFill>
              <a:srgbClr val="24465F"/>
            </a:solidFill>
          </a:ln>
        </p:spPr>
      </p:sp>
      <p:sp>
        <p:nvSpPr>
          <p:cNvPr id="16" name="">
            <a:extLst xmlns:a="http://schemas.openxmlformats.org/drawingml/2006/main">
              <a:ext uri="{FF2B5EF4-FFF2-40B4-BE49-F238E27FC236}">
                <a16:creationId xmlns:a16="http://schemas.microsoft.com/office/drawing/2014/main" id="{E49F65BB-4799-4DE0-8106-E8C895851D79}"/>
              </a:ext>
            </a:extLst>
          </p:cNvPr>
          <p:cNvSpPr>
            <a:spLocks xmlns:a="http://schemas.openxmlformats.org/drawingml/2006/main" noGrp="1"/>
          </p:cNvSpPr>
          <p:nvPr/>
        </p:nvSpPr>
        <p:spPr>
          <a:xfrm xmlns:a="http://schemas.openxmlformats.org/drawingml/2006/main">
            <a:off x="7867650" y="2266950"/>
            <a:ext cx="66675" cy="14097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solidFill>
              <a:srgbClr val="F4B942"/>
            </a:solidFill>
          </a:ln>
        </p:spPr>
      </p:sp>
      <p:sp>
        <p:nvSpPr>
          <p:cNvPr id="17" name="">
            <a:extLst xmlns:a="http://schemas.openxmlformats.org/drawingml/2006/main">
              <a:ext uri="{FF2B5EF4-FFF2-40B4-BE49-F238E27FC236}">
                <a16:creationId xmlns:a16="http://schemas.microsoft.com/office/drawing/2014/main" id="{CAE9248A-7141-4C4D-8EF2-90A21E59E536}"/>
              </a:ext>
            </a:extLst>
          </p:cNvPr>
          <p:cNvSpPr>
            <a:spLocks xmlns:a="http://schemas.openxmlformats.org/drawingml/2006/main" noGrp="1"/>
          </p:cNvSpPr>
          <p:nvPr/>
        </p:nvSpPr>
        <p:spPr>
          <a:xfrm xmlns:a="http://schemas.openxmlformats.org/drawingml/2006/main">
            <a:off x="8096250" y="24765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i="0">
                <a:solidFill>
                  <a:srgbClr val="F4B942"/>
                </a:solidFill>
                <a:latin typeface="Arial"/>
                <a:ea typeface="Arial"/>
                <a:cs typeface="Arial"/>
              </a:defRPr>
            </a:pPr>
            <a:r>
              <a:rPr sz="1725" b="1" i="0">
                <a:solidFill>
                  <a:srgbClr val="F4B942"/>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8C0CC9A-A13F-45D7-A267-3990BF7786D4}"/>
              </a:ext>
            </a:extLst>
          </p:cNvPr>
          <p:cNvSpPr>
            <a:spLocks xmlns:a="http://schemas.openxmlformats.org/drawingml/2006/main" noGrp="1"/>
          </p:cNvSpPr>
          <p:nvPr/>
        </p:nvSpPr>
        <p:spPr>
          <a:xfrm xmlns:a="http://schemas.openxmlformats.org/drawingml/2006/main">
            <a:off x="8677275" y="250507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i="0">
                <a:solidFill>
                  <a:srgbClr val="FFFFFF"/>
                </a:solidFill>
                <a:latin typeface="Arial"/>
                <a:ea typeface="Arial"/>
                <a:cs typeface="Arial"/>
              </a:defRPr>
            </a:pPr>
            <a:r>
              <a:rPr sz="1500" b="1" i="0">
                <a:solidFill>
                  <a:srgbClr val="FFFFFF"/>
                </a:solidFill>
                <a:latin typeface="Arial"/>
                <a:ea typeface="Arial"/>
                <a:cs typeface="Arial"/>
              </a:rPr>
              <a:t>Burden</a:t>
            </a:r>
          </a:p>
        </p:txBody>
      </p:sp>
      <p:sp>
        <p:nvSpPr>
          <p:cNvPr id="19" name="">
            <a:extLst xmlns:a="http://schemas.openxmlformats.org/drawingml/2006/main">
              <a:ext uri="{FF2B5EF4-FFF2-40B4-BE49-F238E27FC236}">
                <a16:creationId xmlns:a16="http://schemas.microsoft.com/office/drawing/2014/main" id="{096BE25E-87DF-4C28-9794-CCD7A3777D4D}"/>
              </a:ext>
            </a:extLst>
          </p:cNvPr>
          <p:cNvSpPr>
            <a:spLocks xmlns:a="http://schemas.openxmlformats.org/drawingml/2006/main" noGrp="1"/>
          </p:cNvSpPr>
          <p:nvPr/>
        </p:nvSpPr>
        <p:spPr>
          <a:xfrm xmlns:a="http://schemas.openxmlformats.org/drawingml/2006/main">
            <a:off x="8096250" y="3009900"/>
            <a:ext cx="2819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i="0">
                <a:solidFill>
                  <a:srgbClr val="C4D7E6"/>
                </a:solidFill>
                <a:latin typeface="Arial"/>
                <a:ea typeface="Arial"/>
                <a:cs typeface="Arial"/>
              </a:defRPr>
            </a:pPr>
            <a:r>
              <a:rPr sz="1200" b="0" i="0">
                <a:solidFill>
                  <a:srgbClr val="C4D7E6"/>
                </a:solidFill>
                <a:latin typeface="Arial"/>
                <a:ea typeface="Arial"/>
                <a:cs typeface="Arial"/>
              </a:rPr>
              <a:t>ML added choices without stable gain</a:t>
            </a:r>
          </a:p>
        </p:txBody>
      </p:sp>
      <p:sp>
        <p:nvSpPr>
          <p:cNvPr id="20" name="">
            <a:extLst xmlns:a="http://schemas.openxmlformats.org/drawingml/2006/main">
              <a:ext uri="{FF2B5EF4-FFF2-40B4-BE49-F238E27FC236}">
                <a16:creationId xmlns:a16="http://schemas.microsoft.com/office/drawing/2014/main" id="{4294B2C7-8932-4A78-A615-1975FD5CE9BA}"/>
              </a:ext>
            </a:extLst>
          </p:cNvPr>
          <p:cNvSpPr>
            <a:spLocks xmlns:a="http://schemas.openxmlformats.org/drawingml/2006/main" noGrp="1"/>
          </p:cNvSpPr>
          <p:nvPr/>
        </p:nvSpPr>
        <p:spPr>
          <a:xfrm xmlns:a="http://schemas.openxmlformats.org/drawingml/2006/main">
            <a:off x="647700" y="4048125"/>
            <a:ext cx="5219700" cy="1609725"/>
          </a:xfrm>
          <a:prstGeom xmlns:a="http://schemas.openxmlformats.org/drawingml/2006/main" prst="roundRect">
            <a:avLst>
              <a:gd name="adj" fmla="val 4734"/>
            </a:avLst>
          </a:prstGeom>
          <a:solidFill xmlns:a="http://schemas.openxmlformats.org/drawingml/2006/main">
            <a:srgbClr val="0C2A41"/>
          </a:solidFill>
          <a:ln xmlns:a="http://schemas.openxmlformats.org/drawingml/2006/main" w="9525">
            <a:solidFill>
              <a:srgbClr val="24465F"/>
            </a:solidFill>
          </a:ln>
        </p:spPr>
      </p:sp>
      <p:sp>
        <p:nvSpPr>
          <p:cNvPr id="21" name="">
            <a:extLst xmlns:a="http://schemas.openxmlformats.org/drawingml/2006/main">
              <a:ext uri="{FF2B5EF4-FFF2-40B4-BE49-F238E27FC236}">
                <a16:creationId xmlns:a16="http://schemas.microsoft.com/office/drawing/2014/main" id="{003D1B65-26B2-490E-9A02-84EAE035A3F2}"/>
              </a:ext>
            </a:extLst>
          </p:cNvPr>
          <p:cNvSpPr>
            <a:spLocks xmlns:a="http://schemas.openxmlformats.org/drawingml/2006/main" noGrp="1"/>
          </p:cNvSpPr>
          <p:nvPr/>
        </p:nvSpPr>
        <p:spPr>
          <a:xfrm xmlns:a="http://schemas.openxmlformats.org/drawingml/2006/main">
            <a:off x="876300" y="42576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E45756"/>
                </a:solidFill>
                <a:latin typeface="Arial"/>
                <a:ea typeface="Arial"/>
                <a:cs typeface="Arial"/>
              </a:defRPr>
            </a:pPr>
            <a:r>
              <a:rPr sz="900" b="1" i="0">
                <a:solidFill>
                  <a:srgbClr val="E45756"/>
                </a:solidFill>
                <a:latin typeface="Arial"/>
                <a:ea typeface="Arial"/>
                <a:cs typeface="Arial"/>
              </a:rPr>
              <a:t>LIMITS</a:t>
            </a:r>
          </a:p>
        </p:txBody>
      </p:sp>
      <p:sp>
        <p:nvSpPr>
          <p:cNvPr id="22" name="">
            <a:extLst xmlns:a="http://schemas.openxmlformats.org/drawingml/2006/main">
              <a:ext uri="{FF2B5EF4-FFF2-40B4-BE49-F238E27FC236}">
                <a16:creationId xmlns:a16="http://schemas.microsoft.com/office/drawing/2014/main" id="{598F2612-8614-468D-8298-7CF11D6FEDA1}"/>
              </a:ext>
            </a:extLst>
          </p:cNvPr>
          <p:cNvSpPr>
            <a:spLocks xmlns:a="http://schemas.openxmlformats.org/drawingml/2006/main" noGrp="1"/>
          </p:cNvSpPr>
          <p:nvPr/>
        </p:nvSpPr>
        <p:spPr>
          <a:xfrm xmlns:a="http://schemas.openxmlformats.org/drawingml/2006/main">
            <a:off x="876300" y="45910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One asset · one exchange · one market history</a:t>
            </a:r>
          </a:p>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Overlapping daily proxy · Gaussian GARCH</a:t>
            </a:r>
          </a:p>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Compact ML search · different model inputs</a:t>
            </a:r>
          </a:p>
        </p:txBody>
      </p:sp>
      <p:sp>
        <p:nvSpPr>
          <p:cNvPr id="23" name="">
            <a:extLst xmlns:a="http://schemas.openxmlformats.org/drawingml/2006/main">
              <a:ext uri="{FF2B5EF4-FFF2-40B4-BE49-F238E27FC236}">
                <a16:creationId xmlns:a16="http://schemas.microsoft.com/office/drawing/2014/main" id="{3D2A4B9C-ADA1-4EC5-814C-D87C25550568}"/>
              </a:ext>
            </a:extLst>
          </p:cNvPr>
          <p:cNvSpPr>
            <a:spLocks xmlns:a="http://schemas.openxmlformats.org/drawingml/2006/main" noGrp="1"/>
          </p:cNvSpPr>
          <p:nvPr/>
        </p:nvSpPr>
        <p:spPr>
          <a:xfrm xmlns:a="http://schemas.openxmlformats.org/drawingml/2006/main">
            <a:off x="6115050" y="4048125"/>
            <a:ext cx="5362575" cy="1609725"/>
          </a:xfrm>
          <a:prstGeom xmlns:a="http://schemas.openxmlformats.org/drawingml/2006/main" prst="roundRect">
            <a:avLst>
              <a:gd name="adj" fmla="val 4734"/>
            </a:avLst>
          </a:prstGeom>
          <a:solidFill xmlns:a="http://schemas.openxmlformats.org/drawingml/2006/main">
            <a:srgbClr val="0C2A41"/>
          </a:solidFill>
          <a:ln xmlns:a="http://schemas.openxmlformats.org/drawingml/2006/main" w="9525">
            <a:solidFill>
              <a:srgbClr val="24465F"/>
            </a:solidFill>
          </a:ln>
        </p:spPr>
      </p:sp>
      <p:sp>
        <p:nvSpPr>
          <p:cNvPr id="24" name="">
            <a:extLst xmlns:a="http://schemas.openxmlformats.org/drawingml/2006/main">
              <a:ext uri="{FF2B5EF4-FFF2-40B4-BE49-F238E27FC236}">
                <a16:creationId xmlns:a16="http://schemas.microsoft.com/office/drawing/2014/main" id="{8493BC18-45F8-4120-98EC-CFFDA9E3E28E}"/>
              </a:ext>
            </a:extLst>
          </p:cNvPr>
          <p:cNvSpPr>
            <a:spLocks xmlns:a="http://schemas.openxmlformats.org/drawingml/2006/main" noGrp="1"/>
          </p:cNvSpPr>
          <p:nvPr/>
        </p:nvSpPr>
        <p:spPr>
          <a:xfrm xmlns:a="http://schemas.openxmlformats.org/drawingml/2006/main">
            <a:off x="6353175" y="42576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i="0">
                <a:solidFill>
                  <a:srgbClr val="159A70"/>
                </a:solidFill>
                <a:latin typeface="Arial"/>
                <a:ea typeface="Arial"/>
                <a:cs typeface="Arial"/>
              </a:defRPr>
            </a:pPr>
            <a:r>
              <a:rPr sz="900" b="1" i="0">
                <a:solidFill>
                  <a:srgbClr val="159A70"/>
                </a:solidFill>
                <a:latin typeface="Arial"/>
                <a:ea typeface="Arial"/>
                <a:cs typeface="Arial"/>
              </a:rPr>
              <a:t>NEXT TEST</a:t>
            </a:r>
          </a:p>
        </p:txBody>
      </p:sp>
      <p:sp>
        <p:nvSpPr>
          <p:cNvPr id="25" name="">
            <a:extLst xmlns:a="http://schemas.openxmlformats.org/drawingml/2006/main">
              <a:ext uri="{FF2B5EF4-FFF2-40B4-BE49-F238E27FC236}">
                <a16:creationId xmlns:a16="http://schemas.microsoft.com/office/drawing/2014/main" id="{F4080D95-4C09-4505-A07E-7C9CBE7EF857}"/>
              </a:ext>
            </a:extLst>
          </p:cNvPr>
          <p:cNvSpPr>
            <a:spLocks xmlns:a="http://schemas.openxmlformats.org/drawingml/2006/main" noGrp="1"/>
          </p:cNvSpPr>
          <p:nvPr/>
        </p:nvSpPr>
        <p:spPr>
          <a:xfrm xmlns:a="http://schemas.openxmlformats.org/drawingml/2006/main">
            <a:off x="6353175" y="4591050"/>
            <a:ext cx="4714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Untouched future period · intraday realised variance</a:t>
            </a:r>
          </a:p>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Student-t / asymmetric GARCH · nested validation</a:t>
            </a:r>
          </a:p>
          <a:p xmlns:a="http://schemas.openxmlformats.org/drawingml/2006/main">
            <a:pPr algn="l">
              <a:lnSpc>
                <a:spcPct val="118000"/>
              </a:lnSpc>
              <a:buNone/>
              <a:defRPr sz="1200" b="0" i="0">
                <a:solidFill>
                  <a:srgbClr val="FFFFFF"/>
                </a:solidFill>
                <a:latin typeface="Arial"/>
                <a:ea typeface="Arial"/>
                <a:cs typeface="Arial"/>
              </a:defRPr>
            </a:pPr>
            <a:r>
              <a:rPr sz="1200" b="0" i="0">
                <a:solidFill>
                  <a:srgbClr val="FFFFFF"/>
                </a:solidFill>
                <a:latin typeface="Arial"/>
                <a:ea typeface="Arial"/>
                <a:cs typeface="Arial"/>
              </a:rPr>
              <a:t>Test one hybrid extension at a time</a:t>
            </a:r>
          </a:p>
        </p:txBody>
      </p:sp>
      <p:sp>
        <p:nvSpPr>
          <p:cNvPr id="26" name="">
            <a:extLst xmlns:a="http://schemas.openxmlformats.org/drawingml/2006/main">
              <a:ext uri="{FF2B5EF4-FFF2-40B4-BE49-F238E27FC236}">
                <a16:creationId xmlns:a16="http://schemas.microsoft.com/office/drawing/2014/main" id="{EA6F1220-61BE-4FBF-B0D9-F59C13E432DB}"/>
              </a:ext>
            </a:extLst>
          </p:cNvPr>
          <p:cNvSpPr>
            <a:spLocks xmlns:a="http://schemas.openxmlformats.org/drawingml/2006/main" noGrp="1"/>
          </p:cNvSpPr>
          <p:nvPr/>
        </p:nvSpPr>
        <p:spPr>
          <a:xfrm xmlns:a="http://schemas.openxmlformats.org/drawingml/2006/main">
            <a:off x="647700" y="6000750"/>
            <a:ext cx="1524000" cy="323850"/>
          </a:xfrm>
          <a:prstGeom xmlns:a="http://schemas.openxmlformats.org/drawingml/2006/main" prst="roundRect">
            <a:avLst>
              <a:gd name="adj" fmla="val 23529"/>
            </a:avLst>
          </a:prstGeom>
          <a:solidFill xmlns:a="http://schemas.openxmlformats.org/drawingml/2006/main">
            <a:srgbClr val="24C1D6"/>
          </a:solidFill>
          <a:ln xmlns:a="http://schemas.openxmlformats.org/drawingml/2006/main" w="0">
            <a:solidFill>
              <a:srgbClr val="24C1D6"/>
            </a:solidFill>
          </a:ln>
        </p:spPr>
      </p:sp>
      <p:sp>
        <p:nvSpPr>
          <p:cNvPr id="27" name="">
            <a:extLst xmlns:a="http://schemas.openxmlformats.org/drawingml/2006/main">
              <a:ext uri="{FF2B5EF4-FFF2-40B4-BE49-F238E27FC236}">
                <a16:creationId xmlns:a16="http://schemas.microsoft.com/office/drawing/2014/main" id="{E646D309-A841-4D55-B6A8-C314350353C3}"/>
              </a:ext>
            </a:extLst>
          </p:cNvPr>
          <p:cNvSpPr>
            <a:spLocks xmlns:a="http://schemas.openxmlformats.org/drawingml/2006/main" noGrp="1"/>
          </p:cNvSpPr>
          <p:nvPr/>
        </p:nvSpPr>
        <p:spPr>
          <a:xfrm xmlns:a="http://schemas.openxmlformats.org/drawingml/2006/main">
            <a:off x="647700" y="60102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1050" b="1" i="0">
                <a:solidFill>
                  <a:srgbClr val="071C2C"/>
                </a:solidFill>
                <a:latin typeface="Arial"/>
                <a:ea typeface="Arial"/>
                <a:cs typeface="Arial"/>
              </a:defRPr>
            </a:pPr>
            <a:r>
              <a:rPr sz="1050" b="1" i="0">
                <a:solidFill>
                  <a:srgbClr val="071C2C"/>
                </a:solidFill>
                <a:latin typeface="Arial"/>
                <a:ea typeface="Arial"/>
                <a:cs typeface="Arial"/>
              </a:rPr>
              <a:t>QUESTIONS</a:t>
            </a:r>
          </a:p>
        </p:txBody>
      </p:sp>
      <p:sp>
        <p:nvSpPr>
          <p:cNvPr id="28" name="">
            <a:extLst xmlns:a="http://schemas.openxmlformats.org/drawingml/2006/main">
              <a:ext uri="{FF2B5EF4-FFF2-40B4-BE49-F238E27FC236}">
                <a16:creationId xmlns:a16="http://schemas.microsoft.com/office/drawing/2014/main" id="{BA31D2F9-4849-4875-BEBE-D5885BD0B851}"/>
              </a:ext>
            </a:extLst>
          </p:cNvPr>
          <p:cNvSpPr>
            <a:spLocks xmlns:a="http://schemas.openxmlformats.org/drawingml/2006/main" noGrp="1"/>
          </p:cNvSpPr>
          <p:nvPr/>
        </p:nvSpPr>
        <p:spPr>
          <a:xfrm xmlns:a="http://schemas.openxmlformats.org/drawingml/2006/main">
            <a:off x="2362200" y="60483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425" b="1" i="0">
                <a:solidFill>
                  <a:srgbClr val="FFFFFF"/>
                </a:solidFill>
                <a:latin typeface="Arial"/>
                <a:ea typeface="Arial"/>
                <a:cs typeface="Arial"/>
              </a:defRPr>
            </a:pPr>
            <a:r>
              <a:rPr sz="1425" b="1" i="0">
                <a:solidFill>
                  <a:srgbClr val="FFFFFF"/>
                </a:solidFill>
                <a:latin typeface="Arial"/>
                <a:ea typeface="Arial"/>
                <a:cs typeface="Arial"/>
              </a:rPr>
              <a:t>Thank you</a:t>
            </a:r>
          </a:p>
        </p:txBody>
      </p:sp>
      <p:sp>
        <p:nvSpPr>
          <p:cNvPr id="29" name="">
            <a:extLst xmlns:a="http://schemas.openxmlformats.org/drawingml/2006/main">
              <a:ext uri="{FF2B5EF4-FFF2-40B4-BE49-F238E27FC236}">
                <a16:creationId xmlns:a16="http://schemas.microsoft.com/office/drawing/2014/main" id="{4C3CB9F2-43AC-4956-8340-95DEB25C3976}"/>
              </a:ext>
            </a:extLst>
          </p:cNvPr>
          <p:cNvSpPr>
            <a:spLocks xmlns:a="http://schemas.openxmlformats.org/drawingml/2006/main" noGrp="1"/>
          </p:cNvSpPr>
          <p:nvPr/>
        </p:nvSpPr>
        <p:spPr>
          <a:xfrm xmlns:a="http://schemas.openxmlformats.org/drawingml/2006/main">
            <a:off x="10763250" y="6477000"/>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750" b="1" i="0">
                <a:solidFill>
                  <a:srgbClr val="91A9BC"/>
                </a:solidFill>
                <a:latin typeface="Arial"/>
                <a:ea typeface="Arial"/>
                <a:cs typeface="Arial"/>
              </a:defRPr>
            </a:pPr>
            <a:r>
              <a:rPr sz="750" b="1" i="0">
                <a:solidFill>
                  <a:srgbClr val="91A9BC"/>
                </a:solidFill>
                <a:latin typeface="Arial"/>
                <a:ea typeface="Arial"/>
                <a:cs typeface="Arial"/>
              </a:rPr>
              <a:t>10 / 10</a:t>
            </a:r>
          </a:p>
        </p:txBody>
      </p:sp>
    </p:spTree>
    <p:extLst>
      <p:ext uri="{BB962C8B-B14F-4D97-AF65-F5344CB8AC3E}">
        <p14:creationId xmlns:p14="http://schemas.microsoft.com/office/powerpoint/2010/main" val="1170636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2026-09-04T10:57:58.9110000Z</dcterms:created>
  <dcterms:modified xsi:type="dcterms:W3CDTF">2026-09-04T10:57:58.9110000Z</dcterms:modified>
</coreProperties>
</file>